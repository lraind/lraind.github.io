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page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page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31dcc932def8cd.png"/>
  <Relationship Id="rId3" Type="http://schemas.openxmlformats.org/officeDocument/2006/relationships/image" Target="../media/image_e5cdd92db78e7b84.png"/>
  <Relationship Id="rId4" Type="http://schemas.openxmlformats.org/officeDocument/2006/relationships/image" Target="../media/image_9755ee42eaf0e5f2.png"/>
  <Relationship Id="rId5" Type="http://schemas.openxmlformats.org/officeDocument/2006/relationships/image" Target="../media/image_1fec1b1c73e6ff0a.png"/>
  <Relationship Id="rId6" Type="http://schemas.openxmlformats.org/officeDocument/2006/relationships/image" Target="../media/image_941803724d8f667a.png"/>
  <Relationship Id="rId7" Type="http://schemas.openxmlformats.org/officeDocument/2006/relationships/image" Target="../media/image_cab21e2cd1cefe16.png"/>
  <Relationship Id="rId8" Type="http://schemas.openxmlformats.org/officeDocument/2006/relationships/image" Target="../media/image_b031dcc932def8cd.png"/>
  <Relationship Id="rId9" Type="http://schemas.openxmlformats.org/officeDocument/2006/relationships/image" Target="../media/image_9755ee42eaf0e5f2.png"/>
  <Relationship Id="rId10" Type="http://schemas.openxmlformats.org/officeDocument/2006/relationships/image" Target="../media/image_1fec1b1c73e6ff0a.png"/>
  <Relationship Id="rId11" Type="http://schemas.openxmlformats.org/officeDocument/2006/relationships/image" Target="../media/image_cab21e2cd1cefe16.png"/>
  <Relationship Id="rId12" Type="http://schemas.openxmlformats.org/officeDocument/2006/relationships/image" Target="../media/image_b031dcc932def8cd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9566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07｜核心引擎：规则与 AI 双引擎协同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7559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结构化问题由规则引擎稳定判定，复杂语义问题由 AI 引擎深入识别，结果统一汇总并分级输出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85750" y="1066800"/>
            <a:ext cx="11620500" cy="361950"/>
            <a:chOff x="285750" y="1066800"/>
            <a:chExt cx="11620500" cy="361950"/>
          </a:xfrm>
        </p:grpSpPr>
        <p:sp>
          <p:nvSpPr>
            <p:cNvPr id="6" name="Rectangle 6"/>
            <p:cNvSpPr/>
            <p:nvPr/>
          </p:nvSpPr>
          <p:spPr>
            <a:xfrm>
              <a:off x="285750" y="1066800"/>
              <a:ext cx="11620500" cy="361950"/>
            </a:xfrm>
            <a:prstGeom prst="roundRect">
              <a:avLst>
                <a:gd name="adj" fmla="val 23684"/>
              </a:avLst>
            </a:prstGeom>
            <a:gradFill>
              <a:gsLst>
                <a:gs pos="0">
                  <a:srgbClr val="EDF6FF"/>
                </a:gs>
                <a:gs pos="100000">
                  <a:srgbClr val="F8FBFF"/>
                </a:gs>
              </a:gsLst>
              <a:lin ang="5400000" scaled="1"/>
            </a:gradFill>
            <a:ln w="14288">
              <a:solidFill>
                <a:srgbClr val="B9D4F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419100" y="1123950"/>
              <a:ext cx="247650" cy="2476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76250" y="1181100"/>
              <a:ext cx="133350" cy="13335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14350" y="119062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28575" y="57150"/>
                  </a:moveTo>
                  <a:lnTo>
                    <a:pt x="95250" y="0"/>
                  </a:lnTo>
                  <a:moveTo>
                    <a:pt x="28575" y="19050"/>
                  </a:moveTo>
                  <a:lnTo>
                    <a:pt x="28575" y="85725"/>
                  </a:lnTo>
                  <a:moveTo>
                    <a:pt x="0" y="57150"/>
                  </a:moveTo>
                  <a:lnTo>
                    <a:pt x="66675" y="5715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954" y="117538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本页核心结论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809750" y="11334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1430">
              <a:solidFill>
                <a:srgbClr val="BCD3E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95297" y="1190149"/>
              <a:ext cx="8255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B3B63"/>
                  </a:solidFill>
                  <a:latin typeface="Microsoft YaHei"/>
                  <a:ea typeface="Microsoft YaHei"/>
                  <a:cs typeface="Microsoft YaHei"/>
                </a:rPr>
                <a:t>根据问题确定性和复杂度分流：规则引擎负责条件明确的结构化判断，AI 引擎负责复杂语义与非结构化识别，结果统一返回业务流程。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85750" y="1466850"/>
            <a:ext cx="3762375" cy="2914650"/>
            <a:chOff x="285750" y="1466850"/>
            <a:chExt cx="3762375" cy="2914650"/>
          </a:xfrm>
        </p:grpSpPr>
        <p:sp>
          <p:nvSpPr>
            <p:cNvPr id="14" name="Rectangle 14"/>
            <p:cNvSpPr/>
            <p:nvPr/>
          </p:nvSpPr>
          <p:spPr>
            <a:xfrm>
              <a:off x="285750" y="1466850"/>
              <a:ext cx="3762375" cy="29146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2169C2"/>
              </a:solidFill>
            </a:ln>
            <a:effectLst>
              <a:outerShdw blurRad="114300" dist="38100" dir="5400000" algn="ctr" rotWithShape="0">
                <a:srgbClr val="0A3E83">
                  <a:alpha val="9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285750" y="1466850"/>
              <a:ext cx="3762375" cy="504825"/>
            </a:xfrm>
            <a:prstGeom prst="roundRect">
              <a:avLst>
                <a:gd name="adj" fmla="val 2264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5750" y="1847850"/>
              <a:ext cx="3762375" cy="123825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09575" y="1476375"/>
              <a:ext cx="552450" cy="5524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753B8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725" y="1546643"/>
              <a:ext cx="438150" cy="411913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144143" y="16125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规则引擎｜确定性问题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457575" y="1628775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104775" y="0"/>
                  </a:moveTo>
                  <a:lnTo>
                    <a:pt x="209550" y="47625"/>
                  </a:lnTo>
                  <a:lnTo>
                    <a:pt x="209550" y="152400"/>
                  </a:lnTo>
                  <a:cubicBezTo>
                    <a:pt x="209550" y="215900"/>
                    <a:pt x="174625" y="260350"/>
                    <a:pt x="104775" y="285750"/>
                  </a:cubicBezTo>
                  <a:cubicBezTo>
                    <a:pt x="34925" y="260350"/>
                    <a:pt x="0" y="215900"/>
                    <a:pt x="0" y="152400"/>
                  </a:cubicBezTo>
                  <a:lnTo>
                    <a:pt x="0" y="47625"/>
                  </a:ln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14725" y="1714500"/>
              <a:ext cx="104775" cy="76200"/>
            </a:xfrm>
            <a:custGeom>
              <a:avLst/>
              <a:gdLst/>
              <a:ahLst/>
              <a:cxnLst/>
              <a:rect l="l" t="t" r="r" b="b"/>
              <a:pathLst>
                <a:path w="104775" h="76200">
                  <a:moveTo>
                    <a:pt x="0" y="38100"/>
                  </a:moveTo>
                  <a:lnTo>
                    <a:pt x="38100" y="76200"/>
                  </a:lnTo>
                  <a:lnTo>
                    <a:pt x="10477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916" y="20583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对标准结构化数据执行条件匹配、阈值判断和关系计算，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0916" y="223932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识别字段缺失、资质失效、资质有效期、严重违法失信、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0916" y="24203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工商关联及精准信息重复等风险。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2695575"/>
              <a:ext cx="3419475" cy="657225"/>
            </a:xfrm>
            <a:prstGeom prst="roundRect">
              <a:avLst>
                <a:gd name="adj" fmla="val 11594"/>
              </a:avLst>
            </a:prstGeom>
            <a:solidFill>
              <a:srgbClr val="F8FBFF"/>
            </a:solidFill>
            <a:ln w="9525">
              <a:solidFill>
                <a:srgbClr val="C4DAF5"/>
              </a:solidFill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" y="2812964"/>
              <a:ext cx="409575" cy="365297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66875" y="2866185"/>
              <a:ext cx="514350" cy="258856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2790825"/>
              <a:ext cx="409575" cy="409575"/>
            </a:xfrm>
            <a:prstGeom prst="rect">
              <a:avLst/>
            </a:prstGeom>
          </p:spPr>
        </p:pic>
        <p:sp>
          <p:nvSpPr>
            <p:cNvPr id="29" name="Line 29"/>
            <p:cNvSpPr/>
            <p:nvPr/>
          </p:nvSpPr>
          <p:spPr>
            <a:xfrm>
              <a:off x="1438275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2647950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4929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条件匹配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1315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阈值判断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41879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关系计算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76250" y="3705225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AFC9E8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50873" y="37771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0535" y="40505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字段缺失　　资质失效　　工商关联　　精准重叠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143875" y="1466850"/>
            <a:ext cx="3762375" cy="2914650"/>
            <a:chOff x="8143875" y="1466850"/>
            <a:chExt cx="3762375" cy="2914650"/>
          </a:xfrm>
        </p:grpSpPr>
        <p:sp>
          <p:nvSpPr>
            <p:cNvPr id="38" name="Rectangle 38"/>
            <p:cNvSpPr/>
            <p:nvPr/>
          </p:nvSpPr>
          <p:spPr>
            <a:xfrm>
              <a:off x="8143875" y="1466850"/>
              <a:ext cx="3762375" cy="291465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14288">
              <a:solidFill>
                <a:srgbClr val="2169C2"/>
              </a:solidFill>
            </a:ln>
            <a:effectLst>
              <a:outerShdw blurRad="114300" dist="38100" dir="5400000" algn="ctr" rotWithShape="0">
                <a:srgbClr val="0A3E83">
                  <a:alpha val="90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8143875" y="1466850"/>
              <a:ext cx="3762375" cy="504825"/>
            </a:xfrm>
            <a:prstGeom prst="roundRect">
              <a:avLst>
                <a:gd name="adj" fmla="val 2264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43875" y="1847850"/>
              <a:ext cx="3762375" cy="123825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267700" y="1476375"/>
              <a:ext cx="552450" cy="5524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753B8"/>
              </a:solidFill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24850" y="1538229"/>
              <a:ext cx="438150" cy="428742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8992743" y="1612582"/>
              <a:ext cx="2271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引擎｜复杂性问题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1382375" y="1593850"/>
              <a:ext cx="374650" cy="301625"/>
            </a:xfrm>
            <a:custGeom>
              <a:avLst/>
              <a:gdLst/>
              <a:ahLst/>
              <a:cxnLst/>
              <a:rect l="l" t="t" r="r" b="b"/>
              <a:pathLst>
                <a:path w="374650" h="301625">
                  <a:moveTo>
                    <a:pt x="104775" y="63500"/>
                  </a:moveTo>
                  <a:cubicBezTo>
                    <a:pt x="180975" y="0"/>
                    <a:pt x="244475" y="6350"/>
                    <a:pt x="295275" y="82550"/>
                  </a:cubicBezTo>
                  <a:cubicBezTo>
                    <a:pt x="365125" y="107950"/>
                    <a:pt x="374650" y="152400"/>
                    <a:pt x="323850" y="215900"/>
                  </a:cubicBezTo>
                  <a:cubicBezTo>
                    <a:pt x="292100" y="279400"/>
                    <a:pt x="244475" y="295275"/>
                    <a:pt x="180975" y="263525"/>
                  </a:cubicBezTo>
                  <a:cubicBezTo>
                    <a:pt x="117475" y="301625"/>
                    <a:pt x="69850" y="285750"/>
                    <a:pt x="38100" y="215900"/>
                  </a:cubicBezTo>
                  <a:cubicBezTo>
                    <a:pt x="0" y="152400"/>
                    <a:pt x="22225" y="101600"/>
                    <a:pt x="104775" y="6350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525250" y="1698625"/>
              <a:ext cx="104775" cy="82550"/>
            </a:xfrm>
            <a:custGeom>
              <a:avLst/>
              <a:gdLst/>
              <a:ahLst/>
              <a:cxnLst/>
              <a:rect l="l" t="t" r="r" b="b"/>
              <a:pathLst>
                <a:path w="104775" h="82550">
                  <a:moveTo>
                    <a:pt x="0" y="25400"/>
                  </a:moveTo>
                  <a:cubicBezTo>
                    <a:pt x="31750" y="0"/>
                    <a:pt x="66675" y="0"/>
                    <a:pt x="104775" y="25400"/>
                  </a:cubicBezTo>
                  <a:moveTo>
                    <a:pt x="0" y="82550"/>
                  </a:moveTo>
                  <a:cubicBezTo>
                    <a:pt x="31750" y="57150"/>
                    <a:pt x="66675" y="57150"/>
                    <a:pt x="104775" y="82550"/>
                  </a:cubicBez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29041" y="20583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对公告、附件、清单和合同等非结构化材料进行语义理解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9041" y="22393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与跨文件比对，识别排斥条款、附件符合性、异常相似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9041" y="24203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和合同条款偏离等风险。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315325" y="2695575"/>
              <a:ext cx="3419475" cy="657225"/>
            </a:xfrm>
            <a:prstGeom prst="roundRect">
              <a:avLst>
                <a:gd name="adj" fmla="val 11594"/>
              </a:avLst>
            </a:prstGeom>
            <a:solidFill>
              <a:srgbClr val="F8FBFF"/>
            </a:solidFill>
            <a:ln w="9525">
              <a:solidFill>
                <a:srgbClr val="C4DAF5"/>
              </a:solidFill>
            </a:ln>
          </p:spPr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24875" y="2790825"/>
              <a:ext cx="409575" cy="409575"/>
            </a:xfrm>
            <a:prstGeom prst="rect">
              <a:avLst/>
            </a:prstGeom>
          </p:spPr>
        </p:pic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96450" y="2803088"/>
              <a:ext cx="409575" cy="385050"/>
            </a:xfrm>
            <a:prstGeom prst="rect">
              <a:avLst/>
            </a:prstGeom>
          </p:spPr>
        </p:pic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39450" y="2866185"/>
              <a:ext cx="514350" cy="258856"/>
            </a:xfrm>
            <a:prstGeom prst="rect">
              <a:avLst/>
            </a:prstGeom>
          </p:spPr>
        </p:pic>
        <p:sp>
          <p:nvSpPr>
            <p:cNvPr id="53" name="Line 53"/>
            <p:cNvSpPr/>
            <p:nvPr/>
          </p:nvSpPr>
          <p:spPr>
            <a:xfrm>
              <a:off x="9477375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0591800" y="277177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9525">
              <a:solidFill>
                <a:srgbClr val="D3E3F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1400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语义理解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9510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知识检索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28579" y="3394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跨文件比对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334375" y="3705225"/>
              <a:ext cx="3381375" cy="9525"/>
            </a:xfrm>
            <a:custGeom>
              <a:avLst/>
              <a:gdLst/>
              <a:ahLst/>
              <a:cxnLst/>
              <a:rect l="l" t="t" r="r" b="b"/>
              <a:pathLst>
                <a:path w="3381375" h="9525">
                  <a:moveTo>
                    <a:pt x="0" y="0"/>
                  </a:moveTo>
                  <a:lnTo>
                    <a:pt x="3381375" y="0"/>
                  </a:lnTo>
                </a:path>
              </a:pathLst>
            </a:custGeom>
            <a:noFill/>
            <a:ln w="9525">
              <a:solidFill>
                <a:srgbClr val="AFC9E8"/>
              </a:solidFill>
              <a:prstDash val="dash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08998" y="37771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8660" y="40505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排斥性条款　附件符合性　异常相似　合同偏离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057650" y="2057400"/>
            <a:ext cx="4076700" cy="1870234"/>
            <a:chOff x="4057650" y="2057400"/>
            <a:chExt cx="4076700" cy="1870234"/>
          </a:xfrm>
        </p:grpSpPr>
        <p:sp>
          <p:nvSpPr>
            <p:cNvPr id="62" name="Line 62"/>
            <p:cNvSpPr/>
            <p:nvPr/>
          </p:nvSpPr>
          <p:spPr>
            <a:xfrm>
              <a:off x="4057650" y="2857500"/>
              <a:ext cx="666750" cy="1"/>
            </a:xfrm>
            <a:prstGeom prst="line">
              <a:avLst/>
            </a:prstGeom>
            <a:noFill/>
            <a:ln w="57150">
              <a:solidFill>
                <a:srgbClr val="75ADEF"/>
              </a:solidFill>
              <a:tailEnd type="triangle" w="lg" len="lg"/>
            </a:ln>
          </p:spPr>
        </p:sp>
        <p:sp>
          <p:nvSpPr>
            <p:cNvPr id="63" name="Line 63"/>
            <p:cNvSpPr/>
            <p:nvPr/>
          </p:nvSpPr>
          <p:spPr>
            <a:xfrm>
              <a:off x="7467600" y="2857500"/>
              <a:ext cx="666750" cy="1"/>
            </a:xfrm>
            <a:prstGeom prst="line">
              <a:avLst/>
            </a:prstGeom>
            <a:noFill/>
            <a:ln w="57150">
              <a:solidFill>
                <a:srgbClr val="75ADEF"/>
              </a:solidFill>
              <a:tailEnd type="triangle" w="lg" len="lg"/>
            </a:ln>
          </p:spPr>
        </p:sp>
        <p:sp>
          <p:nvSpPr>
            <p:cNvPr id="64" name="Ellipse 64"/>
            <p:cNvSpPr/>
            <p:nvPr/>
          </p:nvSpPr>
          <p:spPr>
            <a:xfrm>
              <a:off x="5505450" y="22669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5ADEF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5591175" y="2352675"/>
              <a:ext cx="1009650" cy="1009650"/>
            </a:xfrm>
            <a:prstGeom prst="ellipse">
              <a:avLst/>
            </a:prstGeom>
            <a:solidFill>
              <a:srgbClr val="EDF5FF"/>
            </a:solidFill>
            <a:ln w="9525">
              <a:solidFill>
                <a:srgbClr val="C2DCF7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20735" y="2550319"/>
              <a:ext cx="5505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规则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97109" y="28241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67143" y="3131344"/>
              <a:ext cx="2577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096000" y="2057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9525">
              <a:solidFill>
                <a:srgbClr val="C8DCF2"/>
              </a:solidFill>
              <a:custDash>
                <a:ds d="300000" sp="300000"/>
              </a:custDash>
            </a:ln>
          </p:spPr>
        </p:sp>
        <p:sp>
          <p:nvSpPr>
            <p:cNvPr id="70" name="Line 70"/>
            <p:cNvSpPr/>
            <p:nvPr/>
          </p:nvSpPr>
          <p:spPr>
            <a:xfrm>
              <a:off x="6096000" y="3448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9525">
              <a:solidFill>
                <a:srgbClr val="C8DCF2"/>
              </a:solidFill>
              <a:custDash>
                <a:ds d="300000" sp="300000"/>
              </a:custDash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39546" y="3707606"/>
              <a:ext cx="2712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确定性问题用规则，复杂性问题用 AI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85750" y="4648200"/>
            <a:ext cx="11620500" cy="781050"/>
            <a:chOff x="285750" y="4648200"/>
            <a:chExt cx="11620500" cy="781050"/>
          </a:xfrm>
        </p:grpSpPr>
        <p:sp>
          <p:nvSpPr>
            <p:cNvPr id="73" name="Rectangle 73"/>
            <p:cNvSpPr/>
            <p:nvPr/>
          </p:nvSpPr>
          <p:spPr>
            <a:xfrm>
              <a:off x="285750" y="4648200"/>
              <a:ext cx="11620500" cy="781050"/>
            </a:xfrm>
            <a:prstGeom prst="roundRect">
              <a:avLst>
                <a:gd name="adj" fmla="val 14634"/>
              </a:avLst>
            </a:prstGeom>
            <a:gradFill>
              <a:gsLst>
                <a:gs pos="0">
                  <a:srgbClr val="0753B8"/>
                </a:gs>
                <a:gs pos="68000">
                  <a:srgbClr val="EAF4FF"/>
                </a:gs>
                <a:gs pos="100000">
                  <a:srgbClr val="FFFFFF"/>
                </a:gs>
              </a:gsLst>
              <a:lin ang="0" scaled="1"/>
            </a:gradFill>
            <a:ln w="14288">
              <a:solidFill>
                <a:srgbClr val="9FC5EC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457200" y="48101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53B8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638175" y="49339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47625" y="104775"/>
                  </a:moveTo>
                  <a:lnTo>
                    <a:pt x="152400" y="0"/>
                  </a:lnTo>
                  <a:moveTo>
                    <a:pt x="47625" y="47625"/>
                  </a:moveTo>
                  <a:lnTo>
                    <a:pt x="47625" y="152400"/>
                  </a:lnTo>
                  <a:moveTo>
                    <a:pt x="0" y="104775"/>
                  </a:moveTo>
                  <a:lnTo>
                    <a:pt x="95250" y="104775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19556" y="4930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统一输出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1914525" y="47529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21145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7147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3149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pic>
          <p:nvPicPr>
            <p:cNvPr id="81" name="Image 8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8375" y="4876800"/>
              <a:ext cx="285750" cy="285750"/>
            </a:xfrm>
            <a:prstGeom prst="rect">
              <a:avLst/>
            </a:prstGeom>
          </p:spPr>
        </p:pic>
        <p:pic>
          <p:nvPicPr>
            <p:cNvPr id="82" name="Image 8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38575" y="4876800"/>
              <a:ext cx="285750" cy="285750"/>
            </a:xfrm>
            <a:prstGeom prst="rect">
              <a:avLst/>
            </a:prstGeom>
          </p:spPr>
        </p:pic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38775" y="4885355"/>
              <a:ext cx="285750" cy="268639"/>
            </a:xfrm>
            <a:prstGeom prst="rect">
              <a:avLst/>
            </a:prstGeom>
          </p:spPr>
        </p:pic>
        <p:sp>
          <p:nvSpPr>
            <p:cNvPr id="84" name="TextBox 84"/>
            <p:cNvSpPr txBox="1"/>
            <p:nvPr/>
          </p:nvSpPr>
          <p:spPr>
            <a:xfrm>
              <a:off x="25946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风险结论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1948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命中证据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795010" y="4974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判断依据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591306" y="4911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191506" y="4911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53B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6858000" y="5038725"/>
              <a:ext cx="400050" cy="1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7477125" y="4810125"/>
              <a:ext cx="9715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572500" y="4810125"/>
              <a:ext cx="1190625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9886950" y="4810125"/>
              <a:ext cx="1428750" cy="457200"/>
            </a:xfrm>
            <a:prstGeom prst="roundRect">
              <a:avLst>
                <a:gd name="adj" fmla="val 18750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7562850" y="4914900"/>
              <a:ext cx="247650" cy="247650"/>
            </a:xfrm>
            <a:prstGeom prst="ellipse">
              <a:avLst/>
            </a:prstGeom>
            <a:solidFill>
              <a:srgbClr val="5AA35A"/>
            </a:solidFill>
            <a:ln>
              <a:noFill/>
            </a:ln>
          </p:spPr>
        </p:sp>
        <p:sp>
          <p:nvSpPr>
            <p:cNvPr id="94" name="Freeform 94"/>
            <p:cNvSpPr/>
            <p:nvPr/>
          </p:nvSpPr>
          <p:spPr>
            <a:xfrm>
              <a:off x="7620000" y="4981575"/>
              <a:ext cx="142875" cy="104775"/>
            </a:xfrm>
            <a:custGeom>
              <a:avLst/>
              <a:gdLst/>
              <a:ahLst/>
              <a:cxnLst/>
              <a:rect l="l" t="t" r="r" b="b"/>
              <a:pathLst>
                <a:path w="142875" h="104775">
                  <a:moveTo>
                    <a:pt x="0" y="57150"/>
                  </a:moveTo>
                  <a:lnTo>
                    <a:pt x="47625" y="104775"/>
                  </a:ln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8658225" y="4914900"/>
              <a:ext cx="247650" cy="247650"/>
            </a:xfrm>
            <a:prstGeom prst="ellipse">
              <a:avLst/>
            </a:prstGeom>
            <a:solidFill>
              <a:srgbClr val="F3A21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8734425" y="4962525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8848725" y="50768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66675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FFFFF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9972675" y="4914900"/>
              <a:ext cx="247650" cy="247650"/>
            </a:xfrm>
            <a:prstGeom prst="ellipse">
              <a:avLst/>
            </a:prstGeom>
            <a:solidFill>
              <a:srgbClr val="D9342B"/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10096500" y="49625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95250"/>
                  </a:lnTo>
                  <a:moveTo>
                    <a:pt x="0" y="142875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FFFFF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880985" y="49744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976360" y="4974431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提示/复核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290810" y="4974431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1456F"/>
                  </a:solidFill>
                  <a:latin typeface="Microsoft YaHei"/>
                  <a:ea typeface="Microsoft YaHei"/>
                  <a:cs typeface="Microsoft YaHei"/>
                </a:rPr>
                <a:t>预警/拦截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285750" y="5715000"/>
            <a:ext cx="11684293" cy="911066"/>
            <a:chOff x="285750" y="5715000"/>
            <a:chExt cx="11684293" cy="911066"/>
          </a:xfrm>
        </p:grpSpPr>
        <p:sp>
          <p:nvSpPr>
            <p:cNvPr id="104" name="Rectangle 104"/>
            <p:cNvSpPr/>
            <p:nvPr/>
          </p:nvSpPr>
          <p:spPr>
            <a:xfrm>
              <a:off x="285750" y="5715000"/>
              <a:ext cx="116205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4288">
              <a:solidFill>
                <a:srgbClr val="C8DDF4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84073" y="58631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协同机制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651254" y="5871210"/>
              <a:ext cx="6558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规则引擎负责“快、准、稳”的确定性判断，AI 引擎负责“懂语义、识异常”的复杂分析，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651254" y="60998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两者协同形成从发现风险、解释证据到分级处置的完整闭环。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863138" y="646414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数据来源：项目申报材料，统计周期待补充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page7">
  <a:themeElements>
    <a:clrScheme name="zzx-page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page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pag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2026-08-06T05:57:59Z</dcterms:created>
  <dcterms:modified xsi:type="dcterms:W3CDTF">2026-08-06T05:57:59Z</dcterms:modified>
  <cp:category/>
  <cp:contentStatus/>
</cp:coreProperties>
</file>