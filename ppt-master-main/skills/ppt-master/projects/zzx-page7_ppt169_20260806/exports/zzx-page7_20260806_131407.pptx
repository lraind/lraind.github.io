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zzx-page7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zzx-page7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b031dcc932def8cd.png"/>
  <Relationship Id="rId3" Type="http://schemas.openxmlformats.org/officeDocument/2006/relationships/image" Target="../media/image_e5cdd92db78e7b84.png"/>
  <Relationship Id="rId4" Type="http://schemas.openxmlformats.org/officeDocument/2006/relationships/image" Target="../media/image_9755ee42eaf0e5f2.png"/>
  <Relationship Id="rId5" Type="http://schemas.openxmlformats.org/officeDocument/2006/relationships/image" Target="../media/image_1fec1b1c73e6ff0a.png"/>
  <Relationship Id="rId6" Type="http://schemas.openxmlformats.org/officeDocument/2006/relationships/image" Target="../media/image_941803724d8f667a.png"/>
  <Relationship Id="rId7" Type="http://schemas.openxmlformats.org/officeDocument/2006/relationships/image" Target="../media/image_cab21e2cd1cefe16.png"/>
  <Relationship Id="rId8" Type="http://schemas.openxmlformats.org/officeDocument/2006/relationships/image" Target="../media/image_b031dcc932def8cd.png"/>
  <Relationship Id="rId9" Type="http://schemas.openxmlformats.org/officeDocument/2006/relationships/image" Target="../media/image_9755ee42eaf0e5f2.png"/>
  <Relationship Id="rId10" Type="http://schemas.openxmlformats.org/officeDocument/2006/relationships/image" Target="../media/image_1fec1b1c73e6ff0a.png"/>
  <Relationship Id="rId11" Type="http://schemas.openxmlformats.org/officeDocument/2006/relationships/image" Target="../media/image_cab21e2cd1cefe16.png"/>
  <Relationship Id="rId12" Type="http://schemas.openxmlformats.org/officeDocument/2006/relationships/image" Target="../media/image_b031dcc932def8cd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gradFill>
            <a:gsLst>
              <a:gs pos="0">
                <a:srgbClr val="043A8C"/>
              </a:gs>
              <a:gs pos="100000">
                <a:srgbClr val="0B6ACD"/>
              </a:gs>
            </a:gsLst>
            <a:lin ang="0" scaled="1"/>
          </a:gra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0" y="0"/>
            <a:ext cx="12192000" cy="777907"/>
            <a:chOff x="0" y="0"/>
            <a:chExt cx="12192000" cy="777907"/>
          </a:xfrm>
        </p:grpSpPr>
        <p:sp>
          <p:nvSpPr>
            <p:cNvPr id="3" name="Freeform 3"/>
            <p:cNvSpPr/>
            <p:nvPr/>
          </p:nvSpPr>
          <p:spPr>
            <a:xfrm>
              <a:off x="0" y="57150"/>
              <a:ext cx="685800" cy="600075"/>
            </a:xfrm>
            <a:custGeom>
              <a:avLst/>
              <a:gdLst/>
              <a:ahLst/>
              <a:cxnLst/>
              <a:rect l="l" t="t" r="r" b="b"/>
              <a:pathLst>
                <a:path w="685800" h="600075">
                  <a:moveTo>
                    <a:pt x="0" y="0"/>
                  </a:moveTo>
                  <a:lnTo>
                    <a:pt x="571500" y="0"/>
                  </a:lnTo>
                  <a:cubicBezTo>
                    <a:pt x="647700" y="0"/>
                    <a:pt x="685800" y="38100"/>
                    <a:pt x="685800" y="114300"/>
                  </a:cubicBezTo>
                  <a:lnTo>
                    <a:pt x="581025" y="533400"/>
                  </a:lnTo>
                  <a:cubicBezTo>
                    <a:pt x="561975" y="577850"/>
                    <a:pt x="520700" y="600075"/>
                    <a:pt x="457200" y="600075"/>
                  </a:cubicBezTo>
                  <a:lnTo>
                    <a:pt x="0" y="600075"/>
                  </a:lnTo>
                  <a:close/>
                </a:path>
              </a:pathLst>
            </a:custGeom>
            <a:solidFill>
              <a:srgbClr val="1467C8">
                <a:alpha val="70000"/>
              </a:srgbClr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36017" y="147161"/>
              <a:ext cx="533431" cy="6307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22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07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806196" y="210502"/>
              <a:ext cx="55291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核心引擎：规则与 AI 双引擎协同</a:t>
              </a:r>
            </a:p>
          </p:txBody>
        </p:sp>
        <p:sp>
          <p:nvSpPr>
            <p:cNvPr id="6" name="Freeform 6"/>
            <p:cNvSpPr/>
            <p:nvPr/>
          </p:nvSpPr>
          <p:spPr>
            <a:xfrm>
              <a:off x="10001250" y="0"/>
              <a:ext cx="2190750" cy="704850"/>
            </a:xfrm>
            <a:custGeom>
              <a:avLst/>
              <a:gdLst/>
              <a:ahLst/>
              <a:cxnLst/>
              <a:rect l="l" t="t" r="r" b="b"/>
              <a:pathLst>
                <a:path w="2190750" h="704850">
                  <a:moveTo>
                    <a:pt x="0" y="0"/>
                  </a:moveTo>
                  <a:lnTo>
                    <a:pt x="2190750" y="0"/>
                  </a:lnTo>
                  <a:lnTo>
                    <a:pt x="2190750" y="704850"/>
                  </a:lnTo>
                </a:path>
              </a:pathLst>
            </a:custGeom>
            <a:noFill/>
            <a:ln w="9525">
              <a:solidFill>
                <a:srgbClr val="7CB9F5">
                  <a:alpha val="25000"/>
                </a:srgbClr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10287000" y="0"/>
              <a:ext cx="1905000" cy="609600"/>
            </a:xfrm>
            <a:custGeom>
              <a:avLst/>
              <a:gdLst/>
              <a:ahLst/>
              <a:cxnLst/>
              <a:rect l="l" t="t" r="r" b="b"/>
              <a:pathLst>
                <a:path w="1905000" h="609600">
                  <a:moveTo>
                    <a:pt x="0" y="0"/>
                  </a:moveTo>
                  <a:lnTo>
                    <a:pt x="1905000" y="609600"/>
                  </a:lnTo>
                  <a:moveTo>
                    <a:pt x="619125" y="0"/>
                  </a:moveTo>
                  <a:lnTo>
                    <a:pt x="1905000" y="400050"/>
                  </a:lnTo>
                </a:path>
              </a:pathLst>
            </a:custGeom>
            <a:noFill/>
            <a:ln w="9525">
              <a:solidFill>
                <a:srgbClr val="7CB9F5">
                  <a:alpha val="18000"/>
                </a:srgbClr>
              </a:solidFill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285750" y="781050"/>
            <a:ext cx="11620500" cy="571500"/>
            <a:chOff x="285750" y="781050"/>
            <a:chExt cx="11620500" cy="571500"/>
          </a:xfrm>
        </p:grpSpPr>
        <p:sp>
          <p:nvSpPr>
            <p:cNvPr id="9" name="Rectangle 9"/>
            <p:cNvSpPr/>
            <p:nvPr/>
          </p:nvSpPr>
          <p:spPr>
            <a:xfrm>
              <a:off x="285750" y="781050"/>
              <a:ext cx="11620500" cy="571500"/>
            </a:xfrm>
            <a:prstGeom prst="roundRect">
              <a:avLst>
                <a:gd name="adj" fmla="val 18333"/>
              </a:avLst>
            </a:prstGeom>
            <a:gradFill>
              <a:gsLst>
                <a:gs pos="0">
                  <a:srgbClr val="EDF6FF"/>
                </a:gs>
                <a:gs pos="100000">
                  <a:srgbClr val="F8FBFF"/>
                </a:gs>
              </a:gsLst>
              <a:lin ang="5400000" scaled="1"/>
            </a:gradFill>
            <a:ln w="14288">
              <a:solidFill>
                <a:srgbClr val="B9D4F3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438150" y="866775"/>
              <a:ext cx="400050" cy="400050"/>
            </a:xfrm>
            <a:prstGeom prst="ellipse">
              <a:avLst/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533400" y="962025"/>
              <a:ext cx="209550" cy="209550"/>
            </a:xfrm>
            <a:prstGeom prst="ellipse">
              <a:avLst/>
            </a:prstGeom>
            <a:noFill/>
            <a:ln w="28575">
              <a:solidFill>
                <a:srgbClr val="FFFFFF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590550" y="971550"/>
              <a:ext cx="152400" cy="133350"/>
            </a:xfrm>
            <a:custGeom>
              <a:avLst/>
              <a:gdLst/>
              <a:ahLst/>
              <a:cxnLst/>
              <a:rect l="l" t="t" r="r" b="b"/>
              <a:pathLst>
                <a:path w="152400" h="133350">
                  <a:moveTo>
                    <a:pt x="47625" y="95250"/>
                  </a:moveTo>
                  <a:lnTo>
                    <a:pt x="152400" y="0"/>
                  </a:lnTo>
                  <a:moveTo>
                    <a:pt x="47625" y="38100"/>
                  </a:moveTo>
                  <a:lnTo>
                    <a:pt x="47625" y="133350"/>
                  </a:lnTo>
                  <a:moveTo>
                    <a:pt x="0" y="95250"/>
                  </a:moveTo>
                  <a:lnTo>
                    <a:pt x="95250" y="95250"/>
                  </a:lnTo>
                </a:path>
              </a:pathLst>
            </a:custGeom>
            <a:noFill/>
            <a:ln w="28575" cap="rnd">
              <a:solidFill>
                <a:srgbClr val="FFFFFF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53643" y="964882"/>
              <a:ext cx="14161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本页核心结论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2343150" y="895350"/>
              <a:ext cx="9525" cy="342900"/>
            </a:xfrm>
            <a:custGeom>
              <a:avLst/>
              <a:gdLst/>
              <a:ahLst/>
              <a:cxnLst/>
              <a:rect l="l" t="t" r="r" b="b"/>
              <a:pathLst>
                <a:path w="9525"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noFill/>
            <a:ln w="14288">
              <a:solidFill>
                <a:srgbClr val="BCD3EC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566035" y="907256"/>
              <a:ext cx="66455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B3B63"/>
                  </a:solidFill>
                  <a:latin typeface="Microsoft YaHei"/>
                  <a:ea typeface="Microsoft YaHei"/>
                  <a:cs typeface="Microsoft YaHei"/>
                </a:rPr>
                <a:t>系统根据风险问题的确定性和复杂度进行任务分流：结构化、条件明确的问题由规则引擎稳定判定，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566035" y="1097756"/>
              <a:ext cx="597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B3B63"/>
                  </a:solidFill>
                  <a:latin typeface="Microsoft YaHei"/>
                  <a:ea typeface="Microsoft YaHei"/>
                  <a:cs typeface="Microsoft YaHei"/>
                </a:rPr>
                <a:t>复杂语义和非结构化问题由 AI 引擎深入识别，结果统一汇总、分级并返回业务流程。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285750" y="1466850"/>
            <a:ext cx="3762375" cy="2914650"/>
            <a:chOff x="285750" y="1466850"/>
            <a:chExt cx="3762375" cy="2914650"/>
          </a:xfrm>
        </p:grpSpPr>
        <p:sp>
          <p:nvSpPr>
            <p:cNvPr id="18" name="Rectangle 18"/>
            <p:cNvSpPr/>
            <p:nvPr/>
          </p:nvSpPr>
          <p:spPr>
            <a:xfrm>
              <a:off x="285750" y="1466850"/>
              <a:ext cx="3762375" cy="2914650"/>
            </a:xfrm>
            <a:prstGeom prst="roundRect">
              <a:avLst>
                <a:gd name="adj" fmla="val 3922"/>
              </a:avLst>
            </a:prstGeom>
            <a:solidFill>
              <a:srgbClr val="FFFFFF"/>
            </a:solidFill>
            <a:ln w="14288">
              <a:solidFill>
                <a:srgbClr val="2169C2"/>
              </a:solidFill>
            </a:ln>
            <a:effectLst>
              <a:outerShdw blurRad="114300" dist="38100" dir="5400000" algn="ctr" rotWithShape="0">
                <a:srgbClr val="0A3E83">
                  <a:alpha val="9000"/>
                </a:srgbClr>
              </a:outerShdw>
            </a:effectLst>
          </p:spPr>
        </p:sp>
        <p:sp>
          <p:nvSpPr>
            <p:cNvPr id="19" name="Rectangle 19"/>
            <p:cNvSpPr/>
            <p:nvPr/>
          </p:nvSpPr>
          <p:spPr>
            <a:xfrm>
              <a:off x="285750" y="1466850"/>
              <a:ext cx="3762375" cy="504825"/>
            </a:xfrm>
            <a:prstGeom prst="roundRect">
              <a:avLst>
                <a:gd name="adj" fmla="val 22642"/>
              </a:avLst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285750" y="1847850"/>
              <a:ext cx="3762375" cy="123825"/>
            </a:xfrm>
            <a:prstGeom prst="rect">
              <a:avLst/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409575" y="1476375"/>
              <a:ext cx="552450" cy="552450"/>
            </a:xfrm>
            <a:prstGeom prst="ellipse">
              <a:avLst/>
            </a:prstGeom>
            <a:solidFill>
              <a:srgbClr val="FFFFFF"/>
            </a:solidFill>
            <a:ln w="14288">
              <a:solidFill>
                <a:srgbClr val="0753B8"/>
              </a:solidFill>
            </a:ln>
          </p:spPr>
        </p:sp>
        <p:pic>
          <p:nvPicPr>
            <p:cNvPr id="22" name="Image 2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6725" y="1546643"/>
              <a:ext cx="438150" cy="411913"/>
            </a:xfrm>
            <a:prstGeom prst="rect">
              <a:avLst/>
            </a:prstGeom>
          </p:spPr>
        </p:pic>
        <p:sp>
          <p:nvSpPr>
            <p:cNvPr id="23" name="TextBox 23"/>
            <p:cNvSpPr txBox="1"/>
            <p:nvPr/>
          </p:nvSpPr>
          <p:spPr>
            <a:xfrm>
              <a:off x="1144143" y="1612582"/>
              <a:ext cx="23490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规则引擎｜确定性问题</a:t>
              </a:r>
            </a:p>
          </p:txBody>
        </p:sp>
        <p:sp>
          <p:nvSpPr>
            <p:cNvPr id="24" name="Freeform 24"/>
            <p:cNvSpPr/>
            <p:nvPr/>
          </p:nvSpPr>
          <p:spPr>
            <a:xfrm>
              <a:off x="3457575" y="1628775"/>
              <a:ext cx="209550" cy="285750"/>
            </a:xfrm>
            <a:custGeom>
              <a:avLst/>
              <a:gdLst/>
              <a:ahLst/>
              <a:cxnLst/>
              <a:rect l="l" t="t" r="r" b="b"/>
              <a:pathLst>
                <a:path w="209550" h="285750">
                  <a:moveTo>
                    <a:pt x="104775" y="0"/>
                  </a:moveTo>
                  <a:lnTo>
                    <a:pt x="209550" y="47625"/>
                  </a:lnTo>
                  <a:lnTo>
                    <a:pt x="209550" y="152400"/>
                  </a:lnTo>
                  <a:cubicBezTo>
                    <a:pt x="209550" y="215900"/>
                    <a:pt x="174625" y="260350"/>
                    <a:pt x="104775" y="285750"/>
                  </a:cubicBezTo>
                  <a:cubicBezTo>
                    <a:pt x="34925" y="260350"/>
                    <a:pt x="0" y="215900"/>
                    <a:pt x="0" y="152400"/>
                  </a:cubicBezTo>
                  <a:lnTo>
                    <a:pt x="0" y="47625"/>
                  </a:ln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3514725" y="1714500"/>
              <a:ext cx="104775" cy="76200"/>
            </a:xfrm>
            <a:custGeom>
              <a:avLst/>
              <a:gdLst/>
              <a:ahLst/>
              <a:cxnLst/>
              <a:rect l="l" t="t" r="r" b="b"/>
              <a:pathLst>
                <a:path w="104775" h="76200">
                  <a:moveTo>
                    <a:pt x="0" y="38100"/>
                  </a:moveTo>
                  <a:lnTo>
                    <a:pt x="38100" y="76200"/>
                  </a:lnTo>
                  <a:lnTo>
                    <a:pt x="104775" y="0"/>
                  </a:ln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70916" y="2058352"/>
              <a:ext cx="35444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B2638"/>
                  </a:solidFill>
                  <a:latin typeface="Microsoft YaHei"/>
                  <a:ea typeface="Microsoft YaHei"/>
                  <a:cs typeface="Microsoft YaHei"/>
                </a:rPr>
                <a:t>对标准结构化数据执行条件匹配、阈值判断和关系计算，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70916" y="2239328"/>
              <a:ext cx="35444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B2638"/>
                  </a:solidFill>
                  <a:latin typeface="Microsoft YaHei"/>
                  <a:ea typeface="Microsoft YaHei"/>
                  <a:cs typeface="Microsoft YaHei"/>
                </a:rPr>
                <a:t>识别字段缺失、资质失效、资质有效期、严重违法失信、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70916" y="2420302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B2638"/>
                  </a:solidFill>
                  <a:latin typeface="Microsoft YaHei"/>
                  <a:ea typeface="Microsoft YaHei"/>
                  <a:cs typeface="Microsoft YaHei"/>
                </a:rPr>
                <a:t>工商关联及精准信息重复等风险。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57200" y="2695575"/>
              <a:ext cx="3419475" cy="657225"/>
            </a:xfrm>
            <a:prstGeom prst="roundRect">
              <a:avLst>
                <a:gd name="adj" fmla="val 11594"/>
              </a:avLst>
            </a:prstGeom>
            <a:solidFill>
              <a:srgbClr val="F8FBFF"/>
            </a:solidFill>
            <a:ln w="9525">
              <a:solidFill>
                <a:srgbClr val="C4DAF5"/>
              </a:solidFill>
            </a:ln>
          </p:spPr>
        </p:sp>
        <p:pic>
          <p:nvPicPr>
            <p:cNvPr id="30" name="Image 3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7700" y="2812964"/>
              <a:ext cx="409575" cy="365297"/>
            </a:xfrm>
            <a:prstGeom prst="rect">
              <a:avLst/>
            </a:prstGeom>
          </p:spPr>
        </p:pic>
        <p:pic>
          <p:nvPicPr>
            <p:cNvPr id="31" name="Image 3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66875" y="2866185"/>
              <a:ext cx="514350" cy="258856"/>
            </a:xfrm>
            <a:prstGeom prst="rect">
              <a:avLst/>
            </a:prstGeom>
          </p:spPr>
        </p:pic>
        <p:pic>
          <p:nvPicPr>
            <p:cNvPr id="32" name="Image 3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895600" y="2790825"/>
              <a:ext cx="409575" cy="409575"/>
            </a:xfrm>
            <a:prstGeom prst="rect">
              <a:avLst/>
            </a:prstGeom>
          </p:spPr>
        </p:pic>
        <p:sp>
          <p:nvSpPr>
            <p:cNvPr id="33" name="Line 33"/>
            <p:cNvSpPr/>
            <p:nvPr/>
          </p:nvSpPr>
          <p:spPr>
            <a:xfrm>
              <a:off x="1438275" y="2771775"/>
              <a:ext cx="9525" cy="504825"/>
            </a:xfrm>
            <a:custGeom>
              <a:avLst/>
              <a:gdLst/>
              <a:ahLst/>
              <a:cxnLst/>
              <a:rect l="l" t="t" r="r" b="b"/>
              <a:pathLst>
                <a:path w="9525" h="504825">
                  <a:moveTo>
                    <a:pt x="0" y="0"/>
                  </a:moveTo>
                  <a:lnTo>
                    <a:pt x="0" y="504825"/>
                  </a:lnTo>
                </a:path>
              </a:pathLst>
            </a:custGeom>
            <a:noFill/>
            <a:ln w="9525">
              <a:solidFill>
                <a:srgbClr val="D3E3F6"/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2647950" y="2771775"/>
              <a:ext cx="9525" cy="504825"/>
            </a:xfrm>
            <a:custGeom>
              <a:avLst/>
              <a:gdLst/>
              <a:ahLst/>
              <a:cxnLst/>
              <a:rect l="l" t="t" r="r" b="b"/>
              <a:pathLst>
                <a:path w="9525" h="504825">
                  <a:moveTo>
                    <a:pt x="0" y="0"/>
                  </a:moveTo>
                  <a:lnTo>
                    <a:pt x="0" y="504825"/>
                  </a:lnTo>
                </a:path>
              </a:pathLst>
            </a:custGeom>
            <a:noFill/>
            <a:ln w="9525">
              <a:solidFill>
                <a:srgbClr val="D3E3F6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74929" y="33947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条件匹配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613154" y="33947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阈值判断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841879" y="33947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关系计算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76250" y="3705225"/>
              <a:ext cx="3381375" cy="9525"/>
            </a:xfrm>
            <a:custGeom>
              <a:avLst/>
              <a:gdLst/>
              <a:ahLst/>
              <a:cxnLst/>
              <a:rect l="l" t="t" r="r" b="b"/>
              <a:pathLst>
                <a:path w="3381375" h="9525">
                  <a:moveTo>
                    <a:pt x="0" y="0"/>
                  </a:moveTo>
                  <a:lnTo>
                    <a:pt x="3381375" y="0"/>
                  </a:lnTo>
                </a:path>
              </a:pathLst>
            </a:custGeom>
            <a:noFill/>
            <a:ln w="9525">
              <a:solidFill>
                <a:srgbClr val="AFC9E8"/>
              </a:solidFill>
              <a:prstDash val="dash"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650873" y="3777139"/>
              <a:ext cx="7366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代表场景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70535" y="4050506"/>
              <a:ext cx="33284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B2638"/>
                  </a:solidFill>
                  <a:latin typeface="Microsoft YaHei"/>
                  <a:ea typeface="Microsoft YaHei"/>
                  <a:cs typeface="Microsoft YaHei"/>
                </a:rPr>
                <a:t>字段缺失　　资质失效　　工商关联　　精准重叠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8143875" y="1466850"/>
            <a:ext cx="3762375" cy="2914650"/>
            <a:chOff x="8143875" y="1466850"/>
            <a:chExt cx="3762375" cy="2914650"/>
          </a:xfrm>
        </p:grpSpPr>
        <p:sp>
          <p:nvSpPr>
            <p:cNvPr id="42" name="Rectangle 42"/>
            <p:cNvSpPr/>
            <p:nvPr/>
          </p:nvSpPr>
          <p:spPr>
            <a:xfrm>
              <a:off x="8143875" y="1466850"/>
              <a:ext cx="3762375" cy="2914650"/>
            </a:xfrm>
            <a:prstGeom prst="roundRect">
              <a:avLst>
                <a:gd name="adj" fmla="val 3922"/>
              </a:avLst>
            </a:prstGeom>
            <a:solidFill>
              <a:srgbClr val="FFFFFF"/>
            </a:solidFill>
            <a:ln w="14288">
              <a:solidFill>
                <a:srgbClr val="2169C2"/>
              </a:solidFill>
            </a:ln>
            <a:effectLst>
              <a:outerShdw blurRad="114300" dist="38100" dir="5400000" algn="ctr" rotWithShape="0">
                <a:srgbClr val="0A3E83">
                  <a:alpha val="9000"/>
                </a:srgbClr>
              </a:outerShdw>
            </a:effectLst>
          </p:spPr>
        </p:sp>
        <p:sp>
          <p:nvSpPr>
            <p:cNvPr id="43" name="Rectangle 43"/>
            <p:cNvSpPr/>
            <p:nvPr/>
          </p:nvSpPr>
          <p:spPr>
            <a:xfrm>
              <a:off x="8143875" y="1466850"/>
              <a:ext cx="3762375" cy="504825"/>
            </a:xfrm>
            <a:prstGeom prst="roundRect">
              <a:avLst>
                <a:gd name="adj" fmla="val 22642"/>
              </a:avLst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8143875" y="1847850"/>
              <a:ext cx="3762375" cy="123825"/>
            </a:xfrm>
            <a:prstGeom prst="rect">
              <a:avLst/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8267700" y="1476375"/>
              <a:ext cx="552450" cy="552450"/>
            </a:xfrm>
            <a:prstGeom prst="ellipse">
              <a:avLst/>
            </a:prstGeom>
            <a:solidFill>
              <a:srgbClr val="FFFFFF"/>
            </a:solidFill>
            <a:ln w="14288">
              <a:solidFill>
                <a:srgbClr val="0753B8"/>
              </a:solidFill>
            </a:ln>
          </p:spPr>
        </p:sp>
        <p:pic>
          <p:nvPicPr>
            <p:cNvPr id="46" name="Image 46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324850" y="1538229"/>
              <a:ext cx="438150" cy="428742"/>
            </a:xfrm>
            <a:prstGeom prst="rect">
              <a:avLst/>
            </a:prstGeom>
          </p:spPr>
        </p:pic>
        <p:sp>
          <p:nvSpPr>
            <p:cNvPr id="47" name="TextBox 47"/>
            <p:cNvSpPr txBox="1"/>
            <p:nvPr/>
          </p:nvSpPr>
          <p:spPr>
            <a:xfrm>
              <a:off x="8992743" y="1612582"/>
              <a:ext cx="227160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AI 引擎｜复杂性问题</a:t>
              </a:r>
            </a:p>
          </p:txBody>
        </p:sp>
        <p:sp>
          <p:nvSpPr>
            <p:cNvPr id="48" name="Freeform 48"/>
            <p:cNvSpPr/>
            <p:nvPr/>
          </p:nvSpPr>
          <p:spPr>
            <a:xfrm>
              <a:off x="11382375" y="1593850"/>
              <a:ext cx="374650" cy="301625"/>
            </a:xfrm>
            <a:custGeom>
              <a:avLst/>
              <a:gdLst/>
              <a:ahLst/>
              <a:cxnLst/>
              <a:rect l="l" t="t" r="r" b="b"/>
              <a:pathLst>
                <a:path w="374650" h="301625">
                  <a:moveTo>
                    <a:pt x="104775" y="63500"/>
                  </a:moveTo>
                  <a:cubicBezTo>
                    <a:pt x="180975" y="0"/>
                    <a:pt x="244475" y="6350"/>
                    <a:pt x="295275" y="82550"/>
                  </a:cubicBezTo>
                  <a:cubicBezTo>
                    <a:pt x="365125" y="107950"/>
                    <a:pt x="374650" y="152400"/>
                    <a:pt x="323850" y="215900"/>
                  </a:cubicBezTo>
                  <a:cubicBezTo>
                    <a:pt x="292100" y="279400"/>
                    <a:pt x="244475" y="295275"/>
                    <a:pt x="180975" y="263525"/>
                  </a:cubicBezTo>
                  <a:cubicBezTo>
                    <a:pt x="117475" y="301625"/>
                    <a:pt x="69850" y="285750"/>
                    <a:pt x="38100" y="215900"/>
                  </a:cubicBezTo>
                  <a:cubicBezTo>
                    <a:pt x="0" y="152400"/>
                    <a:pt x="22225" y="101600"/>
                    <a:pt x="104775" y="6350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11525250" y="1698625"/>
              <a:ext cx="104775" cy="82550"/>
            </a:xfrm>
            <a:custGeom>
              <a:avLst/>
              <a:gdLst/>
              <a:ahLst/>
              <a:cxnLst/>
              <a:rect l="l" t="t" r="r" b="b"/>
              <a:pathLst>
                <a:path w="104775" h="82550">
                  <a:moveTo>
                    <a:pt x="0" y="25400"/>
                  </a:moveTo>
                  <a:cubicBezTo>
                    <a:pt x="31750" y="0"/>
                    <a:pt x="66675" y="0"/>
                    <a:pt x="104775" y="25400"/>
                  </a:cubicBezTo>
                  <a:moveTo>
                    <a:pt x="0" y="82550"/>
                  </a:moveTo>
                  <a:cubicBezTo>
                    <a:pt x="31750" y="57150"/>
                    <a:pt x="66675" y="57150"/>
                    <a:pt x="104775" y="82550"/>
                  </a:cubicBezTo>
                </a:path>
              </a:pathLst>
            </a:custGeom>
            <a:noFill/>
            <a:ln w="14288">
              <a:solidFill>
                <a:srgbClr val="FFFFFF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329041" y="2058352"/>
              <a:ext cx="35444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B2638"/>
                  </a:solidFill>
                  <a:latin typeface="Microsoft YaHei"/>
                  <a:ea typeface="Microsoft YaHei"/>
                  <a:cs typeface="Microsoft YaHei"/>
                </a:rPr>
                <a:t>对公告、附件、清单和合同等非结构化材料进行语义理解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329041" y="2239328"/>
              <a:ext cx="34030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B2638"/>
                  </a:solidFill>
                  <a:latin typeface="Microsoft YaHei"/>
                  <a:ea typeface="Microsoft YaHei"/>
                  <a:cs typeface="Microsoft YaHei"/>
                </a:rPr>
                <a:t>与跨文件比对，识别排斥条款、附件符合性、异常相似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329041" y="2420302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B2638"/>
                  </a:solidFill>
                  <a:latin typeface="Microsoft YaHei"/>
                  <a:ea typeface="Microsoft YaHei"/>
                  <a:cs typeface="Microsoft YaHei"/>
                </a:rPr>
                <a:t>和合同条款偏离等风险。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8315325" y="2695575"/>
              <a:ext cx="3419475" cy="657225"/>
            </a:xfrm>
            <a:prstGeom prst="roundRect">
              <a:avLst>
                <a:gd name="adj" fmla="val 11594"/>
              </a:avLst>
            </a:prstGeom>
            <a:solidFill>
              <a:srgbClr val="F8FBFF"/>
            </a:solidFill>
            <a:ln w="9525">
              <a:solidFill>
                <a:srgbClr val="C4DAF5"/>
              </a:solidFill>
            </a:ln>
          </p:spPr>
        </p:sp>
        <p:pic>
          <p:nvPicPr>
            <p:cNvPr id="54" name="Image 54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524875" y="2790825"/>
              <a:ext cx="409575" cy="409575"/>
            </a:xfrm>
            <a:prstGeom prst="rect">
              <a:avLst/>
            </a:prstGeom>
          </p:spPr>
        </p:pic>
        <p:pic>
          <p:nvPicPr>
            <p:cNvPr id="55" name="Image 55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696450" y="2803088"/>
              <a:ext cx="409575" cy="385050"/>
            </a:xfrm>
            <a:prstGeom prst="rect">
              <a:avLst/>
            </a:prstGeom>
          </p:spPr>
        </p:pic>
        <p:pic>
          <p:nvPicPr>
            <p:cNvPr id="56" name="Image 56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0839450" y="2866185"/>
              <a:ext cx="514350" cy="258856"/>
            </a:xfrm>
            <a:prstGeom prst="rect">
              <a:avLst/>
            </a:prstGeom>
          </p:spPr>
        </p:pic>
        <p:sp>
          <p:nvSpPr>
            <p:cNvPr id="57" name="Line 57"/>
            <p:cNvSpPr/>
            <p:nvPr/>
          </p:nvSpPr>
          <p:spPr>
            <a:xfrm>
              <a:off x="9477375" y="2771775"/>
              <a:ext cx="9525" cy="504825"/>
            </a:xfrm>
            <a:custGeom>
              <a:avLst/>
              <a:gdLst/>
              <a:ahLst/>
              <a:cxnLst/>
              <a:rect l="l" t="t" r="r" b="b"/>
              <a:pathLst>
                <a:path w="9525" h="504825">
                  <a:moveTo>
                    <a:pt x="0" y="0"/>
                  </a:moveTo>
                  <a:lnTo>
                    <a:pt x="0" y="504825"/>
                  </a:lnTo>
                </a:path>
              </a:pathLst>
            </a:custGeom>
            <a:noFill/>
            <a:ln w="9525">
              <a:solidFill>
                <a:srgbClr val="D3E3F6"/>
              </a:solidFill>
            </a:ln>
          </p:spPr>
        </p:sp>
        <p:sp>
          <p:nvSpPr>
            <p:cNvPr id="58" name="Line 58"/>
            <p:cNvSpPr/>
            <p:nvPr/>
          </p:nvSpPr>
          <p:spPr>
            <a:xfrm>
              <a:off x="10591800" y="2771775"/>
              <a:ext cx="9525" cy="504825"/>
            </a:xfrm>
            <a:custGeom>
              <a:avLst/>
              <a:gdLst/>
              <a:ahLst/>
              <a:cxnLst/>
              <a:rect l="l" t="t" r="r" b="b"/>
              <a:pathLst>
                <a:path w="9525" h="504825">
                  <a:moveTo>
                    <a:pt x="0" y="0"/>
                  </a:moveTo>
                  <a:lnTo>
                    <a:pt x="0" y="504825"/>
                  </a:lnTo>
                </a:path>
              </a:pathLst>
            </a:custGeom>
            <a:noFill/>
            <a:ln w="9525">
              <a:solidFill>
                <a:srgbClr val="D3E3F6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414004" y="33947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语义理解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595104" y="33947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知识检索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728579" y="3394710"/>
              <a:ext cx="86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跨文件比对</a:t>
              </a:r>
            </a:p>
          </p:txBody>
        </p:sp>
        <p:sp>
          <p:nvSpPr>
            <p:cNvPr id="62" name="Line 62"/>
            <p:cNvSpPr/>
            <p:nvPr/>
          </p:nvSpPr>
          <p:spPr>
            <a:xfrm>
              <a:off x="8334375" y="3705225"/>
              <a:ext cx="3381375" cy="9525"/>
            </a:xfrm>
            <a:custGeom>
              <a:avLst/>
              <a:gdLst/>
              <a:ahLst/>
              <a:cxnLst/>
              <a:rect l="l" t="t" r="r" b="b"/>
              <a:pathLst>
                <a:path w="3381375" h="9525">
                  <a:moveTo>
                    <a:pt x="0" y="0"/>
                  </a:moveTo>
                  <a:lnTo>
                    <a:pt x="3381375" y="0"/>
                  </a:lnTo>
                </a:path>
              </a:pathLst>
            </a:custGeom>
            <a:noFill/>
            <a:ln w="9525">
              <a:solidFill>
                <a:srgbClr val="AFC9E8"/>
              </a:solidFill>
              <a:prstDash val="dash"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9508998" y="3777139"/>
              <a:ext cx="7366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代表场景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328660" y="4050506"/>
              <a:ext cx="31776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B2638"/>
                  </a:solidFill>
                  <a:latin typeface="Microsoft YaHei"/>
                  <a:ea typeface="Microsoft YaHei"/>
                  <a:cs typeface="Microsoft YaHei"/>
                </a:rPr>
                <a:t>排斥性条款　附件符合性　异常相似　合同偏离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4057650" y="2057400"/>
            <a:ext cx="4076700" cy="1870234"/>
            <a:chOff x="4057650" y="2057400"/>
            <a:chExt cx="4076700" cy="1870234"/>
          </a:xfrm>
        </p:grpSpPr>
        <p:sp>
          <p:nvSpPr>
            <p:cNvPr id="66" name="Line 66"/>
            <p:cNvSpPr/>
            <p:nvPr/>
          </p:nvSpPr>
          <p:spPr>
            <a:xfrm>
              <a:off x="4057650" y="2857500"/>
              <a:ext cx="666750" cy="1"/>
            </a:xfrm>
            <a:prstGeom prst="line">
              <a:avLst/>
            </a:prstGeom>
            <a:noFill/>
            <a:ln w="57150">
              <a:solidFill>
                <a:srgbClr val="75ADEF"/>
              </a:solidFill>
              <a:tailEnd type="triangle" w="lg" len="lg"/>
            </a:ln>
          </p:spPr>
        </p:sp>
        <p:sp>
          <p:nvSpPr>
            <p:cNvPr id="67" name="Line 67"/>
            <p:cNvSpPr/>
            <p:nvPr/>
          </p:nvSpPr>
          <p:spPr>
            <a:xfrm>
              <a:off x="7467600" y="2857500"/>
              <a:ext cx="666750" cy="1"/>
            </a:xfrm>
            <a:prstGeom prst="line">
              <a:avLst/>
            </a:prstGeom>
            <a:noFill/>
            <a:ln w="57150">
              <a:solidFill>
                <a:srgbClr val="75ADEF"/>
              </a:solidFill>
              <a:tailEnd type="triangle" w="lg" len="lg"/>
            </a:ln>
          </p:spPr>
        </p:sp>
        <p:sp>
          <p:nvSpPr>
            <p:cNvPr id="68" name="Ellipse 68"/>
            <p:cNvSpPr/>
            <p:nvPr/>
          </p:nvSpPr>
          <p:spPr>
            <a:xfrm>
              <a:off x="5505450" y="2266950"/>
              <a:ext cx="1181100" cy="11811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75ADEF"/>
              </a:solidFill>
            </a:ln>
          </p:spPr>
        </p:sp>
        <p:sp>
          <p:nvSpPr>
            <p:cNvPr id="69" name="Ellipse 69"/>
            <p:cNvSpPr/>
            <p:nvPr/>
          </p:nvSpPr>
          <p:spPr>
            <a:xfrm>
              <a:off x="5591175" y="2352675"/>
              <a:ext cx="1009650" cy="1009650"/>
            </a:xfrm>
            <a:prstGeom prst="ellipse">
              <a:avLst/>
            </a:prstGeom>
            <a:solidFill>
              <a:srgbClr val="EDF5FF"/>
            </a:solidFill>
            <a:ln w="9525">
              <a:solidFill>
                <a:srgbClr val="C2DCF7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5820735" y="2550319"/>
              <a:ext cx="550530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规则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5997109" y="282416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0753B8"/>
                  </a:solidFill>
                  <a:latin typeface="Arial"/>
                  <a:ea typeface="Arial"/>
                  <a:cs typeface="Arial"/>
                </a:rPr>
                <a:t>+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5967143" y="3131344"/>
              <a:ext cx="257714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80" b="1" dirty="0">
                  <a:solidFill>
                    <a:srgbClr val="0753B8"/>
                  </a:solidFill>
                  <a:latin typeface="Arial"/>
                  <a:ea typeface="Arial"/>
                  <a:cs typeface="Arial"/>
                </a:rPr>
                <a:t>AI</a:t>
              </a:r>
            </a:p>
          </p:txBody>
        </p:sp>
        <p:sp>
          <p:nvSpPr>
            <p:cNvPr id="73" name="Line 73"/>
            <p:cNvSpPr/>
            <p:nvPr/>
          </p:nvSpPr>
          <p:spPr>
            <a:xfrm>
              <a:off x="6096000" y="2057400"/>
              <a:ext cx="9525" cy="209550"/>
            </a:xfrm>
            <a:custGeom>
              <a:avLst/>
              <a:gdLst/>
              <a:ahLst/>
              <a:cxnLst/>
              <a:rect l="l" t="t" r="r" b="b"/>
              <a:pathLst>
                <a:path w="9525" h="209550">
                  <a:moveTo>
                    <a:pt x="0" y="0"/>
                  </a:moveTo>
                  <a:lnTo>
                    <a:pt x="0" y="209550"/>
                  </a:lnTo>
                </a:path>
              </a:pathLst>
            </a:custGeom>
            <a:noFill/>
            <a:ln w="9525">
              <a:solidFill>
                <a:srgbClr val="C8DCF2"/>
              </a:solidFill>
              <a:custDash>
                <a:ds d="300000" sp="300000"/>
              </a:custDash>
            </a:ln>
          </p:spPr>
        </p:sp>
        <p:sp>
          <p:nvSpPr>
            <p:cNvPr id="74" name="Line 74"/>
            <p:cNvSpPr/>
            <p:nvPr/>
          </p:nvSpPr>
          <p:spPr>
            <a:xfrm>
              <a:off x="6096000" y="3448050"/>
              <a:ext cx="9525" cy="219075"/>
            </a:xfrm>
            <a:custGeom>
              <a:avLst/>
              <a:gdLst/>
              <a:ahLst/>
              <a:cxnLst/>
              <a:rect l="l" t="t" r="r" b="b"/>
              <a:pathLst>
                <a:path w="9525" h="219075">
                  <a:moveTo>
                    <a:pt x="0" y="0"/>
                  </a:moveTo>
                  <a:lnTo>
                    <a:pt x="0" y="219075"/>
                  </a:lnTo>
                </a:path>
              </a:pathLst>
            </a:custGeom>
            <a:noFill/>
            <a:ln w="9525">
              <a:solidFill>
                <a:srgbClr val="C8DCF2"/>
              </a:solidFill>
              <a:custDash>
                <a:ds d="300000" sp="300000"/>
              </a:custDash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4739546" y="3707606"/>
              <a:ext cx="27129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确定性问题用规则，复杂性问题用 AI</a:t>
              </a:r>
            </a:p>
          </p:txBody>
        </p:sp>
      </p:grpSp>
      <p:grpSp>
        <p:nvGrpSpPr>
          <p:cNvPr id="107" name="Group 107"/>
          <p:cNvGrpSpPr/>
          <p:nvPr/>
        </p:nvGrpSpPr>
        <p:grpSpPr>
          <a:xfrm>
            <a:off x="285750" y="4648200"/>
            <a:ext cx="11620500" cy="781050"/>
            <a:chOff x="285750" y="4648200"/>
            <a:chExt cx="11620500" cy="781050"/>
          </a:xfrm>
        </p:grpSpPr>
        <p:sp>
          <p:nvSpPr>
            <p:cNvPr id="77" name="Rectangle 77"/>
            <p:cNvSpPr/>
            <p:nvPr/>
          </p:nvSpPr>
          <p:spPr>
            <a:xfrm>
              <a:off x="285750" y="4648200"/>
              <a:ext cx="11620500" cy="781050"/>
            </a:xfrm>
            <a:prstGeom prst="roundRect">
              <a:avLst>
                <a:gd name="adj" fmla="val 14634"/>
              </a:avLst>
            </a:prstGeom>
            <a:gradFill>
              <a:gsLst>
                <a:gs pos="0">
                  <a:srgbClr val="0753B8"/>
                </a:gs>
                <a:gs pos="68000">
                  <a:srgbClr val="EAF4FF"/>
                </a:gs>
                <a:gs pos="100000">
                  <a:srgbClr val="FFFFFF"/>
                </a:gs>
              </a:gsLst>
              <a:lin ang="0" scaled="1"/>
            </a:gradFill>
            <a:ln w="14288">
              <a:solidFill>
                <a:srgbClr val="9FC5EC"/>
              </a:solidFill>
            </a:ln>
          </p:spPr>
        </p:sp>
        <p:sp>
          <p:nvSpPr>
            <p:cNvPr id="78" name="Ellipse 78"/>
            <p:cNvSpPr/>
            <p:nvPr/>
          </p:nvSpPr>
          <p:spPr>
            <a:xfrm>
              <a:off x="457200" y="4810125"/>
              <a:ext cx="457200" cy="4572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753B8"/>
              </a:solidFill>
            </a:ln>
          </p:spPr>
        </p:sp>
        <p:sp>
          <p:nvSpPr>
            <p:cNvPr id="79" name="Freeform 79"/>
            <p:cNvSpPr/>
            <p:nvPr/>
          </p:nvSpPr>
          <p:spPr>
            <a:xfrm>
              <a:off x="638175" y="493395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47625" y="104775"/>
                  </a:moveTo>
                  <a:lnTo>
                    <a:pt x="152400" y="0"/>
                  </a:lnTo>
                  <a:moveTo>
                    <a:pt x="47625" y="47625"/>
                  </a:moveTo>
                  <a:lnTo>
                    <a:pt x="47625" y="152400"/>
                  </a:lnTo>
                  <a:moveTo>
                    <a:pt x="0" y="104775"/>
                  </a:moveTo>
                  <a:lnTo>
                    <a:pt x="95250" y="104775"/>
                  </a:lnTo>
                </a:path>
              </a:pathLst>
            </a:custGeom>
            <a:noFill/>
            <a:ln w="28575" cap="rnd">
              <a:solidFill>
                <a:srgbClr val="0753B8"/>
              </a:solidFill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1019556" y="49301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统一输出</a:t>
              </a:r>
            </a:p>
          </p:txBody>
        </p:sp>
        <p:sp>
          <p:nvSpPr>
            <p:cNvPr id="81" name="Line 81"/>
            <p:cNvSpPr/>
            <p:nvPr/>
          </p:nvSpPr>
          <p:spPr>
            <a:xfrm>
              <a:off x="1914525" y="4752975"/>
              <a:ext cx="9525" cy="571500"/>
            </a:xfrm>
            <a:custGeom>
              <a:avLst/>
              <a:gdLst/>
              <a:ahLst/>
              <a:cxnLst/>
              <a:rect l="l" t="t" r="r" b="b"/>
              <a:pathLst>
                <a:path w="9525" h="571500">
                  <a:moveTo>
                    <a:pt x="0" y="0"/>
                  </a:moveTo>
                  <a:lnTo>
                    <a:pt x="0" y="571500"/>
                  </a:lnTo>
                </a:path>
              </a:pathLst>
            </a:custGeom>
            <a:noFill/>
            <a:ln w="14288">
              <a:solidFill>
                <a:srgbClr val="FFFFFF">
                  <a:alpha val="45000"/>
                </a:srgbClr>
              </a:solidFill>
            </a:ln>
          </p:spPr>
        </p:sp>
        <p:sp>
          <p:nvSpPr>
            <p:cNvPr id="82" name="Rectangle 82"/>
            <p:cNvSpPr/>
            <p:nvPr/>
          </p:nvSpPr>
          <p:spPr>
            <a:xfrm>
              <a:off x="2114550" y="4810125"/>
              <a:ext cx="1428750" cy="457200"/>
            </a:xfrm>
            <a:prstGeom prst="roundRect">
              <a:avLst>
                <a:gd name="adj" fmla="val 18750"/>
              </a:avLst>
            </a:prstGeom>
            <a:solidFill>
              <a:srgbClr val="FFFFFF">
                <a:alpha val="90000"/>
              </a:srgbClr>
            </a:solidFill>
            <a:ln>
              <a:noFill/>
            </a:ln>
          </p:spPr>
        </p:sp>
        <p:sp>
          <p:nvSpPr>
            <p:cNvPr id="83" name="Rectangle 83"/>
            <p:cNvSpPr/>
            <p:nvPr/>
          </p:nvSpPr>
          <p:spPr>
            <a:xfrm>
              <a:off x="3714750" y="4810125"/>
              <a:ext cx="1428750" cy="457200"/>
            </a:xfrm>
            <a:prstGeom prst="roundRect">
              <a:avLst>
                <a:gd name="adj" fmla="val 18750"/>
              </a:avLst>
            </a:prstGeom>
            <a:solidFill>
              <a:srgbClr val="FFFFFF">
                <a:alpha val="90000"/>
              </a:srgbClr>
            </a:solidFill>
            <a:ln>
              <a:noFill/>
            </a:ln>
          </p:spPr>
        </p:sp>
        <p:sp>
          <p:nvSpPr>
            <p:cNvPr id="84" name="Rectangle 84"/>
            <p:cNvSpPr/>
            <p:nvPr/>
          </p:nvSpPr>
          <p:spPr>
            <a:xfrm>
              <a:off x="5314950" y="4810125"/>
              <a:ext cx="1428750" cy="457200"/>
            </a:xfrm>
            <a:prstGeom prst="roundRect">
              <a:avLst>
                <a:gd name="adj" fmla="val 18750"/>
              </a:avLst>
            </a:prstGeom>
            <a:solidFill>
              <a:srgbClr val="FFFFFF">
                <a:alpha val="90000"/>
              </a:srgbClr>
            </a:solidFill>
            <a:ln>
              <a:noFill/>
            </a:ln>
          </p:spPr>
        </p:sp>
        <p:pic>
          <p:nvPicPr>
            <p:cNvPr id="85" name="Image 85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238375" y="4876800"/>
              <a:ext cx="285750" cy="285750"/>
            </a:xfrm>
            <a:prstGeom prst="rect">
              <a:avLst/>
            </a:prstGeom>
          </p:spPr>
        </p:pic>
        <p:pic>
          <p:nvPicPr>
            <p:cNvPr id="86" name="Image 86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838575" y="4876800"/>
              <a:ext cx="285750" cy="285750"/>
            </a:xfrm>
            <a:prstGeom prst="rect">
              <a:avLst/>
            </a:prstGeom>
          </p:spPr>
        </p:pic>
        <p:pic>
          <p:nvPicPr>
            <p:cNvPr id="87" name="Image 87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5438775" y="4885355"/>
              <a:ext cx="285750" cy="268639"/>
            </a:xfrm>
            <a:prstGeom prst="rect">
              <a:avLst/>
            </a:prstGeom>
          </p:spPr>
        </p:pic>
        <p:sp>
          <p:nvSpPr>
            <p:cNvPr id="88" name="TextBox 88"/>
            <p:cNvSpPr txBox="1"/>
            <p:nvPr/>
          </p:nvSpPr>
          <p:spPr>
            <a:xfrm>
              <a:off x="2594610" y="497443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风险结论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4194810" y="497443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命中证据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5795010" y="497443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判断依据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3591306" y="491109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0753B8"/>
                  </a:solidFill>
                  <a:latin typeface="Arial"/>
                  <a:ea typeface="Arial"/>
                  <a:cs typeface="Arial"/>
                </a:rPr>
                <a:t>+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5191506" y="491109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0753B8"/>
                  </a:solidFill>
                  <a:latin typeface="Arial"/>
                  <a:ea typeface="Arial"/>
                  <a:cs typeface="Arial"/>
                </a:rPr>
                <a:t>+</a:t>
              </a:r>
            </a:p>
          </p:txBody>
        </p:sp>
        <p:sp>
          <p:nvSpPr>
            <p:cNvPr id="93" name="Line 93"/>
            <p:cNvSpPr/>
            <p:nvPr/>
          </p:nvSpPr>
          <p:spPr>
            <a:xfrm>
              <a:off x="6858000" y="5038725"/>
              <a:ext cx="400050" cy="1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tailEnd type="triangle" w="lg" len="lg"/>
            </a:ln>
          </p:spPr>
        </p:sp>
        <p:sp>
          <p:nvSpPr>
            <p:cNvPr id="94" name="Rectangle 94"/>
            <p:cNvSpPr/>
            <p:nvPr/>
          </p:nvSpPr>
          <p:spPr>
            <a:xfrm>
              <a:off x="7477125" y="4810125"/>
              <a:ext cx="971550" cy="457200"/>
            </a:xfrm>
            <a:prstGeom prst="roundRect">
              <a:avLst>
                <a:gd name="adj" fmla="val 18750"/>
              </a:avLst>
            </a:prstGeom>
            <a:solidFill>
              <a:srgbClr val="FFFFFF">
                <a:alpha val="95000"/>
              </a:srgbClr>
            </a:solidFill>
            <a:ln>
              <a:noFill/>
            </a:ln>
          </p:spPr>
        </p:sp>
        <p:sp>
          <p:nvSpPr>
            <p:cNvPr id="95" name="Rectangle 95"/>
            <p:cNvSpPr/>
            <p:nvPr/>
          </p:nvSpPr>
          <p:spPr>
            <a:xfrm>
              <a:off x="8572500" y="4810125"/>
              <a:ext cx="1190625" cy="457200"/>
            </a:xfrm>
            <a:prstGeom prst="roundRect">
              <a:avLst>
                <a:gd name="adj" fmla="val 18750"/>
              </a:avLst>
            </a:prstGeom>
            <a:solidFill>
              <a:srgbClr val="FFFFFF">
                <a:alpha val="95000"/>
              </a:srgbClr>
            </a:solidFill>
            <a:ln>
              <a:noFill/>
            </a:ln>
          </p:spPr>
        </p:sp>
        <p:sp>
          <p:nvSpPr>
            <p:cNvPr id="96" name="Rectangle 96"/>
            <p:cNvSpPr/>
            <p:nvPr/>
          </p:nvSpPr>
          <p:spPr>
            <a:xfrm>
              <a:off x="9886950" y="4810125"/>
              <a:ext cx="1428750" cy="457200"/>
            </a:xfrm>
            <a:prstGeom prst="roundRect">
              <a:avLst>
                <a:gd name="adj" fmla="val 18750"/>
              </a:avLst>
            </a:prstGeom>
            <a:solidFill>
              <a:srgbClr val="FFFFFF">
                <a:alpha val="95000"/>
              </a:srgbClr>
            </a:solidFill>
            <a:ln>
              <a:noFill/>
            </a:ln>
          </p:spPr>
        </p:sp>
        <p:sp>
          <p:nvSpPr>
            <p:cNvPr id="97" name="Ellipse 97"/>
            <p:cNvSpPr/>
            <p:nvPr/>
          </p:nvSpPr>
          <p:spPr>
            <a:xfrm>
              <a:off x="7562850" y="4914900"/>
              <a:ext cx="247650" cy="247650"/>
            </a:xfrm>
            <a:prstGeom prst="ellipse">
              <a:avLst/>
            </a:prstGeom>
            <a:solidFill>
              <a:srgbClr val="5AA35A"/>
            </a:solidFill>
            <a:ln>
              <a:noFill/>
            </a:ln>
          </p:spPr>
        </p:sp>
        <p:sp>
          <p:nvSpPr>
            <p:cNvPr id="98" name="Freeform 98"/>
            <p:cNvSpPr/>
            <p:nvPr/>
          </p:nvSpPr>
          <p:spPr>
            <a:xfrm>
              <a:off x="7620000" y="4981575"/>
              <a:ext cx="142875" cy="104775"/>
            </a:xfrm>
            <a:custGeom>
              <a:avLst/>
              <a:gdLst/>
              <a:ahLst/>
              <a:cxnLst/>
              <a:rect l="l" t="t" r="r" b="b"/>
              <a:pathLst>
                <a:path w="142875" h="104775">
                  <a:moveTo>
                    <a:pt x="0" y="57150"/>
                  </a:moveTo>
                  <a:lnTo>
                    <a:pt x="47625" y="104775"/>
                  </a:lnTo>
                  <a:lnTo>
                    <a:pt x="142875" y="0"/>
                  </a:lnTo>
                </a:path>
              </a:pathLst>
            </a:custGeom>
            <a:noFill/>
            <a:ln w="28575">
              <a:solidFill>
                <a:srgbClr val="FFFFFF"/>
              </a:solidFill>
            </a:ln>
          </p:spPr>
        </p:sp>
        <p:sp>
          <p:nvSpPr>
            <p:cNvPr id="99" name="Ellipse 99"/>
            <p:cNvSpPr/>
            <p:nvPr/>
          </p:nvSpPr>
          <p:spPr>
            <a:xfrm>
              <a:off x="8658225" y="4914900"/>
              <a:ext cx="247650" cy="247650"/>
            </a:xfrm>
            <a:prstGeom prst="ellipse">
              <a:avLst/>
            </a:prstGeom>
            <a:solidFill>
              <a:srgbClr val="F3A21A"/>
            </a:solidFill>
            <a:ln>
              <a:noFill/>
            </a:ln>
          </p:spPr>
        </p:sp>
        <p:sp>
          <p:nvSpPr>
            <p:cNvPr id="100" name="Ellipse 100"/>
            <p:cNvSpPr/>
            <p:nvPr/>
          </p:nvSpPr>
          <p:spPr>
            <a:xfrm>
              <a:off x="8734425" y="4962525"/>
              <a:ext cx="95250" cy="952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1" name="Freeform 101"/>
            <p:cNvSpPr/>
            <p:nvPr/>
          </p:nvSpPr>
          <p:spPr>
            <a:xfrm>
              <a:off x="8848725" y="5076825"/>
              <a:ext cx="66675" cy="66675"/>
            </a:xfrm>
            <a:custGeom>
              <a:avLst/>
              <a:gdLst/>
              <a:ahLst/>
              <a:cxnLst/>
              <a:rect l="l" t="t" r="r" b="b"/>
              <a:pathLst>
                <a:path w="66675" h="66675">
                  <a:moveTo>
                    <a:pt x="0" y="0"/>
                  </a:moveTo>
                  <a:lnTo>
                    <a:pt x="66675" y="66675"/>
                  </a:lnTo>
                </a:path>
              </a:pathLst>
            </a:custGeom>
            <a:solidFill>
              <a:srgbClr val="000000"/>
            </a:solidFill>
            <a:ln w="28575">
              <a:solidFill>
                <a:srgbClr val="FFFFFF"/>
              </a:solidFill>
            </a:ln>
          </p:spPr>
        </p:sp>
        <p:sp>
          <p:nvSpPr>
            <p:cNvPr id="102" name="Ellipse 102"/>
            <p:cNvSpPr/>
            <p:nvPr/>
          </p:nvSpPr>
          <p:spPr>
            <a:xfrm>
              <a:off x="9972675" y="4914900"/>
              <a:ext cx="247650" cy="247650"/>
            </a:xfrm>
            <a:prstGeom prst="ellipse">
              <a:avLst/>
            </a:prstGeom>
            <a:solidFill>
              <a:srgbClr val="D9342B"/>
            </a:solidFill>
            <a:ln>
              <a:noFill/>
            </a:ln>
          </p:spPr>
        </p:sp>
        <p:sp>
          <p:nvSpPr>
            <p:cNvPr id="103" name="Freeform 103"/>
            <p:cNvSpPr/>
            <p:nvPr/>
          </p:nvSpPr>
          <p:spPr>
            <a:xfrm>
              <a:off x="10096500" y="4962525"/>
              <a:ext cx="9525" cy="152400"/>
            </a:xfrm>
            <a:custGeom>
              <a:avLst/>
              <a:gdLst/>
              <a:ahLst/>
              <a:cxnLst/>
              <a:rect l="l" t="t" r="r" b="b"/>
              <a:pathLst>
                <a:path w="9525" h="152400">
                  <a:moveTo>
                    <a:pt x="0" y="0"/>
                  </a:moveTo>
                  <a:lnTo>
                    <a:pt x="0" y="95250"/>
                  </a:lnTo>
                  <a:moveTo>
                    <a:pt x="0" y="142875"/>
                  </a:moveTo>
                  <a:lnTo>
                    <a:pt x="0" y="152400"/>
                  </a:lnTo>
                </a:path>
              </a:pathLst>
            </a:custGeom>
            <a:solidFill>
              <a:srgbClr val="000000"/>
            </a:solidFill>
            <a:ln w="28575" cap="rnd">
              <a:solidFill>
                <a:srgbClr val="FFFFFF"/>
              </a:solidFill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7880985" y="4974431"/>
              <a:ext cx="3280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21456F"/>
                  </a:solidFill>
                  <a:latin typeface="Microsoft YaHei"/>
                  <a:ea typeface="Microsoft YaHei"/>
                  <a:cs typeface="Microsoft YaHei"/>
                </a:rPr>
                <a:t>通过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8976360" y="4974431"/>
              <a:ext cx="7317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21456F"/>
                  </a:solidFill>
                  <a:latin typeface="Microsoft YaHei"/>
                  <a:ea typeface="Microsoft YaHei"/>
                  <a:cs typeface="Microsoft YaHei"/>
                </a:rPr>
                <a:t>提示/复核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10290810" y="4974431"/>
              <a:ext cx="7317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21456F"/>
                  </a:solidFill>
                  <a:latin typeface="Microsoft YaHei"/>
                  <a:ea typeface="Microsoft YaHei"/>
                  <a:cs typeface="Microsoft YaHei"/>
                </a:rPr>
                <a:t>预警/拦截</a:t>
              </a:r>
            </a:p>
          </p:txBody>
        </p:sp>
      </p:grpSp>
      <p:grpSp>
        <p:nvGrpSpPr>
          <p:cNvPr id="113" name="Group 113"/>
          <p:cNvGrpSpPr/>
          <p:nvPr/>
        </p:nvGrpSpPr>
        <p:grpSpPr>
          <a:xfrm>
            <a:off x="285750" y="5715000"/>
            <a:ext cx="11684293" cy="911066"/>
            <a:chOff x="285750" y="5715000"/>
            <a:chExt cx="11684293" cy="911066"/>
          </a:xfrm>
        </p:grpSpPr>
        <p:sp>
          <p:nvSpPr>
            <p:cNvPr id="108" name="Rectangle 108"/>
            <p:cNvSpPr/>
            <p:nvPr/>
          </p:nvSpPr>
          <p:spPr>
            <a:xfrm>
              <a:off x="285750" y="5715000"/>
              <a:ext cx="11620500" cy="685800"/>
            </a:xfrm>
            <a:prstGeom prst="roundRect">
              <a:avLst>
                <a:gd name="adj" fmla="val 19444"/>
              </a:avLst>
            </a:prstGeom>
            <a:solidFill>
              <a:srgbClr val="FFFFFF"/>
            </a:solidFill>
            <a:ln w="14288">
              <a:solidFill>
                <a:srgbClr val="C8DDF4"/>
              </a:solidFill>
            </a:ln>
          </p:spPr>
        </p:sp>
        <p:sp>
          <p:nvSpPr>
            <p:cNvPr id="109" name="TextBox 109"/>
            <p:cNvSpPr txBox="1"/>
            <p:nvPr/>
          </p:nvSpPr>
          <p:spPr>
            <a:xfrm>
              <a:off x="584073" y="5863114"/>
              <a:ext cx="7366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协同机制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1651254" y="5871210"/>
              <a:ext cx="65580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B2638"/>
                  </a:solidFill>
                  <a:latin typeface="Microsoft YaHei"/>
                  <a:ea typeface="Microsoft YaHei"/>
                  <a:cs typeface="Microsoft YaHei"/>
                </a:rPr>
                <a:t>规则引擎负责“快、准、稳”的确定性判断，AI 引擎负责“懂语义、识异常”的复杂分析，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1651254" y="6099810"/>
              <a:ext cx="43738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B2638"/>
                  </a:solidFill>
                  <a:latin typeface="Microsoft YaHei"/>
                  <a:ea typeface="Microsoft YaHei"/>
                  <a:cs typeface="Microsoft YaHei"/>
                </a:rPr>
                <a:t>两者协同形成从发现风险、解释证据到分级处置的完整闭环。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9863138" y="6464141"/>
              <a:ext cx="210690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6F7F94"/>
                  </a:solidFill>
                  <a:latin typeface="Microsoft YaHei"/>
                  <a:ea typeface="Microsoft YaHei"/>
                  <a:cs typeface="Microsoft YaHei"/>
                </a:rPr>
                <a:t>数据来源：项目申报材料，统计周期待补充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zzx-page7">
  <a:themeElements>
    <a:clrScheme name="zzx-page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zzx-page7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zzx-page7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2026-08-06T05:14:07Z</dcterms:created>
  <dcterms:modified xsi:type="dcterms:W3CDTF">2026-08-06T05:14:07Z</dcterms:modified>
  <cp:category/>
  <cp:contentStatus/>
</cp:coreProperties>
</file>