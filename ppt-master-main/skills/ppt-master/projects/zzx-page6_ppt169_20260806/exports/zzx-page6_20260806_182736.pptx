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zx-page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zx-page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469392"/>
            <a:chOff x="311658" y="293370"/>
            <a:chExt cx="11556492" cy="469392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7915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风险识别流程：业务上报驱动规则核查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755630" y="390525"/>
              <a:ext cx="6831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第 6 页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70485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19050">
              <a:solidFill>
                <a:srgbClr val="BCD3E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42900" y="857250"/>
            <a:ext cx="8725535" cy="460534"/>
            <a:chOff x="342900" y="857250"/>
            <a:chExt cx="8725535" cy="460534"/>
          </a:xfrm>
        </p:grpSpPr>
        <p:grpSp>
          <p:nvGrpSpPr>
            <p:cNvPr id="11" name="Group 11"/>
            <p:cNvGrpSpPr/>
            <p:nvPr/>
          </p:nvGrpSpPr>
          <p:grpSpPr>
            <a:xfrm>
              <a:off x="342900" y="857250"/>
              <a:ext cx="266700" cy="266700"/>
              <a:chOff x="342900" y="857250"/>
              <a:chExt cx="266700" cy="2667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342900" y="857250"/>
                <a:ext cx="266700" cy="266700"/>
              </a:xfrm>
              <a:prstGeom prst="ellipse">
                <a:avLst/>
              </a:prstGeom>
              <a:noFill/>
              <a:ln w="23812">
                <a:solidFill>
                  <a:srgbClr val="0753B8"/>
                </a:solidFill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00050" y="914400"/>
                <a:ext cx="152400" cy="152400"/>
              </a:xfrm>
              <a:prstGeom prst="ellipse">
                <a:avLst/>
              </a:prstGeom>
              <a:noFill/>
              <a:ln w="19050">
                <a:solidFill>
                  <a:srgbClr val="0753B8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447675" y="962025"/>
                <a:ext cx="57150" cy="57150"/>
              </a:xfrm>
              <a:prstGeom prst="ellipse">
                <a:avLst/>
              </a:prstGeom>
              <a:solidFill>
                <a:srgbClr val="0753B8"/>
              </a:solidFill>
              <a:ln>
                <a:noFill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476250" y="85725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14288">
                <a:solidFill>
                  <a:srgbClr val="0753B8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342900" y="990600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4288">
                <a:solidFill>
                  <a:srgbClr val="0753B8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678942" y="882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核心结论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8285" y="907256"/>
              <a:ext cx="7550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系统在招采关键节点接收业务侧上报数据，经统一清洗形成标准结构化数据，再按业务场景分发至对应风控规则，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8285" y="109775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输出预警或拦截结果并返回业务流程。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90500" y="1381125"/>
            <a:ext cx="1428750" cy="3095625"/>
            <a:chOff x="190500" y="1381125"/>
            <a:chExt cx="1428750" cy="3095625"/>
          </a:xfrm>
        </p:grpSpPr>
        <p:sp>
          <p:nvSpPr>
            <p:cNvPr id="16" name="Rectangle 16"/>
            <p:cNvSpPr/>
            <p:nvPr/>
          </p:nvSpPr>
          <p:spPr>
            <a:xfrm>
              <a:off x="190500" y="1381125"/>
              <a:ext cx="1333500" cy="3095625"/>
            </a:xfrm>
            <a:prstGeom prst="roundRect">
              <a:avLst>
                <a:gd name="adj" fmla="val 8571"/>
              </a:avLst>
            </a:prstGeom>
            <a:solidFill>
              <a:srgbClr val="E8F1FA"/>
            </a:solidFill>
            <a:ln w="9525">
              <a:solidFill>
                <a:srgbClr val="D4E4F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8939" y="1494949"/>
              <a:ext cx="1256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外部数据与合规依据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5740" y="1663541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（风控侧数据支撑）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381000" y="1905000"/>
              <a:ext cx="952500" cy="476250"/>
              <a:chOff x="381000" y="1905000"/>
              <a:chExt cx="952500" cy="4762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81000" y="1905000"/>
                <a:ext cx="952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9525">
                <a:solidFill>
                  <a:srgbClr val="D4E4F8"/>
                </a:solidFill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476250" y="2000250"/>
                <a:ext cx="152400" cy="171450"/>
                <a:chOff x="476250" y="2000250"/>
                <a:chExt cx="152400" cy="171450"/>
              </a:xfrm>
            </p:grpSpPr>
            <p:sp>
              <p:nvSpPr>
                <p:cNvPr id="20" name="Rectangle 20"/>
                <p:cNvSpPr/>
                <p:nvPr/>
              </p:nvSpPr>
              <p:spPr>
                <a:xfrm>
                  <a:off x="476250" y="2057400"/>
                  <a:ext cx="152400" cy="114300"/>
                </a:xfrm>
                <a:prstGeom prst="roundRect">
                  <a:avLst>
                    <a:gd name="adj" fmla="val 16667"/>
                  </a:avLst>
                </a:prstGeom>
                <a:noFill/>
                <a:ln w="14288">
                  <a:solidFill>
                    <a:srgbClr val="0753B8"/>
                  </a:solidFill>
                </a:ln>
              </p:spPr>
            </p:sp>
            <p:sp>
              <p:nvSpPr>
                <p:cNvPr id="21" name="Rectangle 21"/>
                <p:cNvSpPr/>
                <p:nvPr/>
              </p:nvSpPr>
              <p:spPr>
                <a:xfrm>
                  <a:off x="514350" y="2000250"/>
                  <a:ext cx="76200" cy="76200"/>
                </a:xfrm>
                <a:prstGeom prst="roundRect">
                  <a:avLst>
                    <a:gd name="adj" fmla="val 12500"/>
                  </a:avLst>
                </a:prstGeom>
                <a:noFill/>
                <a:ln w="14288">
                  <a:solidFill>
                    <a:srgbClr val="0753B8"/>
                  </a:solidFill>
                </a:ln>
              </p:spPr>
            </p:sp>
            <p:sp>
              <p:nvSpPr>
                <p:cNvPr id="22" name="Line 22"/>
                <p:cNvSpPr/>
                <p:nvPr/>
              </p:nvSpPr>
              <p:spPr>
                <a:xfrm>
                  <a:off x="533400" y="2028825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9525">
                  <a:solidFill>
                    <a:srgbClr val="0753B8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738188" y="1987391"/>
                <a:ext cx="45107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1B2638"/>
                    </a:solidFill>
                    <a:latin typeface="Microsoft YaHei"/>
                    <a:ea typeface="Microsoft YaHei"/>
                    <a:cs typeface="Microsoft YaHei"/>
                  </a:rPr>
                  <a:t>资质信息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38188" y="2136934"/>
                <a:ext cx="467233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80" dirty="0">
                    <a:solidFill>
                      <a:srgbClr val="8AAFD6"/>
                    </a:solidFill>
                    <a:latin typeface="Microsoft YaHei"/>
                    <a:ea typeface="Microsoft YaHei"/>
                    <a:cs typeface="Microsoft YaHei"/>
                  </a:rPr>
                  <a:t>（资质库）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381000" y="2457450"/>
              <a:ext cx="952500" cy="476250"/>
              <a:chOff x="381000" y="2457450"/>
              <a:chExt cx="952500" cy="4762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81000" y="2457450"/>
                <a:ext cx="952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9525">
                <a:solidFill>
                  <a:srgbClr val="D4E4F8"/>
                </a:solidFill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476250" y="2552700"/>
                <a:ext cx="152400" cy="190500"/>
                <a:chOff x="476250" y="2552700"/>
                <a:chExt cx="152400" cy="190500"/>
              </a:xfrm>
            </p:grpSpPr>
            <p:sp>
              <p:nvSpPr>
                <p:cNvPr id="28" name="Rectangle 28"/>
                <p:cNvSpPr/>
                <p:nvPr/>
              </p:nvSpPr>
              <p:spPr>
                <a:xfrm>
                  <a:off x="476250" y="2552700"/>
                  <a:ext cx="152400" cy="190500"/>
                </a:xfrm>
                <a:prstGeom prst="roundRect">
                  <a:avLst>
                    <a:gd name="adj" fmla="val 12500"/>
                  </a:avLst>
                </a:prstGeom>
                <a:noFill/>
                <a:ln w="14288">
                  <a:solidFill>
                    <a:srgbClr val="0753B8"/>
                  </a:solidFill>
                </a:ln>
              </p:spPr>
            </p:sp>
            <p:sp>
              <p:nvSpPr>
                <p:cNvPr id="29" name="Line 29"/>
                <p:cNvSpPr/>
                <p:nvPr/>
              </p:nvSpPr>
              <p:spPr>
                <a:xfrm>
                  <a:off x="514350" y="26098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9525">
                  <a:solidFill>
                    <a:srgbClr val="0753B8"/>
                  </a:solidFill>
                </a:ln>
              </p:spPr>
            </p:sp>
            <p:sp>
              <p:nvSpPr>
                <p:cNvPr id="30" name="Line 30"/>
                <p:cNvSpPr/>
                <p:nvPr/>
              </p:nvSpPr>
              <p:spPr>
                <a:xfrm>
                  <a:off x="514350" y="26479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9525">
                  <a:solidFill>
                    <a:srgbClr val="0753B8"/>
                  </a:solidFill>
                </a:ln>
              </p:spPr>
            </p:sp>
            <p:sp>
              <p:nvSpPr>
                <p:cNvPr id="31" name="Line 31"/>
                <p:cNvSpPr/>
                <p:nvPr/>
              </p:nvSpPr>
              <p:spPr>
                <a:xfrm>
                  <a:off x="514350" y="2686050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9525">
                  <a:solidFill>
                    <a:srgbClr val="0753B8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738188" y="2539841"/>
                <a:ext cx="45107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1B2638"/>
                    </a:solidFill>
                    <a:latin typeface="Microsoft YaHei"/>
                    <a:ea typeface="Microsoft YaHei"/>
                    <a:cs typeface="Microsoft YaHei"/>
                  </a:rPr>
                  <a:t>工商信息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38188" y="2689384"/>
                <a:ext cx="467233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80" dirty="0">
                    <a:solidFill>
                      <a:srgbClr val="8AAFD6"/>
                    </a:solidFill>
                    <a:latin typeface="Microsoft YaHei"/>
                    <a:ea typeface="Microsoft YaHei"/>
                    <a:cs typeface="Microsoft YaHei"/>
                  </a:rPr>
                  <a:t>（工商库）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381000" y="3009900"/>
              <a:ext cx="952500" cy="476250"/>
              <a:chOff x="381000" y="3009900"/>
              <a:chExt cx="952500" cy="4762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381000" y="3009900"/>
                <a:ext cx="952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9525">
                <a:solidFill>
                  <a:srgbClr val="D4E4F8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476250" y="3105150"/>
                <a:ext cx="152400" cy="152400"/>
                <a:chOff x="476250" y="3105150"/>
                <a:chExt cx="152400" cy="15240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476250" y="3105150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76200" y="0"/>
                      </a:moveTo>
                      <a:lnTo>
                        <a:pt x="152400" y="38100"/>
                      </a:lnTo>
                      <a:lnTo>
                        <a:pt x="152400" y="114300"/>
                      </a:lnTo>
                      <a:lnTo>
                        <a:pt x="76200" y="152400"/>
                      </a:lnTo>
                      <a:lnTo>
                        <a:pt x="0" y="114300"/>
                      </a:lnTo>
                      <a:lnTo>
                        <a:pt x="0" y="38100"/>
                      </a:lnTo>
                      <a:close/>
                    </a:path>
                  </a:pathLst>
                </a:custGeom>
                <a:noFill/>
                <a:ln w="14288">
                  <a:solidFill>
                    <a:srgbClr val="0753B8"/>
                  </a:solidFill>
                </a:ln>
              </p:spPr>
            </p:sp>
            <p:sp>
              <p:nvSpPr>
                <p:cNvPr id="38" name="Line 38"/>
                <p:cNvSpPr/>
                <p:nvPr/>
              </p:nvSpPr>
              <p:spPr>
                <a:xfrm>
                  <a:off x="552450" y="3152775"/>
                  <a:ext cx="95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7150">
                      <a:moveTo>
                        <a:pt x="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4288">
                  <a:solidFill>
                    <a:srgbClr val="0753B8"/>
                  </a:solidFill>
                </a:ln>
              </p:spPr>
            </p:sp>
            <p:sp>
              <p:nvSpPr>
                <p:cNvPr id="39" name="Ellipse 39"/>
                <p:cNvSpPr/>
                <p:nvPr/>
              </p:nvSpPr>
              <p:spPr>
                <a:xfrm>
                  <a:off x="544830" y="3130868"/>
                  <a:ext cx="15240" cy="15240"/>
                </a:xfrm>
                <a:prstGeom prst="ellipse">
                  <a:avLst/>
                </a:prstGeom>
                <a:solidFill>
                  <a:srgbClr val="0753B8"/>
                </a:solidFill>
                <a:ln>
                  <a:noFill/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738188" y="3092291"/>
                <a:ext cx="45107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1B2638"/>
                    </a:solidFill>
                    <a:latin typeface="Microsoft YaHei"/>
                    <a:ea typeface="Microsoft YaHei"/>
                    <a:cs typeface="Microsoft YaHei"/>
                  </a:rPr>
                  <a:t>失信信息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38188" y="3241834"/>
                <a:ext cx="467233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80" dirty="0">
                    <a:solidFill>
                      <a:srgbClr val="8AAFD6"/>
                    </a:solidFill>
                    <a:latin typeface="Microsoft YaHei"/>
                    <a:ea typeface="Microsoft YaHei"/>
                    <a:cs typeface="Microsoft YaHei"/>
                  </a:rPr>
                  <a:t>（失信库）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81000" y="3562350"/>
              <a:ext cx="1149394" cy="476250"/>
              <a:chOff x="381000" y="3562350"/>
              <a:chExt cx="1149394" cy="4762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381000" y="3562350"/>
                <a:ext cx="952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9525">
                <a:solidFill>
                  <a:srgbClr val="D4E4F8"/>
                </a:solidFill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476250" y="3657600"/>
                <a:ext cx="152400" cy="190500"/>
                <a:chOff x="476250" y="3657600"/>
                <a:chExt cx="152400" cy="190500"/>
              </a:xfrm>
            </p:grpSpPr>
            <p:sp>
              <p:nvSpPr>
                <p:cNvPr id="45" name="Rectangle 45"/>
                <p:cNvSpPr/>
                <p:nvPr/>
              </p:nvSpPr>
              <p:spPr>
                <a:xfrm>
                  <a:off x="476250" y="3657600"/>
                  <a:ext cx="152400" cy="190500"/>
                </a:xfrm>
                <a:prstGeom prst="roundRect">
                  <a:avLst>
                    <a:gd name="adj" fmla="val 12500"/>
                  </a:avLst>
                </a:prstGeom>
                <a:noFill/>
                <a:ln w="14288">
                  <a:solidFill>
                    <a:srgbClr val="0753B8"/>
                  </a:solidFill>
                </a:ln>
              </p:spPr>
            </p:sp>
            <p:sp>
              <p:nvSpPr>
                <p:cNvPr id="46" name="Line 46"/>
                <p:cNvSpPr/>
                <p:nvPr/>
              </p:nvSpPr>
              <p:spPr>
                <a:xfrm>
                  <a:off x="504825" y="3657600"/>
                  <a:ext cx="95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0">
                      <a:moveTo>
                        <a:pt x="0" y="0"/>
                      </a:moveTo>
                      <a:lnTo>
                        <a:pt x="0" y="190500"/>
                      </a:lnTo>
                    </a:path>
                  </a:pathLst>
                </a:custGeom>
                <a:noFill/>
                <a:ln w="9525">
                  <a:solidFill>
                    <a:srgbClr val="0753B8"/>
                  </a:solidFill>
                </a:ln>
              </p:spPr>
            </p:sp>
            <p:sp>
              <p:nvSpPr>
                <p:cNvPr id="47" name="Line 47"/>
                <p:cNvSpPr/>
                <p:nvPr/>
              </p:nvSpPr>
              <p:spPr>
                <a:xfrm>
                  <a:off x="533400" y="3695700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9525">
                  <a:solidFill>
                    <a:srgbClr val="0753B8"/>
                  </a:solidFill>
                </a:ln>
              </p:spPr>
            </p:sp>
            <p:sp>
              <p:nvSpPr>
                <p:cNvPr id="48" name="Line 48"/>
                <p:cNvSpPr/>
                <p:nvPr/>
              </p:nvSpPr>
              <p:spPr>
                <a:xfrm>
                  <a:off x="533400" y="3733800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9525">
                  <a:solidFill>
                    <a:srgbClr val="0753B8"/>
                  </a:solidFill>
                </a:ln>
              </p:spPr>
            </p:sp>
            <p:sp>
              <p:nvSpPr>
                <p:cNvPr id="49" name="Line 49"/>
                <p:cNvSpPr/>
                <p:nvPr/>
              </p:nvSpPr>
              <p:spPr>
                <a:xfrm>
                  <a:off x="533400" y="3771900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9525">
                  <a:solidFill>
                    <a:srgbClr val="0753B8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738188" y="3644741"/>
                <a:ext cx="45107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1B2638"/>
                    </a:solidFill>
                    <a:latin typeface="Microsoft YaHei"/>
                    <a:ea typeface="Microsoft YaHei"/>
                    <a:cs typeface="Microsoft YaHei"/>
                  </a:rPr>
                  <a:t>合规要求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38188" y="3794284"/>
                <a:ext cx="792206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80" dirty="0">
                    <a:solidFill>
                      <a:srgbClr val="8AAFD6"/>
                    </a:solidFill>
                    <a:latin typeface="Microsoft YaHei"/>
                    <a:ea typeface="Microsoft YaHei"/>
                    <a:cs typeface="Microsoft YaHei"/>
                  </a:rPr>
                  <a:t>法律法规/制度规则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1524000" y="2952750"/>
              <a:ext cx="95250" cy="1"/>
            </a:xfrm>
            <a:prstGeom prst="line">
              <a:avLst/>
            </a:prstGeom>
            <a:noFill/>
            <a:ln w="14288">
              <a:solidFill>
                <a:srgbClr val="0753B8"/>
              </a:solidFill>
              <a:tailEnd type="triangle" w="lg" len="lg"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1619250" y="1476375"/>
            <a:ext cx="1524000" cy="2762250"/>
            <a:chOff x="1619250" y="1476375"/>
            <a:chExt cx="1524000" cy="2762250"/>
          </a:xfrm>
        </p:grpSpPr>
        <p:sp>
          <p:nvSpPr>
            <p:cNvPr id="56" name="Rectangle 56"/>
            <p:cNvSpPr/>
            <p:nvPr/>
          </p:nvSpPr>
          <p:spPr>
            <a:xfrm>
              <a:off x="1619250" y="1476375"/>
              <a:ext cx="1428750" cy="27622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D4E4F8"/>
              </a:solidFill>
            </a:ln>
            <a:effectLst>
              <a:outerShdw blurRad="95250" dist="28575" dir="5400000" algn="ctr" rotWithShape="0">
                <a:srgbClr val="0A3E83">
                  <a:alpha val="7500"/>
                </a:srgbClr>
              </a:outerShdw>
            </a:effectLst>
          </p:spPr>
        </p:sp>
        <p:sp>
          <p:nvSpPr>
            <p:cNvPr id="57" name="Ellipse 57"/>
            <p:cNvSpPr/>
            <p:nvPr/>
          </p:nvSpPr>
          <p:spPr>
            <a:xfrm>
              <a:off x="1724025" y="1581150"/>
              <a:ext cx="266700" cy="2667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811226" y="1648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071116" y="16487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业务节点触发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2019300" y="2000250"/>
              <a:ext cx="152400" cy="180975"/>
              <a:chOff x="2019300" y="2000250"/>
              <a:chExt cx="152400" cy="18097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2019300" y="20002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23825" y="38100"/>
                    </a:moveTo>
                    <a:cubicBezTo>
                      <a:pt x="123825" y="19050"/>
                      <a:pt x="104775" y="0"/>
                      <a:pt x="76200" y="0"/>
                    </a:cubicBezTo>
                    <a:cubicBezTo>
                      <a:pt x="47625" y="0"/>
                      <a:pt x="28575" y="19050"/>
                      <a:pt x="28575" y="38100"/>
                    </a:cubicBezTo>
                    <a:lnTo>
                      <a:pt x="28575" y="57150"/>
                    </a:lnTo>
                    <a:cubicBezTo>
                      <a:pt x="28575" y="95250"/>
                      <a:pt x="0" y="114300"/>
                      <a:pt x="0" y="152400"/>
                    </a:cubicBezTo>
                    <a:lnTo>
                      <a:pt x="152400" y="152400"/>
                    </a:lnTo>
                    <a:cubicBezTo>
                      <a:pt x="152400" y="114300"/>
                      <a:pt x="123825" y="95250"/>
                      <a:pt x="123825" y="57150"/>
                    </a:cubicBezTo>
                    <a:close/>
                  </a:path>
                </a:pathLst>
              </a:custGeom>
              <a:noFill/>
              <a:ln w="14288">
                <a:solidFill>
                  <a:srgbClr val="0753B8"/>
                </a:solidFill>
              </a:ln>
            </p:spPr>
          </p:sp>
          <p:sp>
            <p:nvSpPr>
              <p:cNvPr id="61" name="Line 61"/>
              <p:cNvSpPr/>
              <p:nvPr/>
            </p:nvSpPr>
            <p:spPr>
              <a:xfrm>
                <a:off x="2076450" y="21717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4288">
                <a:solidFill>
                  <a:srgbClr val="0753B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2057400" y="200025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0" y="19050"/>
                    </a:lnTo>
                    <a:cubicBezTo>
                      <a:pt x="0" y="9525"/>
                      <a:pt x="9525" y="0"/>
                      <a:pt x="38100" y="0"/>
                    </a:cubicBezTo>
                    <a:cubicBezTo>
                      <a:pt x="66675" y="0"/>
                      <a:pt x="76200" y="9525"/>
                      <a:pt x="76200" y="19050"/>
                    </a:cubicBezTo>
                    <a:lnTo>
                      <a:pt x="76200" y="38100"/>
                    </a:lnTo>
                  </a:path>
                </a:pathLst>
              </a:custGeom>
              <a:noFill/>
              <a:ln w="14288">
                <a:solidFill>
                  <a:srgbClr val="0753B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709738" y="229219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公告发布审批前、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709738" y="2435066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报名截止后及其他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709738" y="257794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关键节点触发核查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1714500" y="28098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E8F1F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709738" y="2911316"/>
              <a:ext cx="8707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业务系统按场景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804988" y="3043238"/>
              <a:ext cx="61531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上报所需数据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709738" y="3197066"/>
              <a:ext cx="12019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项目、文件、供应商、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804988" y="3328988"/>
              <a:ext cx="51435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交易等数据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3048000" y="2857500"/>
              <a:ext cx="95250" cy="1"/>
            </a:xfrm>
            <a:prstGeom prst="line">
              <a:avLst/>
            </a:prstGeom>
            <a:noFill/>
            <a:ln w="14288">
              <a:solidFill>
                <a:srgbClr val="0753B8"/>
              </a:solidFill>
              <a:tailEnd type="triangle" w="lg" len="lg"/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3190875" y="1476375"/>
            <a:ext cx="1524000" cy="2762250"/>
            <a:chOff x="3190875" y="1476375"/>
            <a:chExt cx="1524000" cy="2762250"/>
          </a:xfrm>
        </p:grpSpPr>
        <p:sp>
          <p:nvSpPr>
            <p:cNvPr id="74" name="Rectangle 74"/>
            <p:cNvSpPr/>
            <p:nvPr/>
          </p:nvSpPr>
          <p:spPr>
            <a:xfrm>
              <a:off x="3190875" y="1476375"/>
              <a:ext cx="1428750" cy="27622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D4E4F8"/>
              </a:solidFill>
            </a:ln>
            <a:effectLst>
              <a:outerShdw blurRad="95250" dist="28575" dir="5400000" algn="ctr" rotWithShape="0">
                <a:srgbClr val="0A3E83">
                  <a:alpha val="7500"/>
                </a:srgbClr>
              </a:outerShdw>
            </a:effectLst>
          </p:spPr>
        </p:sp>
        <p:sp>
          <p:nvSpPr>
            <p:cNvPr id="75" name="Ellipse 75"/>
            <p:cNvSpPr/>
            <p:nvPr/>
          </p:nvSpPr>
          <p:spPr>
            <a:xfrm>
              <a:off x="3295650" y="1581150"/>
              <a:ext cx="266700" cy="2667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382851" y="1648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642741" y="16487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场景数据上报</a:t>
              </a:r>
            </a:p>
          </p:txBody>
        </p:sp>
        <p:grpSp>
          <p:nvGrpSpPr>
            <p:cNvPr id="81" name="Group 81"/>
            <p:cNvGrpSpPr/>
            <p:nvPr/>
          </p:nvGrpSpPr>
          <p:grpSpPr>
            <a:xfrm>
              <a:off x="3571875" y="2000250"/>
              <a:ext cx="209550" cy="152400"/>
              <a:chOff x="3571875" y="2000250"/>
              <a:chExt cx="209550" cy="1524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3571875" y="2000250"/>
                <a:ext cx="2095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3350">
                    <a:moveTo>
                      <a:pt x="47625" y="133350"/>
                    </a:moveTo>
                    <a:cubicBezTo>
                      <a:pt x="19050" y="133350"/>
                      <a:pt x="0" y="114300"/>
                      <a:pt x="0" y="85725"/>
                    </a:cubicBezTo>
                    <a:cubicBezTo>
                      <a:pt x="0" y="57150"/>
                      <a:pt x="19050" y="38100"/>
                      <a:pt x="47625" y="38100"/>
                    </a:cubicBezTo>
                    <a:cubicBezTo>
                      <a:pt x="47625" y="9525"/>
                      <a:pt x="76200" y="0"/>
                      <a:pt x="104775" y="0"/>
                    </a:cubicBezTo>
                    <a:cubicBezTo>
                      <a:pt x="133350" y="0"/>
                      <a:pt x="161925" y="19050"/>
                      <a:pt x="171450" y="47625"/>
                    </a:cubicBezTo>
                    <a:cubicBezTo>
                      <a:pt x="190500" y="47625"/>
                      <a:pt x="209550" y="66675"/>
                      <a:pt x="209550" y="95250"/>
                    </a:cubicBezTo>
                    <a:cubicBezTo>
                      <a:pt x="209550" y="123825"/>
                      <a:pt x="190500" y="133350"/>
                      <a:pt x="171450" y="133350"/>
                    </a:cubicBezTo>
                    <a:close/>
                  </a:path>
                </a:pathLst>
              </a:custGeom>
              <a:noFill/>
              <a:ln w="14288">
                <a:solidFill>
                  <a:srgbClr val="0753B8"/>
                </a:solidFill>
              </a:ln>
            </p:spPr>
          </p:sp>
          <p:sp>
            <p:nvSpPr>
              <p:cNvPr id="79" name="Line 79"/>
              <p:cNvSpPr/>
              <p:nvPr/>
            </p:nvSpPr>
            <p:spPr>
              <a:xfrm>
                <a:off x="3676650" y="20764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4288">
                <a:solidFill>
                  <a:srgbClr val="0753B8"/>
                </a:solidFill>
              </a:ln>
            </p:spPr>
          </p:sp>
          <p:sp>
            <p:nvSpPr>
              <p:cNvPr id="80" name="Polyline 80"/>
              <p:cNvSpPr/>
              <p:nvPr/>
            </p:nvSpPr>
            <p:spPr>
              <a:xfrm>
                <a:off x="3648075" y="20764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38100"/>
                    </a:moveTo>
                    <a:lnTo>
                      <a:pt x="28575" y="0"/>
                    </a:lnTo>
                    <a:lnTo>
                      <a:pt x="57150" y="38100"/>
                    </a:lnTo>
                  </a:path>
                </a:pathLst>
              </a:custGeom>
              <a:noFill/>
              <a:ln w="14288">
                <a:solidFill>
                  <a:srgbClr val="0753B8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3281362" y="229219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按业务数据上报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3281362" y="2435066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本次核查所需数据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3286125" y="26670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E8F1F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281362" y="2768441"/>
              <a:ext cx="8707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公告及采购数据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281362" y="2939891"/>
              <a:ext cx="9811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供应商主体与附件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3281362" y="3111341"/>
              <a:ext cx="9811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交易与评审数据等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4619625" y="2857500"/>
              <a:ext cx="95250" cy="1"/>
            </a:xfrm>
            <a:prstGeom prst="line">
              <a:avLst/>
            </a:prstGeom>
            <a:noFill/>
            <a:ln w="14288">
              <a:solidFill>
                <a:srgbClr val="0753B8"/>
              </a:solidFill>
              <a:tailEnd type="triangle" w="lg" len="lg"/>
            </a:ln>
          </p:spPr>
        </p:sp>
      </p:grpSp>
      <p:grpSp>
        <p:nvGrpSpPr>
          <p:cNvPr id="108" name="Group 108"/>
          <p:cNvGrpSpPr/>
          <p:nvPr/>
        </p:nvGrpSpPr>
        <p:grpSpPr>
          <a:xfrm>
            <a:off x="4762500" y="1476375"/>
            <a:ext cx="1524000" cy="2762250"/>
            <a:chOff x="4762500" y="1476375"/>
            <a:chExt cx="1524000" cy="2762250"/>
          </a:xfrm>
        </p:grpSpPr>
        <p:sp>
          <p:nvSpPr>
            <p:cNvPr id="90" name="Rectangle 90"/>
            <p:cNvSpPr/>
            <p:nvPr/>
          </p:nvSpPr>
          <p:spPr>
            <a:xfrm>
              <a:off x="4762500" y="1476375"/>
              <a:ext cx="1428750" cy="27622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D4E4F8"/>
              </a:solidFill>
            </a:ln>
            <a:effectLst>
              <a:outerShdw blurRad="95250" dist="28575" dir="5400000" algn="ctr" rotWithShape="0">
                <a:srgbClr val="0A3E83">
                  <a:alpha val="7500"/>
                </a:srgbClr>
              </a:outerShdw>
            </a:effectLst>
          </p:spPr>
        </p:sp>
        <p:sp>
          <p:nvSpPr>
            <p:cNvPr id="91" name="Ellipse 91"/>
            <p:cNvSpPr/>
            <p:nvPr/>
          </p:nvSpPr>
          <p:spPr>
            <a:xfrm>
              <a:off x="4867275" y="1581150"/>
              <a:ext cx="266700" cy="2667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4954476" y="1648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214366" y="16487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风控统一接收</a:t>
              </a:r>
            </a:p>
          </p:txBody>
        </p:sp>
        <p:grpSp>
          <p:nvGrpSpPr>
            <p:cNvPr id="99" name="Group 99"/>
            <p:cNvGrpSpPr/>
            <p:nvPr/>
          </p:nvGrpSpPr>
          <p:grpSpPr>
            <a:xfrm>
              <a:off x="5162550" y="1981200"/>
              <a:ext cx="209550" cy="209550"/>
              <a:chOff x="5162550" y="1981200"/>
              <a:chExt cx="209550" cy="209550"/>
            </a:xfrm>
          </p:grpSpPr>
          <p:sp>
            <p:nvSpPr>
              <p:cNvPr id="94" name="Ellipse 94"/>
              <p:cNvSpPr/>
              <p:nvPr/>
            </p:nvSpPr>
            <p:spPr>
              <a:xfrm>
                <a:off x="5162550" y="2000250"/>
                <a:ext cx="190500" cy="76200"/>
              </a:xfrm>
              <a:prstGeom prst="ellipse">
                <a:avLst/>
              </a:prstGeom>
              <a:noFill/>
              <a:ln w="14288">
                <a:solidFill>
                  <a:srgbClr val="0753B8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5162550" y="2038350"/>
                <a:ext cx="1905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240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33350"/>
                      <a:pt x="38100" y="152400"/>
                      <a:pt x="95250" y="152400"/>
                    </a:cubicBezTo>
                    <a:cubicBezTo>
                      <a:pt x="152400" y="152400"/>
                      <a:pt x="190500" y="133350"/>
                      <a:pt x="190500" y="114300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4288">
                <a:solidFill>
                  <a:srgbClr val="0753B8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5162550" y="2095500"/>
                <a:ext cx="1905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38100">
                    <a:moveTo>
                      <a:pt x="0" y="0"/>
                    </a:moveTo>
                    <a:cubicBezTo>
                      <a:pt x="0" y="19050"/>
                      <a:pt x="38100" y="38100"/>
                      <a:pt x="95250" y="38100"/>
                    </a:cubicBezTo>
                    <a:cubicBezTo>
                      <a:pt x="152400" y="38100"/>
                      <a:pt x="190500" y="19050"/>
                      <a:pt x="190500" y="0"/>
                    </a:cubicBezTo>
                  </a:path>
                </a:pathLst>
              </a:custGeom>
              <a:noFill/>
              <a:ln w="14288">
                <a:solidFill>
                  <a:srgbClr val="0753B8"/>
                </a:solidFill>
              </a:ln>
            </p:spPr>
          </p:sp>
          <p:sp>
            <p:nvSpPr>
              <p:cNvPr id="97" name="Ellipse 97"/>
              <p:cNvSpPr/>
              <p:nvPr/>
            </p:nvSpPr>
            <p:spPr>
              <a:xfrm>
                <a:off x="5295900" y="1981200"/>
                <a:ext cx="76200" cy="76200"/>
              </a:xfrm>
              <a:prstGeom prst="ellipse">
                <a:avLst/>
              </a:prstGeom>
              <a:solidFill>
                <a:srgbClr val="FF6B20"/>
              </a:solidFill>
              <a:ln>
                <a:noFill/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5314466" y="1997869"/>
                <a:ext cx="39067" cy="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8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+</a:t>
                </a:r>
              </a:p>
            </p:txBody>
          </p:sp>
        </p:grpSp>
        <p:sp>
          <p:nvSpPr>
            <p:cNvPr id="100" name="TextBox 100"/>
            <p:cNvSpPr txBox="1"/>
            <p:nvPr/>
          </p:nvSpPr>
          <p:spPr>
            <a:xfrm>
              <a:off x="4852988" y="2292191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识别业务场景与核查对象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4852988" y="2435066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关联内外部数据与要求</a:t>
              </a:r>
            </a:p>
          </p:txBody>
        </p:sp>
        <p:sp>
          <p:nvSpPr>
            <p:cNvPr id="102" name="Line 102"/>
            <p:cNvSpPr/>
            <p:nvPr/>
          </p:nvSpPr>
          <p:spPr>
            <a:xfrm>
              <a:off x="4857750" y="26670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E8F1FA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4852988" y="2768441"/>
              <a:ext cx="12019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识别场景、对象与节点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4852988" y="2939891"/>
              <a:ext cx="13123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关联资质、工商、失信、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4948238" y="30718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历史文件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4852988" y="3225641"/>
              <a:ext cx="9811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关联适用合规要求</a:t>
              </a:r>
            </a:p>
          </p:txBody>
        </p:sp>
        <p:sp>
          <p:nvSpPr>
            <p:cNvPr id="107" name="Line 107"/>
            <p:cNvSpPr/>
            <p:nvPr/>
          </p:nvSpPr>
          <p:spPr>
            <a:xfrm>
              <a:off x="6191250" y="2857500"/>
              <a:ext cx="95250" cy="1"/>
            </a:xfrm>
            <a:prstGeom prst="line">
              <a:avLst/>
            </a:prstGeom>
            <a:noFill/>
            <a:ln w="14288">
              <a:solidFill>
                <a:srgbClr val="0753B8"/>
              </a:solidFill>
              <a:tailEnd type="triangle" w="lg" len="lg"/>
            </a:ln>
          </p:spPr>
        </p:sp>
      </p:grpSp>
      <p:grpSp>
        <p:nvGrpSpPr>
          <p:cNvPr id="127" name="Group 127"/>
          <p:cNvGrpSpPr/>
          <p:nvPr/>
        </p:nvGrpSpPr>
        <p:grpSpPr>
          <a:xfrm>
            <a:off x="6334125" y="1476375"/>
            <a:ext cx="1524000" cy="2762250"/>
            <a:chOff x="6334125" y="1476375"/>
            <a:chExt cx="1524000" cy="2762250"/>
          </a:xfrm>
        </p:grpSpPr>
        <p:sp>
          <p:nvSpPr>
            <p:cNvPr id="109" name="Rectangle 109"/>
            <p:cNvSpPr/>
            <p:nvPr/>
          </p:nvSpPr>
          <p:spPr>
            <a:xfrm>
              <a:off x="6334125" y="1476375"/>
              <a:ext cx="1428750" cy="27622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D4E4F8"/>
              </a:solidFill>
            </a:ln>
            <a:effectLst>
              <a:outerShdw blurRad="95250" dist="28575" dir="5400000" algn="ctr" rotWithShape="0">
                <a:srgbClr val="0A3E83">
                  <a:alpha val="7500"/>
                </a:srgbClr>
              </a:outerShdw>
            </a:effectLst>
          </p:spPr>
        </p:sp>
        <p:sp>
          <p:nvSpPr>
            <p:cNvPr id="110" name="Ellipse 110"/>
            <p:cNvSpPr/>
            <p:nvPr/>
          </p:nvSpPr>
          <p:spPr>
            <a:xfrm>
              <a:off x="6391275" y="1581150"/>
              <a:ext cx="266700" cy="2667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478476" y="1648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643688" y="1673066"/>
              <a:ext cx="10526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清洗形成结构化数据</a:t>
              </a:r>
            </a:p>
          </p:txBody>
        </p:sp>
        <p:grpSp>
          <p:nvGrpSpPr>
            <p:cNvPr id="118" name="Group 118"/>
            <p:cNvGrpSpPr/>
            <p:nvPr/>
          </p:nvGrpSpPr>
          <p:grpSpPr>
            <a:xfrm>
              <a:off x="6734175" y="2019300"/>
              <a:ext cx="171450" cy="209550"/>
              <a:chOff x="6734175" y="2019300"/>
              <a:chExt cx="171450" cy="209550"/>
            </a:xfrm>
          </p:grpSpPr>
          <p:sp>
            <p:nvSpPr>
              <p:cNvPr id="113" name="Rectangle 113"/>
              <p:cNvSpPr/>
              <p:nvPr/>
            </p:nvSpPr>
            <p:spPr>
              <a:xfrm>
                <a:off x="6734175" y="2019300"/>
                <a:ext cx="171450" cy="209550"/>
              </a:xfrm>
              <a:prstGeom prst="roundRect">
                <a:avLst>
                  <a:gd name="adj" fmla="val 11111"/>
                </a:avLst>
              </a:prstGeom>
              <a:noFill/>
              <a:ln w="14288">
                <a:solidFill>
                  <a:srgbClr val="0753B8"/>
                </a:solidFill>
              </a:ln>
            </p:spPr>
          </p:sp>
          <p:sp>
            <p:nvSpPr>
              <p:cNvPr id="114" name="Line 114"/>
              <p:cNvSpPr/>
              <p:nvPr/>
            </p:nvSpPr>
            <p:spPr>
              <a:xfrm>
                <a:off x="6772275" y="20764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9525">
                <a:solidFill>
                  <a:srgbClr val="0753B8"/>
                </a:solidFill>
              </a:ln>
            </p:spPr>
          </p:sp>
          <p:sp>
            <p:nvSpPr>
              <p:cNvPr id="115" name="Line 115"/>
              <p:cNvSpPr/>
              <p:nvPr/>
            </p:nvSpPr>
            <p:spPr>
              <a:xfrm>
                <a:off x="6772275" y="21145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9525">
                <a:solidFill>
                  <a:srgbClr val="0753B8"/>
                </a:solidFill>
              </a:ln>
            </p:spPr>
          </p:sp>
          <p:sp>
            <p:nvSpPr>
              <p:cNvPr id="116" name="Line 116"/>
              <p:cNvSpPr/>
              <p:nvPr/>
            </p:nvSpPr>
            <p:spPr>
              <a:xfrm>
                <a:off x="6772275" y="21526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9525">
                <a:solidFill>
                  <a:srgbClr val="0753B8"/>
                </a:solidFill>
              </a:ln>
            </p:spPr>
          </p:sp>
          <p:sp>
            <p:nvSpPr>
              <p:cNvPr id="117" name="Polyline 117"/>
              <p:cNvSpPr/>
              <p:nvPr/>
            </p:nvSpPr>
            <p:spPr>
              <a:xfrm>
                <a:off x="6848475" y="20193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0" y="38100"/>
                    </a:lnTo>
                    <a:lnTo>
                      <a:pt x="38100" y="38100"/>
                    </a:lnTo>
                  </a:path>
                </a:pathLst>
              </a:custGeom>
              <a:noFill/>
              <a:ln w="9525">
                <a:solidFill>
                  <a:srgbClr val="0753B8"/>
                </a:solidFill>
              </a:ln>
            </p:spPr>
          </p:sp>
        </p:grpSp>
        <p:sp>
          <p:nvSpPr>
            <p:cNvPr id="119" name="TextBox 119"/>
            <p:cNvSpPr txBox="1"/>
            <p:nvPr/>
          </p:nvSpPr>
          <p:spPr>
            <a:xfrm>
              <a:off x="6424612" y="229219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内容提取、字段清洗、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6424612" y="2435066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主体对齐、格式标准化</a:t>
              </a:r>
            </a:p>
          </p:txBody>
        </p:sp>
        <p:sp>
          <p:nvSpPr>
            <p:cNvPr id="121" name="Line 121"/>
            <p:cNvSpPr/>
            <p:nvPr/>
          </p:nvSpPr>
          <p:spPr>
            <a:xfrm>
              <a:off x="6429375" y="26670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E8F1FA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6424612" y="2768441"/>
              <a:ext cx="10915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公告、附件内容提取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6424612" y="2939891"/>
              <a:ext cx="9811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字段清洗与标准化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6424612" y="3111341"/>
              <a:ext cx="8707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主体对齐与去重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6424612" y="3282791"/>
              <a:ext cx="9811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形成结构化数据集</a:t>
              </a:r>
            </a:p>
          </p:txBody>
        </p:sp>
        <p:sp>
          <p:nvSpPr>
            <p:cNvPr id="126" name="Line 126"/>
            <p:cNvSpPr/>
            <p:nvPr/>
          </p:nvSpPr>
          <p:spPr>
            <a:xfrm>
              <a:off x="7762875" y="2857500"/>
              <a:ext cx="95250" cy="1"/>
            </a:xfrm>
            <a:prstGeom prst="line">
              <a:avLst/>
            </a:prstGeom>
            <a:noFill/>
            <a:ln w="14288">
              <a:solidFill>
                <a:srgbClr val="0753B8"/>
              </a:solidFill>
              <a:tailEnd type="triangle" w="lg" len="lg"/>
            </a:ln>
          </p:spPr>
        </p:sp>
      </p:grpSp>
      <p:grpSp>
        <p:nvGrpSpPr>
          <p:cNvPr id="163" name="Group 163"/>
          <p:cNvGrpSpPr/>
          <p:nvPr/>
        </p:nvGrpSpPr>
        <p:grpSpPr>
          <a:xfrm>
            <a:off x="7872412" y="1476375"/>
            <a:ext cx="2224088" cy="2762250"/>
            <a:chOff x="7872412" y="1476375"/>
            <a:chExt cx="2224088" cy="2762250"/>
          </a:xfrm>
        </p:grpSpPr>
        <p:sp>
          <p:nvSpPr>
            <p:cNvPr id="128" name="Rectangle 128"/>
            <p:cNvSpPr/>
            <p:nvPr/>
          </p:nvSpPr>
          <p:spPr>
            <a:xfrm>
              <a:off x="7905750" y="1476375"/>
              <a:ext cx="2095500" cy="276225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9525">
              <a:solidFill>
                <a:srgbClr val="D4E4F8"/>
              </a:solidFill>
            </a:ln>
            <a:effectLst>
              <a:outerShdw blurRad="95250" dist="28575" dir="5400000" algn="ctr" rotWithShape="0">
                <a:srgbClr val="0A3E83">
                  <a:alpha val="7500"/>
                </a:srgbClr>
              </a:outerShdw>
            </a:effectLst>
          </p:spPr>
        </p:sp>
        <p:sp>
          <p:nvSpPr>
            <p:cNvPr id="129" name="Ellipse 129"/>
            <p:cNvSpPr/>
            <p:nvPr/>
          </p:nvSpPr>
          <p:spPr>
            <a:xfrm>
              <a:off x="8010525" y="1581150"/>
              <a:ext cx="266700" cy="2667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8097726" y="1648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8357616" y="1648778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规则分发与判定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8001000" y="1905000"/>
              <a:ext cx="762000" cy="171450"/>
            </a:xfrm>
            <a:prstGeom prst="roundRect">
              <a:avLst>
                <a:gd name="adj" fmla="val 22222"/>
              </a:avLst>
            </a:prstGeom>
            <a:solidFill>
              <a:srgbClr val="FFF0E5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7872412" y="1938338"/>
              <a:ext cx="10191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规则引擎（并行执行）</a:t>
              </a:r>
            </a:p>
          </p:txBody>
        </p:sp>
        <p:grpSp>
          <p:nvGrpSpPr>
            <p:cNvPr id="139" name="Group 139"/>
            <p:cNvGrpSpPr/>
            <p:nvPr/>
          </p:nvGrpSpPr>
          <p:grpSpPr>
            <a:xfrm>
              <a:off x="8001000" y="2171700"/>
              <a:ext cx="381000" cy="285750"/>
              <a:chOff x="8001000" y="2171700"/>
              <a:chExt cx="381000" cy="285750"/>
            </a:xfrm>
          </p:grpSpPr>
          <p:sp>
            <p:nvSpPr>
              <p:cNvPr id="134" name="Rectangle 134"/>
              <p:cNvSpPr/>
              <p:nvPr/>
            </p:nvSpPr>
            <p:spPr>
              <a:xfrm>
                <a:off x="8001000" y="2171700"/>
                <a:ext cx="381000" cy="285750"/>
              </a:xfrm>
              <a:prstGeom prst="roundRect">
                <a:avLst>
                  <a:gd name="adj" fmla="val 13333"/>
                </a:avLst>
              </a:prstGeom>
              <a:solidFill>
                <a:srgbClr val="E7F1FF"/>
              </a:solidFill>
              <a:ln w="9525">
                <a:solidFill>
                  <a:srgbClr val="A9C9ED"/>
                </a:solidFill>
              </a:ln>
            </p:spPr>
          </p:sp>
          <p:sp>
            <p:nvSpPr>
              <p:cNvPr id="135" name="Line 135"/>
              <p:cNvSpPr/>
              <p:nvPr/>
            </p:nvSpPr>
            <p:spPr>
              <a:xfrm>
                <a:off x="8039100" y="2228850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">
                    <a:moveTo>
                      <a:pt x="0" y="0"/>
                    </a:moveTo>
                    <a:lnTo>
                      <a:pt x="304800" y="0"/>
                    </a:lnTo>
                  </a:path>
                </a:pathLst>
              </a:custGeom>
              <a:noFill/>
              <a:ln w="9525">
                <a:solidFill>
                  <a:srgbClr val="8AAFD6"/>
                </a:solidFill>
              </a:ln>
            </p:spPr>
          </p:sp>
          <p:sp>
            <p:nvSpPr>
              <p:cNvPr id="136" name="Line 136"/>
              <p:cNvSpPr/>
              <p:nvPr/>
            </p:nvSpPr>
            <p:spPr>
              <a:xfrm>
                <a:off x="8039100" y="2286000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">
                    <a:moveTo>
                      <a:pt x="0" y="0"/>
                    </a:moveTo>
                    <a:lnTo>
                      <a:pt x="304800" y="0"/>
                    </a:lnTo>
                  </a:path>
                </a:pathLst>
              </a:custGeom>
              <a:noFill/>
              <a:ln w="9525">
                <a:solidFill>
                  <a:srgbClr val="8AAFD6"/>
                </a:solidFill>
              </a:ln>
            </p:spPr>
          </p:sp>
          <p:sp>
            <p:nvSpPr>
              <p:cNvPr id="137" name="Line 137"/>
              <p:cNvSpPr/>
              <p:nvPr/>
            </p:nvSpPr>
            <p:spPr>
              <a:xfrm>
                <a:off x="8039100" y="2343150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">
                    <a:moveTo>
                      <a:pt x="0" y="0"/>
                    </a:moveTo>
                    <a:lnTo>
                      <a:pt x="304800" y="0"/>
                    </a:lnTo>
                  </a:path>
                </a:pathLst>
              </a:custGeom>
              <a:noFill/>
              <a:ln w="9525">
                <a:solidFill>
                  <a:srgbClr val="8AAFD6"/>
                </a:solidFill>
              </a:ln>
            </p:spPr>
          </p:sp>
          <p:sp>
            <p:nvSpPr>
              <p:cNvPr id="138" name="Line 138"/>
              <p:cNvSpPr/>
              <p:nvPr/>
            </p:nvSpPr>
            <p:spPr>
              <a:xfrm>
                <a:off x="8039100" y="24003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9525">
                <a:solidFill>
                  <a:srgbClr val="8AAFD6"/>
                </a:solidFill>
              </a:ln>
            </p:spPr>
          </p:sp>
        </p:grpSp>
        <p:sp>
          <p:nvSpPr>
            <p:cNvPr id="140" name="TextBox 140"/>
            <p:cNvSpPr txBox="1"/>
            <p:nvPr/>
          </p:nvSpPr>
          <p:spPr>
            <a:xfrm>
              <a:off x="7912113" y="2498884"/>
              <a:ext cx="55877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结构化数据集</a:t>
              </a:r>
            </a:p>
          </p:txBody>
        </p:sp>
        <p:sp>
          <p:nvSpPr>
            <p:cNvPr id="141" name="Line 141"/>
            <p:cNvSpPr/>
            <p:nvPr/>
          </p:nvSpPr>
          <p:spPr>
            <a:xfrm>
              <a:off x="8572500" y="2333625"/>
              <a:ext cx="190500" cy="1"/>
            </a:xfrm>
            <a:prstGeom prst="line">
              <a:avLst/>
            </a:prstGeom>
            <a:noFill/>
            <a:ln w="9525">
              <a:solidFill>
                <a:srgbClr val="0753B8"/>
              </a:solidFill>
              <a:tailEnd type="triangle" w="lg" len="lg"/>
            </a:ln>
          </p:spPr>
        </p:sp>
        <p:grpSp>
          <p:nvGrpSpPr>
            <p:cNvPr id="145" name="Group 145"/>
            <p:cNvGrpSpPr/>
            <p:nvPr/>
          </p:nvGrpSpPr>
          <p:grpSpPr>
            <a:xfrm>
              <a:off x="8858250" y="2143125"/>
              <a:ext cx="1047750" cy="209550"/>
              <a:chOff x="8858250" y="2143125"/>
              <a:chExt cx="1047750" cy="209550"/>
            </a:xfrm>
          </p:grpSpPr>
          <p:sp>
            <p:nvSpPr>
              <p:cNvPr id="142" name="Rectangle 142"/>
              <p:cNvSpPr/>
              <p:nvPr/>
            </p:nvSpPr>
            <p:spPr>
              <a:xfrm>
                <a:off x="8858250" y="2143125"/>
                <a:ext cx="1047750" cy="209550"/>
              </a:xfrm>
              <a:prstGeom prst="roundRect">
                <a:avLst>
                  <a:gd name="adj" fmla="val 18182"/>
                </a:avLst>
              </a:prstGeom>
              <a:solidFill>
                <a:srgbClr val="E7F1FF"/>
              </a:solidFill>
              <a:ln w="9525">
                <a:solidFill>
                  <a:srgbClr val="A9C9ED"/>
                </a:solidFill>
              </a:ln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8929688" y="2203609"/>
                <a:ext cx="375691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80" dirty="0">
                    <a:solidFill>
                      <a:srgbClr val="0753B8"/>
                    </a:solidFill>
                    <a:latin typeface="Microsoft YaHei"/>
                    <a:ea typeface="Microsoft YaHei"/>
                    <a:cs typeface="Microsoft YaHei"/>
                  </a:rPr>
                  <a:t>代码规则</a:t>
                </a:r>
              </a:p>
            </p:txBody>
          </p:sp>
          <p:sp>
            <p:nvSpPr>
              <p:cNvPr id="144" name="TextBox 144"/>
              <p:cNvSpPr txBox="1"/>
              <p:nvPr/>
            </p:nvSpPr>
            <p:spPr>
              <a:xfrm>
                <a:off x="9329738" y="2211705"/>
                <a:ext cx="494157" cy="1190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dirty="0">
                    <a:solidFill>
                      <a:srgbClr val="5A6C82"/>
                    </a:solidFill>
                    <a:latin typeface="Microsoft YaHei"/>
                    <a:ea typeface="Microsoft YaHei"/>
                    <a:cs typeface="Microsoft YaHei"/>
                  </a:rPr>
                  <a:t>（逻辑校验）</a:t>
                </a:r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>
              <a:off x="8858250" y="2381250"/>
              <a:ext cx="1047750" cy="209550"/>
              <a:chOff x="8858250" y="2381250"/>
              <a:chExt cx="1047750" cy="209550"/>
            </a:xfrm>
          </p:grpSpPr>
          <p:sp>
            <p:nvSpPr>
              <p:cNvPr id="146" name="Rectangle 146"/>
              <p:cNvSpPr/>
              <p:nvPr/>
            </p:nvSpPr>
            <p:spPr>
              <a:xfrm>
                <a:off x="8858250" y="2381250"/>
                <a:ext cx="1047750" cy="209550"/>
              </a:xfrm>
              <a:prstGeom prst="roundRect">
                <a:avLst>
                  <a:gd name="adj" fmla="val 18182"/>
                </a:avLst>
              </a:prstGeom>
              <a:solidFill>
                <a:srgbClr val="E7F1FF"/>
              </a:solidFill>
              <a:ln w="9525">
                <a:solidFill>
                  <a:srgbClr val="A9C9ED"/>
                </a:solidFill>
              </a:ln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8929688" y="2441734"/>
                <a:ext cx="314203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80" dirty="0">
                    <a:solidFill>
                      <a:srgbClr val="0753B8"/>
                    </a:solidFill>
                    <a:latin typeface="Microsoft YaHei"/>
                    <a:ea typeface="Microsoft YaHei"/>
                    <a:cs typeface="Microsoft YaHei"/>
                  </a:rPr>
                  <a:t>AI 识别</a:t>
                </a: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9329738" y="2449830"/>
                <a:ext cx="494157" cy="1190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dirty="0">
                    <a:solidFill>
                      <a:srgbClr val="5A6C82"/>
                    </a:solidFill>
                    <a:latin typeface="Microsoft YaHei"/>
                    <a:ea typeface="Microsoft YaHei"/>
                    <a:cs typeface="Microsoft YaHei"/>
                  </a:rPr>
                  <a:t>（模型判定）</a:t>
                </a:r>
              </a:p>
            </p:txBody>
          </p:sp>
        </p:grpSp>
        <p:grpSp>
          <p:nvGrpSpPr>
            <p:cNvPr id="153" name="Group 153"/>
            <p:cNvGrpSpPr/>
            <p:nvPr/>
          </p:nvGrpSpPr>
          <p:grpSpPr>
            <a:xfrm>
              <a:off x="8858250" y="2619375"/>
              <a:ext cx="1175195" cy="209550"/>
              <a:chOff x="8858250" y="2619375"/>
              <a:chExt cx="1175195" cy="209550"/>
            </a:xfrm>
          </p:grpSpPr>
          <p:sp>
            <p:nvSpPr>
              <p:cNvPr id="150" name="Rectangle 150"/>
              <p:cNvSpPr/>
              <p:nvPr/>
            </p:nvSpPr>
            <p:spPr>
              <a:xfrm>
                <a:off x="8858250" y="2619375"/>
                <a:ext cx="1047750" cy="209550"/>
              </a:xfrm>
              <a:prstGeom prst="roundRect">
                <a:avLst>
                  <a:gd name="adj" fmla="val 18182"/>
                </a:avLst>
              </a:prstGeom>
              <a:solidFill>
                <a:srgbClr val="E7F1FF"/>
              </a:solidFill>
              <a:ln w="9525">
                <a:solidFill>
                  <a:srgbClr val="A9C9ED"/>
                </a:solidFill>
              </a:ln>
            </p:spPr>
          </p:sp>
          <p:sp>
            <p:nvSpPr>
              <p:cNvPr id="151" name="TextBox 151"/>
              <p:cNvSpPr txBox="1"/>
              <p:nvPr/>
            </p:nvSpPr>
            <p:spPr>
              <a:xfrm>
                <a:off x="8929688" y="2679859"/>
                <a:ext cx="558775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80" dirty="0">
                    <a:solidFill>
                      <a:srgbClr val="0753B8"/>
                    </a:solidFill>
                    <a:latin typeface="Microsoft YaHei"/>
                    <a:ea typeface="Microsoft YaHei"/>
                    <a:cs typeface="Microsoft YaHei"/>
                  </a:rPr>
                  <a:t>外部数据核验</a:t>
                </a:r>
              </a:p>
            </p:txBody>
          </p:sp>
          <p:sp>
            <p:nvSpPr>
              <p:cNvPr id="152" name="TextBox 152"/>
              <p:cNvSpPr txBox="1"/>
              <p:nvPr/>
            </p:nvSpPr>
            <p:spPr>
              <a:xfrm>
                <a:off x="9539288" y="2687955"/>
                <a:ext cx="494157" cy="1190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00" dirty="0">
                    <a:solidFill>
                      <a:srgbClr val="5A6C82"/>
                    </a:solidFill>
                    <a:latin typeface="Microsoft YaHei"/>
                    <a:ea typeface="Microsoft YaHei"/>
                    <a:cs typeface="Microsoft YaHei"/>
                  </a:rPr>
                  <a:t>（服务调用）</a:t>
                </a:r>
              </a:p>
            </p:txBody>
          </p:sp>
        </p:grpSp>
        <p:sp>
          <p:nvSpPr>
            <p:cNvPr id="154" name="Line 154"/>
            <p:cNvSpPr/>
            <p:nvPr/>
          </p:nvSpPr>
          <p:spPr>
            <a:xfrm>
              <a:off x="9382125" y="2857500"/>
              <a:ext cx="1" cy="142875"/>
            </a:xfrm>
            <a:prstGeom prst="line">
              <a:avLst/>
            </a:prstGeom>
            <a:noFill/>
            <a:ln w="9525">
              <a:solidFill>
                <a:srgbClr val="0753B8"/>
              </a:solidFill>
              <a:tailEnd type="triangle" w="lg" len="lg"/>
            </a:ln>
          </p:spPr>
        </p:sp>
        <p:sp>
          <p:nvSpPr>
            <p:cNvPr id="155" name="Rectangle 155"/>
            <p:cNvSpPr/>
            <p:nvPr/>
          </p:nvSpPr>
          <p:spPr>
            <a:xfrm>
              <a:off x="8905875" y="3028950"/>
              <a:ext cx="952500" cy="304800"/>
            </a:xfrm>
            <a:prstGeom prst="roundRect">
              <a:avLst>
                <a:gd name="adj" fmla="val 18750"/>
              </a:avLst>
            </a:prstGeom>
            <a:solidFill>
              <a:srgbClr val="FFF0E5"/>
            </a:solidFill>
            <a:ln w="9525">
              <a:solidFill>
                <a:srgbClr val="FFD4A3"/>
              </a:solidFill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9029639" y="3130391"/>
              <a:ext cx="7049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规则命中判定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7996238" y="3443288"/>
              <a:ext cx="122110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汇总命中状态、风险内容、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7996238" y="355758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原文位置与依据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7996238" y="3729038"/>
              <a:ext cx="69627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0962" indent="-80962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7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确定风险等级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7996238" y="3843338"/>
              <a:ext cx="69627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0962" indent="-80962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7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输出处置动作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7996238" y="3957638"/>
              <a:ext cx="69627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0962" indent="-80962">
                <a:buClr>
                  <a:srgbClr val="1B2638"/>
                </a:buClr>
                <a:buSzTx/>
                <a:buFontTx/>
                <a:buChar char="•"/>
              </a:pPr>
              <a:r>
                <a:rPr lang="zh-CN" sz="7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记录判断依据</a:t>
              </a:r>
            </a:p>
          </p:txBody>
        </p:sp>
        <p:sp>
          <p:nvSpPr>
            <p:cNvPr id="162" name="Line 162"/>
            <p:cNvSpPr/>
            <p:nvPr/>
          </p:nvSpPr>
          <p:spPr>
            <a:xfrm>
              <a:off x="10001250" y="2857500"/>
              <a:ext cx="95250" cy="1"/>
            </a:xfrm>
            <a:prstGeom prst="line">
              <a:avLst/>
            </a:prstGeom>
            <a:noFill/>
            <a:ln w="14288">
              <a:solidFill>
                <a:srgbClr val="0753B8"/>
              </a:solidFill>
              <a:tailEnd type="triangle" w="lg" len="lg"/>
            </a:ln>
          </p:spPr>
        </p:sp>
      </p:grpSp>
      <p:grpSp>
        <p:nvGrpSpPr>
          <p:cNvPr id="190" name="Group 190"/>
          <p:cNvGrpSpPr/>
          <p:nvPr/>
        </p:nvGrpSpPr>
        <p:grpSpPr>
          <a:xfrm>
            <a:off x="952500" y="1476375"/>
            <a:ext cx="11096625" cy="2762250"/>
            <a:chOff x="952500" y="1476375"/>
            <a:chExt cx="11096625" cy="2762250"/>
          </a:xfrm>
        </p:grpSpPr>
        <p:sp>
          <p:nvSpPr>
            <p:cNvPr id="164" name="Rectangle 164"/>
            <p:cNvSpPr/>
            <p:nvPr/>
          </p:nvSpPr>
          <p:spPr>
            <a:xfrm>
              <a:off x="10144125" y="1476375"/>
              <a:ext cx="1905000" cy="276225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D4E4F8"/>
              </a:solidFill>
            </a:ln>
            <a:effectLst>
              <a:outerShdw blurRad="95250" dist="28575" dir="5400000" algn="ctr" rotWithShape="0">
                <a:srgbClr val="0A3E83">
                  <a:alpha val="7500"/>
                </a:srgbClr>
              </a:outerShdw>
            </a:effectLst>
          </p:spPr>
        </p:sp>
        <p:sp>
          <p:nvSpPr>
            <p:cNvPr id="165" name="Ellipse 165"/>
            <p:cNvSpPr/>
            <p:nvPr/>
          </p:nvSpPr>
          <p:spPr>
            <a:xfrm>
              <a:off x="10248900" y="1581150"/>
              <a:ext cx="266700" cy="2667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10336101" y="1648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10595991" y="16487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结果返回业务</a:t>
              </a:r>
            </a:p>
          </p:txBody>
        </p:sp>
        <p:grpSp>
          <p:nvGrpSpPr>
            <p:cNvPr id="173" name="Group 173"/>
            <p:cNvGrpSpPr/>
            <p:nvPr/>
          </p:nvGrpSpPr>
          <p:grpSpPr>
            <a:xfrm>
              <a:off x="10239375" y="2000250"/>
              <a:ext cx="1714500" cy="476250"/>
              <a:chOff x="10239375" y="2000250"/>
              <a:chExt cx="1714500" cy="476250"/>
            </a:xfrm>
          </p:grpSpPr>
          <p:sp>
            <p:nvSpPr>
              <p:cNvPr id="168" name="Rectangle 168"/>
              <p:cNvSpPr/>
              <p:nvPr/>
            </p:nvSpPr>
            <p:spPr>
              <a:xfrm>
                <a:off x="10239375" y="2000250"/>
                <a:ext cx="1714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6FFED"/>
              </a:solidFill>
              <a:ln w="9525">
                <a:solidFill>
                  <a:srgbClr val="B7EB8F"/>
                </a:solidFill>
              </a:ln>
            </p:spPr>
          </p:sp>
          <p:sp>
            <p:nvSpPr>
              <p:cNvPr id="169" name="Ellipse 169"/>
              <p:cNvSpPr/>
              <p:nvPr/>
            </p:nvSpPr>
            <p:spPr>
              <a:xfrm>
                <a:off x="10315575" y="2124075"/>
                <a:ext cx="228600" cy="228600"/>
              </a:xfrm>
              <a:prstGeom prst="ellipse">
                <a:avLst/>
              </a:prstGeom>
              <a:solidFill>
                <a:srgbClr val="52C41A"/>
              </a:solidFill>
              <a:ln>
                <a:noFill/>
              </a:ln>
            </p:spPr>
          </p:sp>
          <p:sp>
            <p:nvSpPr>
              <p:cNvPr id="170" name="Freeform 170"/>
              <p:cNvSpPr/>
              <p:nvPr/>
            </p:nvSpPr>
            <p:spPr>
              <a:xfrm>
                <a:off x="10372725" y="2200275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round/>
              </a:ln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10634472" y="2104549"/>
                <a:ext cx="2869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52C41A"/>
                    </a:solidFill>
                    <a:latin typeface="Microsoft YaHei"/>
                    <a:ea typeface="Microsoft YaHei"/>
                    <a:cs typeface="Microsoft YaHei"/>
                  </a:rPr>
                  <a:t>通过</a:t>
                </a:r>
              </a:p>
            </p:txBody>
          </p:sp>
          <p:sp>
            <p:nvSpPr>
              <p:cNvPr id="172" name="TextBox 172"/>
              <p:cNvSpPr txBox="1"/>
              <p:nvPr/>
            </p:nvSpPr>
            <p:spPr>
              <a:xfrm>
                <a:off x="10634662" y="2281238"/>
                <a:ext cx="61531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5A6C82"/>
                    </a:solidFill>
                    <a:latin typeface="Microsoft YaHei"/>
                    <a:ea typeface="Microsoft YaHei"/>
                    <a:cs typeface="Microsoft YaHei"/>
                  </a:rPr>
                  <a:t>继续业务流程</a:t>
                </a:r>
              </a:p>
            </p:txBody>
          </p:sp>
        </p:grpSp>
        <p:grpSp>
          <p:nvGrpSpPr>
            <p:cNvPr id="179" name="Group 179"/>
            <p:cNvGrpSpPr/>
            <p:nvPr/>
          </p:nvGrpSpPr>
          <p:grpSpPr>
            <a:xfrm>
              <a:off x="10239375" y="2552700"/>
              <a:ext cx="1714500" cy="476250"/>
              <a:chOff x="10239375" y="2552700"/>
              <a:chExt cx="1714500" cy="476250"/>
            </a:xfrm>
          </p:grpSpPr>
          <p:sp>
            <p:nvSpPr>
              <p:cNvPr id="174" name="Rectangle 174"/>
              <p:cNvSpPr/>
              <p:nvPr/>
            </p:nvSpPr>
            <p:spPr>
              <a:xfrm>
                <a:off x="10239375" y="2552700"/>
                <a:ext cx="1714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BE6"/>
              </a:solidFill>
              <a:ln w="9525">
                <a:solidFill>
                  <a:srgbClr val="FFE58F"/>
                </a:solidFill>
              </a:ln>
            </p:spPr>
          </p:sp>
          <p:sp>
            <p:nvSpPr>
              <p:cNvPr id="175" name="Ellipse 175"/>
              <p:cNvSpPr/>
              <p:nvPr/>
            </p:nvSpPr>
            <p:spPr>
              <a:xfrm>
                <a:off x="10315575" y="2676525"/>
                <a:ext cx="228600" cy="228600"/>
              </a:xfrm>
              <a:prstGeom prst="ellipse">
                <a:avLst/>
              </a:prstGeom>
              <a:solidFill>
                <a:srgbClr val="FAAD14"/>
              </a:solidFill>
              <a:ln>
                <a:noFill/>
              </a:ln>
            </p:spPr>
          </p:sp>
          <p:sp>
            <p:nvSpPr>
              <p:cNvPr id="176" name="TextBox 176"/>
              <p:cNvSpPr txBox="1"/>
              <p:nvPr/>
            </p:nvSpPr>
            <p:spPr>
              <a:xfrm>
                <a:off x="10398336" y="2708910"/>
                <a:ext cx="630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!</a:t>
                </a:r>
              </a:p>
            </p:txBody>
          </p:sp>
          <p:sp>
            <p:nvSpPr>
              <p:cNvPr id="177" name="TextBox 177"/>
              <p:cNvSpPr txBox="1"/>
              <p:nvPr/>
            </p:nvSpPr>
            <p:spPr>
              <a:xfrm>
                <a:off x="10634472" y="2656999"/>
                <a:ext cx="64019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FAAD14"/>
                    </a:solidFill>
                    <a:latin typeface="Microsoft YaHei"/>
                    <a:ea typeface="Microsoft YaHei"/>
                    <a:cs typeface="Microsoft YaHei"/>
                  </a:rPr>
                  <a:t>提示/复核</a:t>
                </a:r>
              </a:p>
            </p:txBody>
          </p:sp>
          <p:sp>
            <p:nvSpPr>
              <p:cNvPr id="178" name="TextBox 178"/>
              <p:cNvSpPr txBox="1"/>
              <p:nvPr/>
            </p:nvSpPr>
            <p:spPr>
              <a:xfrm>
                <a:off x="10634662" y="2833688"/>
                <a:ext cx="122110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5A6C82"/>
                    </a:solidFill>
                    <a:latin typeface="Microsoft YaHei"/>
                    <a:ea typeface="Microsoft YaHei"/>
                    <a:cs typeface="Microsoft YaHei"/>
                  </a:rPr>
                  <a:t>提示风险，人工复核或确认</a:t>
                </a:r>
              </a:p>
            </p:txBody>
          </p:sp>
        </p:grpSp>
        <p:grpSp>
          <p:nvGrpSpPr>
            <p:cNvPr id="187" name="Group 187"/>
            <p:cNvGrpSpPr/>
            <p:nvPr/>
          </p:nvGrpSpPr>
          <p:grpSpPr>
            <a:xfrm>
              <a:off x="10239375" y="3105150"/>
              <a:ext cx="1714500" cy="517684"/>
              <a:chOff x="10239375" y="3105150"/>
              <a:chExt cx="1714500" cy="517684"/>
            </a:xfrm>
          </p:grpSpPr>
          <p:sp>
            <p:nvSpPr>
              <p:cNvPr id="180" name="Rectangle 180"/>
              <p:cNvSpPr/>
              <p:nvPr/>
            </p:nvSpPr>
            <p:spPr>
              <a:xfrm>
                <a:off x="10239375" y="3105150"/>
                <a:ext cx="1714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FFF1F0"/>
              </a:solidFill>
              <a:ln w="9525">
                <a:solidFill>
                  <a:srgbClr val="FFA39E"/>
                </a:solidFill>
              </a:ln>
            </p:spPr>
          </p:sp>
          <p:sp>
            <p:nvSpPr>
              <p:cNvPr id="181" name="Ellipse 181"/>
              <p:cNvSpPr/>
              <p:nvPr/>
            </p:nvSpPr>
            <p:spPr>
              <a:xfrm>
                <a:off x="10315575" y="3228975"/>
                <a:ext cx="228600" cy="228600"/>
              </a:xfrm>
              <a:prstGeom prst="ellipse">
                <a:avLst/>
              </a:prstGeom>
              <a:solidFill>
                <a:srgbClr val="F5222D"/>
              </a:solidFill>
              <a:ln>
                <a:noFill/>
              </a:ln>
            </p:spPr>
          </p:sp>
          <p:sp>
            <p:nvSpPr>
              <p:cNvPr id="182" name="Freeform 182"/>
              <p:cNvSpPr/>
              <p:nvPr/>
            </p:nvSpPr>
            <p:spPr>
              <a:xfrm>
                <a:off x="10372725" y="328612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57150" y="1143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3" name="TextBox 183"/>
              <p:cNvSpPr txBox="1"/>
              <p:nvPr/>
            </p:nvSpPr>
            <p:spPr>
              <a:xfrm>
                <a:off x="10409211" y="3300412"/>
                <a:ext cx="41329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50" b="1" dirty="0">
                    <a:solidFill>
                      <a:srgbClr val="F5222D"/>
                    </a:solidFill>
                    <a:latin typeface="Arial"/>
                    <a:ea typeface="Arial"/>
                    <a:cs typeface="Arial"/>
                  </a:rPr>
                  <a:t>!</a:t>
                </a:r>
              </a:p>
            </p:txBody>
          </p:sp>
          <p:sp>
            <p:nvSpPr>
              <p:cNvPr id="184" name="TextBox 184"/>
              <p:cNvSpPr txBox="1"/>
              <p:nvPr/>
            </p:nvSpPr>
            <p:spPr>
              <a:xfrm>
                <a:off x="10634472" y="3209449"/>
                <a:ext cx="64019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F5222D"/>
                    </a:solidFill>
                    <a:latin typeface="Microsoft YaHei"/>
                    <a:ea typeface="Microsoft YaHei"/>
                    <a:cs typeface="Microsoft YaHei"/>
                  </a:rPr>
                  <a:t>预警/拦截</a:t>
                </a:r>
              </a:p>
            </p:txBody>
          </p:sp>
          <p:sp>
            <p:nvSpPr>
              <p:cNvPr id="185" name="TextBox 185"/>
              <p:cNvSpPr txBox="1"/>
              <p:nvPr/>
            </p:nvSpPr>
            <p:spPr>
              <a:xfrm>
                <a:off x="10634662" y="3394234"/>
                <a:ext cx="1199566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80" dirty="0">
                    <a:solidFill>
                      <a:srgbClr val="5A6C82"/>
                    </a:solidFill>
                    <a:latin typeface="Microsoft YaHei"/>
                    <a:ea typeface="Microsoft YaHei"/>
                    <a:cs typeface="Microsoft YaHei"/>
                  </a:rPr>
                  <a:t>关键节点预警或拦截，修改后</a:t>
                </a:r>
              </a:p>
            </p:txBody>
          </p:sp>
          <p:sp>
            <p:nvSpPr>
              <p:cNvPr id="186" name="TextBox 186"/>
              <p:cNvSpPr txBox="1"/>
              <p:nvPr/>
            </p:nvSpPr>
            <p:spPr>
              <a:xfrm>
                <a:off x="10634662" y="3489484"/>
                <a:ext cx="650316" cy="133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80" dirty="0">
                    <a:solidFill>
                      <a:srgbClr val="5A6C82"/>
                    </a:solidFill>
                    <a:latin typeface="Microsoft YaHei"/>
                    <a:ea typeface="Microsoft YaHei"/>
                    <a:cs typeface="Microsoft YaHei"/>
                  </a:rPr>
                  <a:t>可再次提交核查</a:t>
                </a:r>
              </a:p>
            </p:txBody>
          </p:sp>
        </p:grpSp>
        <p:sp>
          <p:nvSpPr>
            <p:cNvPr id="188" name="Freeform 188"/>
            <p:cNvSpPr/>
            <p:nvPr/>
          </p:nvSpPr>
          <p:spPr>
            <a:xfrm>
              <a:off x="952500" y="2952750"/>
              <a:ext cx="10144125" cy="1047750"/>
            </a:xfrm>
            <a:custGeom>
              <a:avLst/>
              <a:gdLst/>
              <a:ahLst/>
              <a:cxnLst/>
              <a:rect l="l" t="t" r="r" b="b"/>
              <a:pathLst>
                <a:path w="10144125" h="1047750">
                  <a:moveTo>
                    <a:pt x="10144125" y="857250"/>
                  </a:moveTo>
                  <a:lnTo>
                    <a:pt x="10144125" y="1047750"/>
                  </a:lnTo>
                  <a:lnTo>
                    <a:pt x="0" y="1047750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FF6B20"/>
              </a:solidFill>
              <a:custDash>
                <a:ds d="400000" sp="266667"/>
              </a:custDash>
              <a:tailEnd type="triangle" w="lg" len="lg"/>
            </a:ln>
          </p:spPr>
        </p:sp>
        <p:sp>
          <p:nvSpPr>
            <p:cNvPr id="189" name="TextBox 189"/>
            <p:cNvSpPr txBox="1"/>
            <p:nvPr/>
          </p:nvSpPr>
          <p:spPr>
            <a:xfrm>
              <a:off x="10282238" y="3880009"/>
              <a:ext cx="14879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拦截或需修改 → 修改后重新上报核查</a:t>
              </a:r>
            </a:p>
          </p:txBody>
        </p:sp>
      </p:grpSp>
      <p:grpSp>
        <p:nvGrpSpPr>
          <p:cNvPr id="311" name="Group 311"/>
          <p:cNvGrpSpPr/>
          <p:nvPr/>
        </p:nvGrpSpPr>
        <p:grpSpPr>
          <a:xfrm>
            <a:off x="190500" y="4381500"/>
            <a:ext cx="11811000" cy="2190750"/>
            <a:chOff x="190500" y="4381500"/>
            <a:chExt cx="11811000" cy="2190750"/>
          </a:xfrm>
        </p:grpSpPr>
        <p:sp>
          <p:nvSpPr>
            <p:cNvPr id="191" name="Rectangle 191"/>
            <p:cNvSpPr/>
            <p:nvPr/>
          </p:nvSpPr>
          <p:spPr>
            <a:xfrm>
              <a:off x="190500" y="4381500"/>
              <a:ext cx="1905000" cy="2190750"/>
            </a:xfrm>
            <a:prstGeom prst="roundRect">
              <a:avLst>
                <a:gd name="adj" fmla="val 6000"/>
              </a:avLst>
            </a:prstGeom>
            <a:solidFill>
              <a:srgbClr val="E8F1FA"/>
            </a:solidFill>
            <a:ln w="9525">
              <a:solidFill>
                <a:srgbClr val="D4E4F8"/>
              </a:solidFill>
            </a:ln>
          </p:spPr>
        </p:sp>
        <p:grpSp>
          <p:nvGrpSpPr>
            <p:cNvPr id="199" name="Group 199"/>
            <p:cNvGrpSpPr/>
            <p:nvPr/>
          </p:nvGrpSpPr>
          <p:grpSpPr>
            <a:xfrm>
              <a:off x="762000" y="4667250"/>
              <a:ext cx="476250" cy="571500"/>
              <a:chOff x="762000" y="4667250"/>
              <a:chExt cx="476250" cy="571500"/>
            </a:xfrm>
          </p:grpSpPr>
          <p:sp>
            <p:nvSpPr>
              <p:cNvPr id="192" name="Rectangle 192"/>
              <p:cNvSpPr/>
              <p:nvPr/>
            </p:nvSpPr>
            <p:spPr>
              <a:xfrm>
                <a:off x="762000" y="4667250"/>
                <a:ext cx="476250" cy="571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19050">
                <a:solidFill>
                  <a:srgbClr val="0753B8"/>
                </a:solidFill>
              </a:ln>
            </p:spPr>
          </p:sp>
          <p:sp>
            <p:nvSpPr>
              <p:cNvPr id="193" name="Line 193"/>
              <p:cNvSpPr/>
              <p:nvPr/>
            </p:nvSpPr>
            <p:spPr>
              <a:xfrm>
                <a:off x="857250" y="4810125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0753B8"/>
                </a:solidFill>
              </a:ln>
            </p:spPr>
          </p:sp>
          <p:sp>
            <p:nvSpPr>
              <p:cNvPr id="194" name="Line 194"/>
              <p:cNvSpPr/>
              <p:nvPr/>
            </p:nvSpPr>
            <p:spPr>
              <a:xfrm>
                <a:off x="857250" y="4905375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0753B8"/>
                </a:solidFill>
              </a:ln>
            </p:spPr>
          </p:sp>
          <p:sp>
            <p:nvSpPr>
              <p:cNvPr id="195" name="Line 195"/>
              <p:cNvSpPr/>
              <p:nvPr/>
            </p:nvSpPr>
            <p:spPr>
              <a:xfrm>
                <a:off x="857250" y="5000625"/>
                <a:ext cx="238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9525">
                    <a:moveTo>
                      <a:pt x="0" y="0"/>
                    </a:moveTo>
                    <a:lnTo>
                      <a:pt x="238125" y="0"/>
                    </a:lnTo>
                  </a:path>
                </a:pathLst>
              </a:custGeom>
              <a:noFill/>
              <a:ln w="19050">
                <a:solidFill>
                  <a:srgbClr val="0753B8"/>
                </a:solidFill>
              </a:ln>
            </p:spPr>
          </p:sp>
          <p:sp>
            <p:nvSpPr>
              <p:cNvPr id="196" name="Line 196"/>
              <p:cNvSpPr/>
              <p:nvPr/>
            </p:nvSpPr>
            <p:spPr>
              <a:xfrm>
                <a:off x="857250" y="5095875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0753B8"/>
                </a:solidFill>
              </a:ln>
            </p:spPr>
          </p:sp>
          <p:sp>
            <p:nvSpPr>
              <p:cNvPr id="197" name="Ellipse 197"/>
              <p:cNvSpPr/>
              <p:nvPr/>
            </p:nvSpPr>
            <p:spPr>
              <a:xfrm>
                <a:off x="1047750" y="5048250"/>
                <a:ext cx="190500" cy="190500"/>
              </a:xfrm>
              <a:prstGeom prst="ellipse">
                <a:avLst/>
              </a:prstGeom>
              <a:solidFill>
                <a:srgbClr val="0753B8"/>
              </a:solidFill>
              <a:ln>
                <a:noFill/>
              </a:ln>
            </p:spPr>
          </p:sp>
          <p:sp>
            <p:nvSpPr>
              <p:cNvPr id="198" name="Freeform 198"/>
              <p:cNvSpPr/>
              <p:nvPr/>
            </p:nvSpPr>
            <p:spPr>
              <a:xfrm>
                <a:off x="1104900" y="5124450"/>
                <a:ext cx="952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57150">
                    <a:moveTo>
                      <a:pt x="0" y="19050"/>
                    </a:moveTo>
                    <a:lnTo>
                      <a:pt x="38100" y="5715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 cap="rnd">
                <a:solidFill>
                  <a:srgbClr val="FFFFFF"/>
                </a:solidFill>
              </a:ln>
            </p:spPr>
          </p:sp>
        </p:grpSp>
        <p:sp>
          <p:nvSpPr>
            <p:cNvPr id="200" name="TextBox 200"/>
            <p:cNvSpPr txBox="1"/>
            <p:nvPr/>
          </p:nvSpPr>
          <p:spPr>
            <a:xfrm>
              <a:off x="628040" y="52997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典型场景示例</a:t>
              </a:r>
            </a:p>
          </p:txBody>
        </p:sp>
        <p:sp>
          <p:nvSpPr>
            <p:cNvPr id="201" name="TextBox 201"/>
            <p:cNvSpPr txBox="1"/>
            <p:nvPr/>
          </p:nvSpPr>
          <p:spPr>
            <a:xfrm>
              <a:off x="578016" y="5530691"/>
              <a:ext cx="1129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（上报数据 → 代表规则</a:t>
              </a:r>
            </a:p>
          </p:txBody>
        </p:sp>
        <p:sp>
          <p:nvSpPr>
            <p:cNvPr id="202" name="TextBox 202"/>
            <p:cNvSpPr txBox="1"/>
            <p:nvPr/>
          </p:nvSpPr>
          <p:spPr>
            <a:xfrm>
              <a:off x="815351" y="5673566"/>
              <a:ext cx="655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→ 输出动作）</a:t>
              </a:r>
            </a:p>
          </p:txBody>
        </p:sp>
        <p:grpSp>
          <p:nvGrpSpPr>
            <p:cNvPr id="256" name="Group 256"/>
            <p:cNvGrpSpPr/>
            <p:nvPr/>
          </p:nvGrpSpPr>
          <p:grpSpPr>
            <a:xfrm>
              <a:off x="2286000" y="4381500"/>
              <a:ext cx="4762500" cy="2190750"/>
              <a:chOff x="2286000" y="4381500"/>
              <a:chExt cx="4762500" cy="2190750"/>
            </a:xfrm>
          </p:grpSpPr>
          <p:sp>
            <p:nvSpPr>
              <p:cNvPr id="203" name="Rectangle 203"/>
              <p:cNvSpPr/>
              <p:nvPr/>
            </p:nvSpPr>
            <p:spPr>
              <a:xfrm>
                <a:off x="2286000" y="4381500"/>
                <a:ext cx="4762500" cy="2190750"/>
              </a:xfrm>
              <a:prstGeom prst="roundRect">
                <a:avLst>
                  <a:gd name="adj" fmla="val 5217"/>
                </a:avLst>
              </a:prstGeom>
              <a:solidFill>
                <a:srgbClr val="FFFFFF"/>
              </a:solidFill>
              <a:ln w="9525">
                <a:solidFill>
                  <a:srgbClr val="D4E4F8"/>
                </a:solidFill>
              </a:ln>
              <a:effectLst>
                <a:outerShdw blurRad="95250" dist="28575" dir="5400000" algn="ctr" rotWithShape="0">
                  <a:srgbClr val="0A3E83">
                    <a:alpha val="7500"/>
                  </a:srgbClr>
                </a:outerShdw>
              </a:effectLst>
            </p:spPr>
          </p:sp>
          <p:sp>
            <p:nvSpPr>
              <p:cNvPr id="204" name="Rectangle 204"/>
              <p:cNvSpPr/>
              <p:nvPr/>
            </p:nvSpPr>
            <p:spPr>
              <a:xfrm>
                <a:off x="2286000" y="4381500"/>
                <a:ext cx="4762500" cy="342900"/>
              </a:xfrm>
              <a:prstGeom prst="roundRect">
                <a:avLst>
                  <a:gd name="adj" fmla="val 33333"/>
                </a:avLst>
              </a:prstGeom>
              <a:solidFill>
                <a:srgbClr val="0753B8"/>
              </a:solidFill>
              <a:ln>
                <a:noFill/>
              </a:ln>
            </p:spPr>
          </p:sp>
          <p:sp>
            <p:nvSpPr>
              <p:cNvPr id="205" name="TextBox 205"/>
              <p:cNvSpPr txBox="1"/>
              <p:nvPr/>
            </p:nvSpPr>
            <p:spPr>
              <a:xfrm>
                <a:off x="2471166" y="4496752"/>
                <a:ext cx="16432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场景一：公告发布审批前</a:t>
                </a:r>
              </a:p>
            </p:txBody>
          </p:sp>
          <p:sp>
            <p:nvSpPr>
              <p:cNvPr id="206" name="TextBox 206"/>
              <p:cNvSpPr txBox="1"/>
              <p:nvPr/>
            </p:nvSpPr>
            <p:spPr>
              <a:xfrm>
                <a:off x="2645931" y="4874895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5A6C82"/>
                    </a:solidFill>
                    <a:latin typeface="Microsoft YaHei"/>
                    <a:ea typeface="Microsoft YaHei"/>
                    <a:cs typeface="Microsoft YaHei"/>
                  </a:rPr>
                  <a:t>上报数据</a:t>
                </a:r>
              </a:p>
            </p:txBody>
          </p:sp>
          <p:grpSp>
            <p:nvGrpSpPr>
              <p:cNvPr id="209" name="Group 209"/>
              <p:cNvGrpSpPr/>
              <p:nvPr/>
            </p:nvGrpSpPr>
            <p:grpSpPr>
              <a:xfrm>
                <a:off x="2476500" y="5095875"/>
                <a:ext cx="857250" cy="266700"/>
                <a:chOff x="2476500" y="5095875"/>
                <a:chExt cx="857250" cy="266700"/>
              </a:xfrm>
            </p:grpSpPr>
            <p:sp>
              <p:nvSpPr>
                <p:cNvPr id="207" name="Rectangle 207"/>
                <p:cNvSpPr/>
                <p:nvPr/>
              </p:nvSpPr>
              <p:spPr>
                <a:xfrm>
                  <a:off x="2476500" y="5095875"/>
                  <a:ext cx="857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4F8FD"/>
                </a:solidFill>
                <a:ln w="9525">
                  <a:solidFill>
                    <a:srgbClr val="D4E4F8"/>
                  </a:solidFill>
                </a:ln>
              </p:spPr>
            </p:sp>
            <p:sp>
              <p:nvSpPr>
                <p:cNvPr id="208" name="TextBox 208"/>
                <p:cNvSpPr txBox="1"/>
                <p:nvPr/>
              </p:nvSpPr>
              <p:spPr>
                <a:xfrm>
                  <a:off x="2647950" y="5186362"/>
                  <a:ext cx="51435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公告及附件</a:t>
                  </a:r>
                </a:p>
              </p:txBody>
            </p:sp>
          </p:grpSp>
          <p:grpSp>
            <p:nvGrpSpPr>
              <p:cNvPr id="212" name="Group 212"/>
              <p:cNvGrpSpPr/>
              <p:nvPr/>
            </p:nvGrpSpPr>
            <p:grpSpPr>
              <a:xfrm>
                <a:off x="2476500" y="5410200"/>
                <a:ext cx="857250" cy="266700"/>
                <a:chOff x="2476500" y="5410200"/>
                <a:chExt cx="857250" cy="266700"/>
              </a:xfrm>
            </p:grpSpPr>
            <p:sp>
              <p:nvSpPr>
                <p:cNvPr id="210" name="Rectangle 210"/>
                <p:cNvSpPr/>
                <p:nvPr/>
              </p:nvSpPr>
              <p:spPr>
                <a:xfrm>
                  <a:off x="2476500" y="5410200"/>
                  <a:ext cx="857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4F8FD"/>
                </a:solidFill>
                <a:ln w="9525">
                  <a:solidFill>
                    <a:srgbClr val="D4E4F8"/>
                  </a:solidFill>
                </a:ln>
              </p:spPr>
            </p:sp>
            <p:sp>
              <p:nvSpPr>
                <p:cNvPr id="211" name="TextBox 211"/>
                <p:cNvSpPr txBox="1"/>
                <p:nvPr/>
              </p:nvSpPr>
              <p:spPr>
                <a:xfrm>
                  <a:off x="2546985" y="5500688"/>
                  <a:ext cx="71628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采购与报价设置</a:t>
                  </a:r>
                </a:p>
              </p:txBody>
            </p:sp>
          </p:grpSp>
          <p:grpSp>
            <p:nvGrpSpPr>
              <p:cNvPr id="215" name="Group 215"/>
              <p:cNvGrpSpPr/>
              <p:nvPr/>
            </p:nvGrpSpPr>
            <p:grpSpPr>
              <a:xfrm>
                <a:off x="2476500" y="5724525"/>
                <a:ext cx="857250" cy="266700"/>
                <a:chOff x="2476500" y="5724525"/>
                <a:chExt cx="857250" cy="266700"/>
              </a:xfrm>
            </p:grpSpPr>
            <p:sp>
              <p:nvSpPr>
                <p:cNvPr id="213" name="Rectangle 213"/>
                <p:cNvSpPr/>
                <p:nvPr/>
              </p:nvSpPr>
              <p:spPr>
                <a:xfrm>
                  <a:off x="2476500" y="5724525"/>
                  <a:ext cx="857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4F8FD"/>
                </a:solidFill>
                <a:ln w="9525">
                  <a:solidFill>
                    <a:srgbClr val="D4E4F8"/>
                  </a:solidFill>
                </a:ln>
              </p:spPr>
            </p:sp>
            <p:sp>
              <p:nvSpPr>
                <p:cNvPr id="214" name="TextBox 214"/>
                <p:cNvSpPr txBox="1"/>
                <p:nvPr/>
              </p:nvSpPr>
              <p:spPr>
                <a:xfrm>
                  <a:off x="2546985" y="5815012"/>
                  <a:ext cx="71628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评审与交易数据</a:t>
                  </a:r>
                </a:p>
              </p:txBody>
            </p:sp>
          </p:grpSp>
          <p:grpSp>
            <p:nvGrpSpPr>
              <p:cNvPr id="218" name="Group 218"/>
              <p:cNvGrpSpPr/>
              <p:nvPr/>
            </p:nvGrpSpPr>
            <p:grpSpPr>
              <a:xfrm>
                <a:off x="2476500" y="6038850"/>
                <a:ext cx="857250" cy="266700"/>
                <a:chOff x="2476500" y="6038850"/>
                <a:chExt cx="857250" cy="266700"/>
              </a:xfrm>
            </p:grpSpPr>
            <p:sp>
              <p:nvSpPr>
                <p:cNvPr id="216" name="Rectangle 216"/>
                <p:cNvSpPr/>
                <p:nvPr/>
              </p:nvSpPr>
              <p:spPr>
                <a:xfrm>
                  <a:off x="2476500" y="6038850"/>
                  <a:ext cx="857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4F8FD"/>
                </a:solidFill>
                <a:ln w="9525">
                  <a:solidFill>
                    <a:srgbClr val="D4E4F8"/>
                  </a:solidFill>
                </a:ln>
              </p:spPr>
            </p:sp>
            <p:sp>
              <p:nvSpPr>
                <p:cNvPr id="217" name="TextBox 217"/>
                <p:cNvSpPr txBox="1"/>
                <p:nvPr/>
              </p:nvSpPr>
              <p:spPr>
                <a:xfrm>
                  <a:off x="2597468" y="6129338"/>
                  <a:ext cx="61531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其他相关材料</a:t>
                  </a:r>
                </a:p>
              </p:txBody>
            </p:sp>
          </p:grpSp>
          <p:sp>
            <p:nvSpPr>
              <p:cNvPr id="219" name="Line 219"/>
              <p:cNvSpPr/>
              <p:nvPr/>
            </p:nvSpPr>
            <p:spPr>
              <a:xfrm>
                <a:off x="3476625" y="5619750"/>
                <a:ext cx="238125" cy="1"/>
              </a:xfrm>
              <a:prstGeom prst="line">
                <a:avLst/>
              </a:prstGeom>
              <a:noFill/>
              <a:ln w="14288">
                <a:solidFill>
                  <a:srgbClr val="0753B8"/>
                </a:solidFill>
                <a:tailEnd type="triangle" w="lg" len="lg"/>
              </a:ln>
            </p:spPr>
          </p:sp>
          <p:sp>
            <p:nvSpPr>
              <p:cNvPr id="220" name="TextBox 220"/>
              <p:cNvSpPr txBox="1"/>
              <p:nvPr/>
            </p:nvSpPr>
            <p:spPr>
              <a:xfrm>
                <a:off x="4550931" y="4874895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5A6C82"/>
                    </a:solidFill>
                    <a:latin typeface="Microsoft YaHei"/>
                    <a:ea typeface="Microsoft YaHei"/>
                    <a:cs typeface="Microsoft YaHei"/>
                  </a:rPr>
                  <a:t>代表规则</a:t>
                </a:r>
              </a:p>
            </p:txBody>
          </p:sp>
          <p:grpSp>
            <p:nvGrpSpPr>
              <p:cNvPr id="225" name="Group 225"/>
              <p:cNvGrpSpPr/>
              <p:nvPr/>
            </p:nvGrpSpPr>
            <p:grpSpPr>
              <a:xfrm>
                <a:off x="4000500" y="5095875"/>
                <a:ext cx="1619250" cy="266700"/>
                <a:chOff x="4000500" y="5095875"/>
                <a:chExt cx="1619250" cy="266700"/>
              </a:xfrm>
            </p:grpSpPr>
            <p:sp>
              <p:nvSpPr>
                <p:cNvPr id="221" name="Rectangle 221"/>
                <p:cNvSpPr/>
                <p:nvPr/>
              </p:nvSpPr>
              <p:spPr>
                <a:xfrm>
                  <a:off x="4000500" y="5095875"/>
                  <a:ext cx="1619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FF0E5"/>
                </a:solidFill>
                <a:ln w="9525">
                  <a:solidFill>
                    <a:srgbClr val="FFD4A3"/>
                  </a:solidFill>
                </a:ln>
              </p:spPr>
            </p:sp>
            <p:sp>
              <p:nvSpPr>
                <p:cNvPr id="222" name="Ellipse 222"/>
                <p:cNvSpPr/>
                <p:nvPr/>
              </p:nvSpPr>
              <p:spPr>
                <a:xfrm>
                  <a:off x="4076700" y="5172075"/>
                  <a:ext cx="114300" cy="114300"/>
                </a:xfrm>
                <a:prstGeom prst="ellipse">
                  <a:avLst/>
                </a:prstGeom>
                <a:solidFill>
                  <a:srgbClr val="FF6B20"/>
                </a:solidFill>
                <a:ln>
                  <a:noFill/>
                </a:ln>
              </p:spPr>
            </p:sp>
            <p:sp>
              <p:nvSpPr>
                <p:cNvPr id="223" name="Freeform 223"/>
                <p:cNvSpPr/>
                <p:nvPr/>
              </p:nvSpPr>
              <p:spPr>
                <a:xfrm>
                  <a:off x="4105275" y="52101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4288" cap="rnd">
                  <a:solidFill>
                    <a:srgbClr val="FFFFFF"/>
                  </a:solidFill>
                </a:ln>
              </p:spPr>
            </p:sp>
            <p:sp>
              <p:nvSpPr>
                <p:cNvPr id="224" name="TextBox 224"/>
                <p:cNvSpPr txBox="1"/>
                <p:nvPr/>
              </p:nvSpPr>
              <p:spPr>
                <a:xfrm>
                  <a:off x="4262438" y="5186362"/>
                  <a:ext cx="71628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排斥性条款检查</a:t>
                  </a:r>
                </a:p>
              </p:txBody>
            </p:sp>
          </p:grpSp>
          <p:grpSp>
            <p:nvGrpSpPr>
              <p:cNvPr id="230" name="Group 230"/>
              <p:cNvGrpSpPr/>
              <p:nvPr/>
            </p:nvGrpSpPr>
            <p:grpSpPr>
              <a:xfrm>
                <a:off x="4000500" y="5410200"/>
                <a:ext cx="1619250" cy="266700"/>
                <a:chOff x="4000500" y="5410200"/>
                <a:chExt cx="1619250" cy="266700"/>
              </a:xfrm>
            </p:grpSpPr>
            <p:sp>
              <p:nvSpPr>
                <p:cNvPr id="226" name="Rectangle 226"/>
                <p:cNvSpPr/>
                <p:nvPr/>
              </p:nvSpPr>
              <p:spPr>
                <a:xfrm>
                  <a:off x="4000500" y="5410200"/>
                  <a:ext cx="1619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FF0E5"/>
                </a:solidFill>
                <a:ln w="9525">
                  <a:solidFill>
                    <a:srgbClr val="FFD4A3"/>
                  </a:solidFill>
                </a:ln>
              </p:spPr>
            </p:sp>
            <p:sp>
              <p:nvSpPr>
                <p:cNvPr id="227" name="Ellipse 227"/>
                <p:cNvSpPr/>
                <p:nvPr/>
              </p:nvSpPr>
              <p:spPr>
                <a:xfrm>
                  <a:off x="4076700" y="5486400"/>
                  <a:ext cx="114300" cy="114300"/>
                </a:xfrm>
                <a:prstGeom prst="ellipse">
                  <a:avLst/>
                </a:prstGeom>
                <a:solidFill>
                  <a:srgbClr val="FF6B20"/>
                </a:solidFill>
                <a:ln>
                  <a:noFill/>
                </a:ln>
              </p:spPr>
            </p:sp>
            <p:sp>
              <p:nvSpPr>
                <p:cNvPr id="228" name="Freeform 228"/>
                <p:cNvSpPr/>
                <p:nvPr/>
              </p:nvSpPr>
              <p:spPr>
                <a:xfrm>
                  <a:off x="4105275" y="552450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4288" cap="rnd">
                  <a:solidFill>
                    <a:srgbClr val="FFFFFF"/>
                  </a:solidFill>
                </a:ln>
              </p:spPr>
            </p:sp>
            <p:sp>
              <p:nvSpPr>
                <p:cNvPr id="229" name="TextBox 229"/>
                <p:cNvSpPr txBox="1"/>
                <p:nvPr/>
              </p:nvSpPr>
              <p:spPr>
                <a:xfrm>
                  <a:off x="4262438" y="5500688"/>
                  <a:ext cx="91821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报价轮次与设置检查</a:t>
                  </a:r>
                </a:p>
              </p:txBody>
            </p:sp>
          </p:grpSp>
          <p:grpSp>
            <p:nvGrpSpPr>
              <p:cNvPr id="235" name="Group 235"/>
              <p:cNvGrpSpPr/>
              <p:nvPr/>
            </p:nvGrpSpPr>
            <p:grpSpPr>
              <a:xfrm>
                <a:off x="4000500" y="5724525"/>
                <a:ext cx="1619250" cy="266700"/>
                <a:chOff x="4000500" y="5724525"/>
                <a:chExt cx="1619250" cy="266700"/>
              </a:xfrm>
            </p:grpSpPr>
            <p:sp>
              <p:nvSpPr>
                <p:cNvPr id="231" name="Rectangle 231"/>
                <p:cNvSpPr/>
                <p:nvPr/>
              </p:nvSpPr>
              <p:spPr>
                <a:xfrm>
                  <a:off x="4000500" y="5724525"/>
                  <a:ext cx="1619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FF0E5"/>
                </a:solidFill>
                <a:ln w="9525">
                  <a:solidFill>
                    <a:srgbClr val="FFD4A3"/>
                  </a:solidFill>
                </a:ln>
              </p:spPr>
            </p:sp>
            <p:sp>
              <p:nvSpPr>
                <p:cNvPr id="232" name="Ellipse 232"/>
                <p:cNvSpPr/>
                <p:nvPr/>
              </p:nvSpPr>
              <p:spPr>
                <a:xfrm>
                  <a:off x="4076700" y="5800725"/>
                  <a:ext cx="114300" cy="114300"/>
                </a:xfrm>
                <a:prstGeom prst="ellipse">
                  <a:avLst/>
                </a:prstGeom>
                <a:solidFill>
                  <a:srgbClr val="FF6B20"/>
                </a:solidFill>
                <a:ln>
                  <a:noFill/>
                </a:ln>
              </p:spPr>
            </p:sp>
            <p:sp>
              <p:nvSpPr>
                <p:cNvPr id="233" name="Freeform 233"/>
                <p:cNvSpPr/>
                <p:nvPr/>
              </p:nvSpPr>
              <p:spPr>
                <a:xfrm>
                  <a:off x="4105275" y="583882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4288" cap="rnd">
                  <a:solidFill>
                    <a:srgbClr val="FFFFFF"/>
                  </a:solidFill>
                </a:ln>
              </p:spPr>
            </p:sp>
            <p:sp>
              <p:nvSpPr>
                <p:cNvPr id="234" name="TextBox 234"/>
                <p:cNvSpPr txBox="1"/>
                <p:nvPr/>
              </p:nvSpPr>
              <p:spPr>
                <a:xfrm>
                  <a:off x="4262438" y="5815012"/>
                  <a:ext cx="71628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文件完整性检查</a:t>
                  </a:r>
                </a:p>
              </p:txBody>
            </p:sp>
          </p:grpSp>
          <p:grpSp>
            <p:nvGrpSpPr>
              <p:cNvPr id="240" name="Group 240"/>
              <p:cNvGrpSpPr/>
              <p:nvPr/>
            </p:nvGrpSpPr>
            <p:grpSpPr>
              <a:xfrm>
                <a:off x="4000500" y="6038850"/>
                <a:ext cx="1619250" cy="266700"/>
                <a:chOff x="4000500" y="6038850"/>
                <a:chExt cx="1619250" cy="266700"/>
              </a:xfrm>
            </p:grpSpPr>
            <p:sp>
              <p:nvSpPr>
                <p:cNvPr id="236" name="Rectangle 236"/>
                <p:cNvSpPr/>
                <p:nvPr/>
              </p:nvSpPr>
              <p:spPr>
                <a:xfrm>
                  <a:off x="4000500" y="6038850"/>
                  <a:ext cx="1619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FF0E5"/>
                </a:solidFill>
                <a:ln w="9525">
                  <a:solidFill>
                    <a:srgbClr val="FFD4A3"/>
                  </a:solidFill>
                </a:ln>
              </p:spPr>
            </p:sp>
            <p:sp>
              <p:nvSpPr>
                <p:cNvPr id="237" name="Ellipse 237"/>
                <p:cNvSpPr/>
                <p:nvPr/>
              </p:nvSpPr>
              <p:spPr>
                <a:xfrm>
                  <a:off x="4076700" y="6115050"/>
                  <a:ext cx="114300" cy="114300"/>
                </a:xfrm>
                <a:prstGeom prst="ellipse">
                  <a:avLst/>
                </a:prstGeom>
                <a:solidFill>
                  <a:srgbClr val="FF6B20"/>
                </a:solidFill>
                <a:ln>
                  <a:noFill/>
                </a:ln>
              </p:spPr>
            </p:sp>
            <p:sp>
              <p:nvSpPr>
                <p:cNvPr id="238" name="Freeform 238"/>
                <p:cNvSpPr/>
                <p:nvPr/>
              </p:nvSpPr>
              <p:spPr>
                <a:xfrm>
                  <a:off x="4105275" y="615315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4288" cap="rnd">
                  <a:solidFill>
                    <a:srgbClr val="FFFFFF"/>
                  </a:solidFill>
                </a:ln>
              </p:spPr>
            </p:sp>
            <p:sp>
              <p:nvSpPr>
                <p:cNvPr id="239" name="TextBox 239"/>
                <p:cNvSpPr txBox="1"/>
                <p:nvPr/>
              </p:nvSpPr>
              <p:spPr>
                <a:xfrm>
                  <a:off x="4262438" y="6129338"/>
                  <a:ext cx="91821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合规条款符合性检查</a:t>
                  </a:r>
                </a:p>
              </p:txBody>
            </p:sp>
          </p:grpSp>
          <p:sp>
            <p:nvSpPr>
              <p:cNvPr id="241" name="Line 241"/>
              <p:cNvSpPr/>
              <p:nvPr/>
            </p:nvSpPr>
            <p:spPr>
              <a:xfrm>
                <a:off x="5762625" y="5619750"/>
                <a:ext cx="238125" cy="1"/>
              </a:xfrm>
              <a:prstGeom prst="line">
                <a:avLst/>
              </a:prstGeom>
              <a:noFill/>
              <a:ln w="14288">
                <a:solidFill>
                  <a:srgbClr val="0753B8"/>
                </a:solidFill>
                <a:tailEnd type="triangle" w="lg" len="lg"/>
              </a:ln>
            </p:spPr>
          </p:sp>
          <p:sp>
            <p:nvSpPr>
              <p:cNvPr id="242" name="TextBox 242"/>
              <p:cNvSpPr txBox="1"/>
              <p:nvPr/>
            </p:nvSpPr>
            <p:spPr>
              <a:xfrm>
                <a:off x="6265431" y="4874895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5A6C82"/>
                    </a:solidFill>
                    <a:latin typeface="Microsoft YaHei"/>
                    <a:ea typeface="Microsoft YaHei"/>
                    <a:cs typeface="Microsoft YaHei"/>
                  </a:rPr>
                  <a:t>输出动作</a:t>
                </a:r>
              </a:p>
            </p:txBody>
          </p:sp>
          <p:grpSp>
            <p:nvGrpSpPr>
              <p:cNvPr id="246" name="Group 246"/>
              <p:cNvGrpSpPr/>
              <p:nvPr/>
            </p:nvGrpSpPr>
            <p:grpSpPr>
              <a:xfrm>
                <a:off x="6191250" y="5191125"/>
                <a:ext cx="541379" cy="228600"/>
                <a:chOff x="6191250" y="5191125"/>
                <a:chExt cx="541379" cy="228600"/>
              </a:xfrm>
            </p:grpSpPr>
            <p:sp>
              <p:nvSpPr>
                <p:cNvPr id="243" name="Ellipse 243"/>
                <p:cNvSpPr/>
                <p:nvPr/>
              </p:nvSpPr>
              <p:spPr>
                <a:xfrm>
                  <a:off x="6191250" y="5191125"/>
                  <a:ext cx="228600" cy="228600"/>
                </a:xfrm>
                <a:prstGeom prst="ellipse">
                  <a:avLst/>
                </a:prstGeom>
                <a:solidFill>
                  <a:srgbClr val="52C41A"/>
                </a:solidFill>
                <a:ln>
                  <a:noFill/>
                </a:ln>
              </p:spPr>
            </p:sp>
            <p:sp>
              <p:nvSpPr>
                <p:cNvPr id="244" name="Freeform 244"/>
                <p:cNvSpPr/>
                <p:nvPr/>
              </p:nvSpPr>
              <p:spPr>
                <a:xfrm>
                  <a:off x="6257925" y="5267325"/>
                  <a:ext cx="952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6675">
                      <a:moveTo>
                        <a:pt x="0" y="38100"/>
                      </a:moveTo>
                      <a:lnTo>
                        <a:pt x="28575" y="66675"/>
                      </a:lnTo>
                      <a:lnTo>
                        <a:pt x="95250" y="0"/>
                      </a:lnTo>
                    </a:path>
                  </a:pathLst>
                </a:custGeom>
                <a:noFill/>
                <a:ln w="19050" cap="rnd">
                  <a:solidFill>
                    <a:srgbClr val="FFFFFF"/>
                  </a:solidFill>
                </a:ln>
              </p:spPr>
            </p:sp>
            <p:sp>
              <p:nvSpPr>
                <p:cNvPr id="245" name="TextBox 245"/>
                <p:cNvSpPr txBox="1"/>
                <p:nvPr/>
              </p:nvSpPr>
              <p:spPr>
                <a:xfrm>
                  <a:off x="6491288" y="5254466"/>
                  <a:ext cx="241341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b="1" dirty="0">
                      <a:solidFill>
                        <a:srgbClr val="52C41A"/>
                      </a:solidFill>
                      <a:latin typeface="Microsoft YaHei"/>
                      <a:ea typeface="Microsoft YaHei"/>
                      <a:cs typeface="Microsoft YaHei"/>
                    </a:rPr>
                    <a:t>通过</a:t>
                  </a:r>
                </a:p>
              </p:txBody>
            </p:sp>
          </p:grpSp>
          <p:grpSp>
            <p:nvGrpSpPr>
              <p:cNvPr id="250" name="Group 250"/>
              <p:cNvGrpSpPr/>
              <p:nvPr/>
            </p:nvGrpSpPr>
            <p:grpSpPr>
              <a:xfrm>
                <a:off x="6191250" y="5476875"/>
                <a:ext cx="836944" cy="253936"/>
                <a:chOff x="6191250" y="5476875"/>
                <a:chExt cx="836944" cy="253936"/>
              </a:xfrm>
            </p:grpSpPr>
            <p:sp>
              <p:nvSpPr>
                <p:cNvPr id="247" name="Ellipse 247"/>
                <p:cNvSpPr/>
                <p:nvPr/>
              </p:nvSpPr>
              <p:spPr>
                <a:xfrm>
                  <a:off x="6191250" y="5476875"/>
                  <a:ext cx="228600" cy="228600"/>
                </a:xfrm>
                <a:prstGeom prst="ellipse">
                  <a:avLst/>
                </a:prstGeom>
                <a:solidFill>
                  <a:srgbClr val="FAAD14"/>
                </a:solidFill>
                <a:ln>
                  <a:noFill/>
                </a:ln>
              </p:spPr>
            </p:sp>
            <p:sp>
              <p:nvSpPr>
                <p:cNvPr id="248" name="TextBox 248"/>
                <p:cNvSpPr txBox="1"/>
                <p:nvPr/>
              </p:nvSpPr>
              <p:spPr>
                <a:xfrm>
                  <a:off x="6277953" y="5525452"/>
                  <a:ext cx="5519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rPr>
                    <a:t>!</a:t>
                  </a:r>
                </a:p>
              </p:txBody>
            </p:sp>
            <p:sp>
              <p:nvSpPr>
                <p:cNvPr id="249" name="TextBox 249"/>
                <p:cNvSpPr txBox="1"/>
                <p:nvPr/>
              </p:nvSpPr>
              <p:spPr>
                <a:xfrm>
                  <a:off x="6491288" y="5540216"/>
                  <a:ext cx="536906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b="1" dirty="0">
                      <a:solidFill>
                        <a:srgbClr val="FAAD14"/>
                      </a:solidFill>
                      <a:latin typeface="Microsoft YaHei"/>
                      <a:ea typeface="Microsoft YaHei"/>
                      <a:cs typeface="Microsoft YaHei"/>
                    </a:rPr>
                    <a:t>提示/复核</a:t>
                  </a:r>
                </a:p>
              </p:txBody>
            </p:sp>
          </p:grpSp>
          <p:grpSp>
            <p:nvGrpSpPr>
              <p:cNvPr id="255" name="Group 255"/>
              <p:cNvGrpSpPr/>
              <p:nvPr/>
            </p:nvGrpSpPr>
            <p:grpSpPr>
              <a:xfrm>
                <a:off x="6191250" y="5762625"/>
                <a:ext cx="836944" cy="228600"/>
                <a:chOff x="6191250" y="5762625"/>
                <a:chExt cx="836944" cy="228600"/>
              </a:xfrm>
            </p:grpSpPr>
            <p:sp>
              <p:nvSpPr>
                <p:cNvPr id="251" name="Ellipse 251"/>
                <p:cNvSpPr/>
                <p:nvPr/>
              </p:nvSpPr>
              <p:spPr>
                <a:xfrm>
                  <a:off x="6191250" y="5762625"/>
                  <a:ext cx="228600" cy="228600"/>
                </a:xfrm>
                <a:prstGeom prst="ellipse">
                  <a:avLst/>
                </a:prstGeom>
                <a:solidFill>
                  <a:srgbClr val="F5222D"/>
                </a:solidFill>
                <a:ln>
                  <a:noFill/>
                </a:ln>
              </p:spPr>
            </p:sp>
            <p:sp>
              <p:nvSpPr>
                <p:cNvPr id="252" name="Freeform 252"/>
                <p:cNvSpPr/>
                <p:nvPr/>
              </p:nvSpPr>
              <p:spPr>
                <a:xfrm>
                  <a:off x="6267450" y="58293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0"/>
                      </a:lnTo>
                      <a:lnTo>
                        <a:pt x="38100" y="762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253" name="TextBox 253"/>
                <p:cNvSpPr txBox="1"/>
                <p:nvPr/>
              </p:nvSpPr>
              <p:spPr>
                <a:xfrm>
                  <a:off x="6288066" y="5831205"/>
                  <a:ext cx="34968" cy="1190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600" b="1" dirty="0">
                      <a:solidFill>
                        <a:srgbClr val="F5222D"/>
                      </a:solidFill>
                      <a:latin typeface="Arial"/>
                      <a:ea typeface="Arial"/>
                      <a:cs typeface="Arial"/>
                    </a:rPr>
                    <a:t>!</a:t>
                  </a:r>
                </a:p>
              </p:txBody>
            </p:sp>
            <p:sp>
              <p:nvSpPr>
                <p:cNvPr id="254" name="TextBox 254"/>
                <p:cNvSpPr txBox="1"/>
                <p:nvPr/>
              </p:nvSpPr>
              <p:spPr>
                <a:xfrm>
                  <a:off x="6491288" y="5825966"/>
                  <a:ext cx="536906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b="1" dirty="0">
                      <a:solidFill>
                        <a:srgbClr val="F5222D"/>
                      </a:solidFill>
                      <a:latin typeface="Microsoft YaHei"/>
                      <a:ea typeface="Microsoft YaHei"/>
                      <a:cs typeface="Microsoft YaHei"/>
                    </a:rPr>
                    <a:t>预警/拦截</a:t>
                  </a:r>
                </a:p>
              </p:txBody>
            </p:sp>
          </p:grpSp>
        </p:grpSp>
        <p:grpSp>
          <p:nvGrpSpPr>
            <p:cNvPr id="310" name="Group 310"/>
            <p:cNvGrpSpPr/>
            <p:nvPr/>
          </p:nvGrpSpPr>
          <p:grpSpPr>
            <a:xfrm>
              <a:off x="7239000" y="4381500"/>
              <a:ext cx="4762500" cy="2190750"/>
              <a:chOff x="7239000" y="4381500"/>
              <a:chExt cx="4762500" cy="2190750"/>
            </a:xfrm>
          </p:grpSpPr>
          <p:sp>
            <p:nvSpPr>
              <p:cNvPr id="257" name="Rectangle 257"/>
              <p:cNvSpPr/>
              <p:nvPr/>
            </p:nvSpPr>
            <p:spPr>
              <a:xfrm>
                <a:off x="7239000" y="4381500"/>
                <a:ext cx="4762500" cy="2190750"/>
              </a:xfrm>
              <a:prstGeom prst="roundRect">
                <a:avLst>
                  <a:gd name="adj" fmla="val 5217"/>
                </a:avLst>
              </a:prstGeom>
              <a:solidFill>
                <a:srgbClr val="FFFFFF"/>
              </a:solidFill>
              <a:ln w="9525">
                <a:solidFill>
                  <a:srgbClr val="D4E4F8"/>
                </a:solidFill>
              </a:ln>
              <a:effectLst>
                <a:outerShdw blurRad="95250" dist="28575" dir="5400000" algn="ctr" rotWithShape="0">
                  <a:srgbClr val="0A3E83">
                    <a:alpha val="7500"/>
                  </a:srgbClr>
                </a:outerShdw>
              </a:effectLst>
            </p:spPr>
          </p:sp>
          <p:sp>
            <p:nvSpPr>
              <p:cNvPr id="258" name="Rectangle 258"/>
              <p:cNvSpPr/>
              <p:nvPr/>
            </p:nvSpPr>
            <p:spPr>
              <a:xfrm>
                <a:off x="7239000" y="4381500"/>
                <a:ext cx="4762500" cy="342900"/>
              </a:xfrm>
              <a:prstGeom prst="roundRect">
                <a:avLst>
                  <a:gd name="adj" fmla="val 33333"/>
                </a:avLst>
              </a:prstGeom>
              <a:solidFill>
                <a:srgbClr val="0753B8"/>
              </a:solidFill>
              <a:ln>
                <a:noFill/>
              </a:ln>
            </p:spPr>
          </p:sp>
          <p:sp>
            <p:nvSpPr>
              <p:cNvPr id="259" name="TextBox 259"/>
              <p:cNvSpPr txBox="1"/>
              <p:nvPr/>
            </p:nvSpPr>
            <p:spPr>
              <a:xfrm>
                <a:off x="7424166" y="4496752"/>
                <a:ext cx="13464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场景二：报名截止后</a:t>
                </a:r>
              </a:p>
            </p:txBody>
          </p:sp>
          <p:sp>
            <p:nvSpPr>
              <p:cNvPr id="260" name="TextBox 260"/>
              <p:cNvSpPr txBox="1"/>
              <p:nvPr/>
            </p:nvSpPr>
            <p:spPr>
              <a:xfrm>
                <a:off x="7598931" y="4874895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5A6C82"/>
                    </a:solidFill>
                    <a:latin typeface="Microsoft YaHei"/>
                    <a:ea typeface="Microsoft YaHei"/>
                    <a:cs typeface="Microsoft YaHei"/>
                  </a:rPr>
                  <a:t>上报数据</a:t>
                </a:r>
              </a:p>
            </p:txBody>
          </p:sp>
          <p:grpSp>
            <p:nvGrpSpPr>
              <p:cNvPr id="263" name="Group 263"/>
              <p:cNvGrpSpPr/>
              <p:nvPr/>
            </p:nvGrpSpPr>
            <p:grpSpPr>
              <a:xfrm>
                <a:off x="7429500" y="5095875"/>
                <a:ext cx="857250" cy="266700"/>
                <a:chOff x="7429500" y="5095875"/>
                <a:chExt cx="857250" cy="266700"/>
              </a:xfrm>
            </p:grpSpPr>
            <p:sp>
              <p:nvSpPr>
                <p:cNvPr id="261" name="Rectangle 261"/>
                <p:cNvSpPr/>
                <p:nvPr/>
              </p:nvSpPr>
              <p:spPr>
                <a:xfrm>
                  <a:off x="7429500" y="5095875"/>
                  <a:ext cx="857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4F8FD"/>
                </a:solidFill>
                <a:ln w="9525">
                  <a:solidFill>
                    <a:srgbClr val="D4E4F8"/>
                  </a:solidFill>
                </a:ln>
              </p:spPr>
            </p:sp>
            <p:sp>
              <p:nvSpPr>
                <p:cNvPr id="262" name="TextBox 262"/>
                <p:cNvSpPr txBox="1"/>
                <p:nvPr/>
              </p:nvSpPr>
              <p:spPr>
                <a:xfrm>
                  <a:off x="7499985" y="5186362"/>
                  <a:ext cx="71628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供应商主体信息</a:t>
                  </a:r>
                </a:p>
              </p:txBody>
            </p:sp>
          </p:grpSp>
          <p:grpSp>
            <p:nvGrpSpPr>
              <p:cNvPr id="266" name="Group 266"/>
              <p:cNvGrpSpPr/>
              <p:nvPr/>
            </p:nvGrpSpPr>
            <p:grpSpPr>
              <a:xfrm>
                <a:off x="7429500" y="5410200"/>
                <a:ext cx="857250" cy="266700"/>
                <a:chOff x="7429500" y="5410200"/>
                <a:chExt cx="857250" cy="266700"/>
              </a:xfrm>
            </p:grpSpPr>
            <p:sp>
              <p:nvSpPr>
                <p:cNvPr id="264" name="Rectangle 264"/>
                <p:cNvSpPr/>
                <p:nvPr/>
              </p:nvSpPr>
              <p:spPr>
                <a:xfrm>
                  <a:off x="7429500" y="5410200"/>
                  <a:ext cx="857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4F8FD"/>
                </a:solidFill>
                <a:ln w="9525">
                  <a:solidFill>
                    <a:srgbClr val="D4E4F8"/>
                  </a:solidFill>
                </a:ln>
              </p:spPr>
            </p:sp>
            <p:sp>
              <p:nvSpPr>
                <p:cNvPr id="265" name="TextBox 265"/>
                <p:cNvSpPr txBox="1"/>
                <p:nvPr/>
              </p:nvSpPr>
              <p:spPr>
                <a:xfrm>
                  <a:off x="7550468" y="5500688"/>
                  <a:ext cx="61531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报名附件材料</a:t>
                  </a:r>
                </a:p>
              </p:txBody>
            </p:sp>
          </p:grpSp>
          <p:grpSp>
            <p:nvGrpSpPr>
              <p:cNvPr id="269" name="Group 269"/>
              <p:cNvGrpSpPr/>
              <p:nvPr/>
            </p:nvGrpSpPr>
            <p:grpSpPr>
              <a:xfrm>
                <a:off x="7429500" y="5724525"/>
                <a:ext cx="857250" cy="266700"/>
                <a:chOff x="7429500" y="5724525"/>
                <a:chExt cx="857250" cy="266700"/>
              </a:xfrm>
            </p:grpSpPr>
            <p:sp>
              <p:nvSpPr>
                <p:cNvPr id="267" name="Rectangle 267"/>
                <p:cNvSpPr/>
                <p:nvPr/>
              </p:nvSpPr>
              <p:spPr>
                <a:xfrm>
                  <a:off x="7429500" y="5724525"/>
                  <a:ext cx="857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4F8FD"/>
                </a:solidFill>
                <a:ln w="9525">
                  <a:solidFill>
                    <a:srgbClr val="D4E4F8"/>
                  </a:solidFill>
                </a:ln>
              </p:spPr>
            </p:sp>
            <p:sp>
              <p:nvSpPr>
                <p:cNvPr id="268" name="TextBox 268"/>
                <p:cNvSpPr txBox="1"/>
                <p:nvPr/>
              </p:nvSpPr>
              <p:spPr>
                <a:xfrm>
                  <a:off x="7651432" y="5815012"/>
                  <a:ext cx="41338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公告要求</a:t>
                  </a:r>
                </a:p>
              </p:txBody>
            </p:sp>
          </p:grpSp>
          <p:grpSp>
            <p:nvGrpSpPr>
              <p:cNvPr id="272" name="Group 272"/>
              <p:cNvGrpSpPr/>
              <p:nvPr/>
            </p:nvGrpSpPr>
            <p:grpSpPr>
              <a:xfrm>
                <a:off x="7429500" y="6038850"/>
                <a:ext cx="857250" cy="266700"/>
                <a:chOff x="7429500" y="6038850"/>
                <a:chExt cx="857250" cy="266700"/>
              </a:xfrm>
            </p:grpSpPr>
            <p:sp>
              <p:nvSpPr>
                <p:cNvPr id="270" name="Rectangle 270"/>
                <p:cNvSpPr/>
                <p:nvPr/>
              </p:nvSpPr>
              <p:spPr>
                <a:xfrm>
                  <a:off x="7429500" y="6038850"/>
                  <a:ext cx="857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4F8FD"/>
                </a:solidFill>
                <a:ln w="9525">
                  <a:solidFill>
                    <a:srgbClr val="D4E4F8"/>
                  </a:solidFill>
                </a:ln>
              </p:spPr>
            </p:sp>
            <p:sp>
              <p:nvSpPr>
                <p:cNvPr id="271" name="TextBox 271"/>
                <p:cNvSpPr txBox="1"/>
                <p:nvPr/>
              </p:nvSpPr>
              <p:spPr>
                <a:xfrm>
                  <a:off x="7550468" y="6129338"/>
                  <a:ext cx="615315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其他相关数据</a:t>
                  </a:r>
                </a:p>
              </p:txBody>
            </p:sp>
          </p:grpSp>
          <p:sp>
            <p:nvSpPr>
              <p:cNvPr id="273" name="Line 273"/>
              <p:cNvSpPr/>
              <p:nvPr/>
            </p:nvSpPr>
            <p:spPr>
              <a:xfrm>
                <a:off x="8429625" y="5619750"/>
                <a:ext cx="238125" cy="1"/>
              </a:xfrm>
              <a:prstGeom prst="line">
                <a:avLst/>
              </a:prstGeom>
              <a:noFill/>
              <a:ln w="14288">
                <a:solidFill>
                  <a:srgbClr val="0753B8"/>
                </a:solidFill>
                <a:tailEnd type="triangle" w="lg" len="lg"/>
              </a:ln>
            </p:spPr>
          </p:sp>
          <p:sp>
            <p:nvSpPr>
              <p:cNvPr id="274" name="TextBox 274"/>
              <p:cNvSpPr txBox="1"/>
              <p:nvPr/>
            </p:nvSpPr>
            <p:spPr>
              <a:xfrm>
                <a:off x="9503931" y="4874895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5A6C82"/>
                    </a:solidFill>
                    <a:latin typeface="Microsoft YaHei"/>
                    <a:ea typeface="Microsoft YaHei"/>
                    <a:cs typeface="Microsoft YaHei"/>
                  </a:rPr>
                  <a:t>代表规则</a:t>
                </a:r>
              </a:p>
            </p:txBody>
          </p:sp>
          <p:grpSp>
            <p:nvGrpSpPr>
              <p:cNvPr id="279" name="Group 279"/>
              <p:cNvGrpSpPr/>
              <p:nvPr/>
            </p:nvGrpSpPr>
            <p:grpSpPr>
              <a:xfrm>
                <a:off x="8953500" y="5095875"/>
                <a:ext cx="1619250" cy="266700"/>
                <a:chOff x="8953500" y="5095875"/>
                <a:chExt cx="1619250" cy="266700"/>
              </a:xfrm>
            </p:grpSpPr>
            <p:sp>
              <p:nvSpPr>
                <p:cNvPr id="275" name="Rectangle 275"/>
                <p:cNvSpPr/>
                <p:nvPr/>
              </p:nvSpPr>
              <p:spPr>
                <a:xfrm>
                  <a:off x="8953500" y="5095875"/>
                  <a:ext cx="1619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FF0E5"/>
                </a:solidFill>
                <a:ln w="9525">
                  <a:solidFill>
                    <a:srgbClr val="FFD4A3"/>
                  </a:solidFill>
                </a:ln>
              </p:spPr>
            </p:sp>
            <p:sp>
              <p:nvSpPr>
                <p:cNvPr id="276" name="Ellipse 276"/>
                <p:cNvSpPr/>
                <p:nvPr/>
              </p:nvSpPr>
              <p:spPr>
                <a:xfrm>
                  <a:off x="9029700" y="5172075"/>
                  <a:ext cx="114300" cy="114300"/>
                </a:xfrm>
                <a:prstGeom prst="ellipse">
                  <a:avLst/>
                </a:prstGeom>
                <a:solidFill>
                  <a:srgbClr val="FF6B20"/>
                </a:solidFill>
                <a:ln>
                  <a:noFill/>
                </a:ln>
              </p:spPr>
            </p:sp>
            <p:sp>
              <p:nvSpPr>
                <p:cNvPr id="277" name="Freeform 277"/>
                <p:cNvSpPr/>
                <p:nvPr/>
              </p:nvSpPr>
              <p:spPr>
                <a:xfrm>
                  <a:off x="9058275" y="52101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4288" cap="rnd">
                  <a:solidFill>
                    <a:srgbClr val="FFFFFF"/>
                  </a:solidFill>
                </a:ln>
              </p:spPr>
            </p:sp>
            <p:sp>
              <p:nvSpPr>
                <p:cNvPr id="278" name="TextBox 278"/>
                <p:cNvSpPr txBox="1"/>
                <p:nvPr/>
              </p:nvSpPr>
              <p:spPr>
                <a:xfrm>
                  <a:off x="9215438" y="5186362"/>
                  <a:ext cx="71628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附件符合性检查</a:t>
                  </a:r>
                </a:p>
              </p:txBody>
            </p:sp>
          </p:grpSp>
          <p:grpSp>
            <p:nvGrpSpPr>
              <p:cNvPr id="284" name="Group 284"/>
              <p:cNvGrpSpPr/>
              <p:nvPr/>
            </p:nvGrpSpPr>
            <p:grpSpPr>
              <a:xfrm>
                <a:off x="8953500" y="5410200"/>
                <a:ext cx="1619250" cy="266700"/>
                <a:chOff x="8953500" y="5410200"/>
                <a:chExt cx="1619250" cy="266700"/>
              </a:xfrm>
            </p:grpSpPr>
            <p:sp>
              <p:nvSpPr>
                <p:cNvPr id="280" name="Rectangle 280"/>
                <p:cNvSpPr/>
                <p:nvPr/>
              </p:nvSpPr>
              <p:spPr>
                <a:xfrm>
                  <a:off x="8953500" y="5410200"/>
                  <a:ext cx="1619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FF0E5"/>
                </a:solidFill>
                <a:ln w="9525">
                  <a:solidFill>
                    <a:srgbClr val="FFD4A3"/>
                  </a:solidFill>
                </a:ln>
              </p:spPr>
            </p:sp>
            <p:sp>
              <p:nvSpPr>
                <p:cNvPr id="281" name="Ellipse 281"/>
                <p:cNvSpPr/>
                <p:nvPr/>
              </p:nvSpPr>
              <p:spPr>
                <a:xfrm>
                  <a:off x="9029700" y="5486400"/>
                  <a:ext cx="114300" cy="114300"/>
                </a:xfrm>
                <a:prstGeom prst="ellipse">
                  <a:avLst/>
                </a:prstGeom>
                <a:solidFill>
                  <a:srgbClr val="FF6B20"/>
                </a:solidFill>
                <a:ln>
                  <a:noFill/>
                </a:ln>
              </p:spPr>
            </p:sp>
            <p:sp>
              <p:nvSpPr>
                <p:cNvPr id="282" name="Freeform 282"/>
                <p:cNvSpPr/>
                <p:nvPr/>
              </p:nvSpPr>
              <p:spPr>
                <a:xfrm>
                  <a:off x="9058275" y="552450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4288" cap="rnd">
                  <a:solidFill>
                    <a:srgbClr val="FFFFFF"/>
                  </a:solidFill>
                </a:ln>
              </p:spPr>
            </p:sp>
            <p:sp>
              <p:nvSpPr>
                <p:cNvPr id="283" name="TextBox 283"/>
                <p:cNvSpPr txBox="1"/>
                <p:nvPr/>
              </p:nvSpPr>
              <p:spPr>
                <a:xfrm>
                  <a:off x="9215438" y="5500688"/>
                  <a:ext cx="71628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资质有效性检查</a:t>
                  </a:r>
                </a:p>
              </p:txBody>
            </p:sp>
          </p:grpSp>
          <p:grpSp>
            <p:nvGrpSpPr>
              <p:cNvPr id="289" name="Group 289"/>
              <p:cNvGrpSpPr/>
              <p:nvPr/>
            </p:nvGrpSpPr>
            <p:grpSpPr>
              <a:xfrm>
                <a:off x="8953500" y="5724525"/>
                <a:ext cx="1619250" cy="266700"/>
                <a:chOff x="8953500" y="5724525"/>
                <a:chExt cx="1619250" cy="266700"/>
              </a:xfrm>
            </p:grpSpPr>
            <p:sp>
              <p:nvSpPr>
                <p:cNvPr id="285" name="Rectangle 285"/>
                <p:cNvSpPr/>
                <p:nvPr/>
              </p:nvSpPr>
              <p:spPr>
                <a:xfrm>
                  <a:off x="8953500" y="5724525"/>
                  <a:ext cx="1619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FF0E5"/>
                </a:solidFill>
                <a:ln w="9525">
                  <a:solidFill>
                    <a:srgbClr val="FFD4A3"/>
                  </a:solidFill>
                </a:ln>
              </p:spPr>
            </p:sp>
            <p:sp>
              <p:nvSpPr>
                <p:cNvPr id="286" name="Ellipse 286"/>
                <p:cNvSpPr/>
                <p:nvPr/>
              </p:nvSpPr>
              <p:spPr>
                <a:xfrm>
                  <a:off x="9029700" y="5800725"/>
                  <a:ext cx="114300" cy="114300"/>
                </a:xfrm>
                <a:prstGeom prst="ellipse">
                  <a:avLst/>
                </a:prstGeom>
                <a:solidFill>
                  <a:srgbClr val="FF6B20"/>
                </a:solidFill>
                <a:ln>
                  <a:noFill/>
                </a:ln>
              </p:spPr>
            </p:sp>
            <p:sp>
              <p:nvSpPr>
                <p:cNvPr id="287" name="Freeform 287"/>
                <p:cNvSpPr/>
                <p:nvPr/>
              </p:nvSpPr>
              <p:spPr>
                <a:xfrm>
                  <a:off x="9058275" y="583882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4288" cap="rnd">
                  <a:solidFill>
                    <a:srgbClr val="FFFFFF"/>
                  </a:solidFill>
                </a:ln>
              </p:spPr>
            </p:sp>
            <p:sp>
              <p:nvSpPr>
                <p:cNvPr id="288" name="TextBox 288"/>
                <p:cNvSpPr txBox="1"/>
                <p:nvPr/>
              </p:nvSpPr>
              <p:spPr>
                <a:xfrm>
                  <a:off x="9215438" y="5815012"/>
                  <a:ext cx="716280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工商关联性检查</a:t>
                  </a:r>
                </a:p>
              </p:txBody>
            </p:sp>
          </p:grpSp>
          <p:grpSp>
            <p:nvGrpSpPr>
              <p:cNvPr id="294" name="Group 294"/>
              <p:cNvGrpSpPr/>
              <p:nvPr/>
            </p:nvGrpSpPr>
            <p:grpSpPr>
              <a:xfrm>
                <a:off x="8953500" y="6038850"/>
                <a:ext cx="1619250" cy="266700"/>
                <a:chOff x="8953500" y="6038850"/>
                <a:chExt cx="1619250" cy="266700"/>
              </a:xfrm>
            </p:grpSpPr>
            <p:sp>
              <p:nvSpPr>
                <p:cNvPr id="290" name="Rectangle 290"/>
                <p:cNvSpPr/>
                <p:nvPr/>
              </p:nvSpPr>
              <p:spPr>
                <a:xfrm>
                  <a:off x="8953500" y="6038850"/>
                  <a:ext cx="1619250" cy="266700"/>
                </a:xfrm>
                <a:prstGeom prst="roundRect">
                  <a:avLst>
                    <a:gd name="adj" fmla="val 14286"/>
                  </a:avLst>
                </a:prstGeom>
                <a:solidFill>
                  <a:srgbClr val="FFF0E5"/>
                </a:solidFill>
                <a:ln w="9525">
                  <a:solidFill>
                    <a:srgbClr val="FFD4A3"/>
                  </a:solidFill>
                </a:ln>
              </p:spPr>
            </p:sp>
            <p:sp>
              <p:nvSpPr>
                <p:cNvPr id="291" name="Ellipse 291"/>
                <p:cNvSpPr/>
                <p:nvPr/>
              </p:nvSpPr>
              <p:spPr>
                <a:xfrm>
                  <a:off x="9029700" y="6115050"/>
                  <a:ext cx="114300" cy="114300"/>
                </a:xfrm>
                <a:prstGeom prst="ellipse">
                  <a:avLst/>
                </a:prstGeom>
                <a:solidFill>
                  <a:srgbClr val="FF6B20"/>
                </a:solidFill>
                <a:ln>
                  <a:noFill/>
                </a:ln>
              </p:spPr>
            </p:sp>
            <p:sp>
              <p:nvSpPr>
                <p:cNvPr id="292" name="Freeform 292"/>
                <p:cNvSpPr/>
                <p:nvPr/>
              </p:nvSpPr>
              <p:spPr>
                <a:xfrm>
                  <a:off x="9058275" y="615315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4288" cap="rnd">
                  <a:solidFill>
                    <a:srgbClr val="FFFFFF"/>
                  </a:solidFill>
                </a:ln>
              </p:spPr>
            </p:sp>
            <p:sp>
              <p:nvSpPr>
                <p:cNvPr id="293" name="TextBox 293"/>
                <p:cNvSpPr txBox="1"/>
                <p:nvPr/>
              </p:nvSpPr>
              <p:spPr>
                <a:xfrm>
                  <a:off x="9215438" y="6129338"/>
                  <a:ext cx="872776" cy="147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1B2638"/>
                      </a:solidFill>
                      <a:latin typeface="Microsoft YaHei"/>
                      <a:ea typeface="Microsoft YaHei"/>
                      <a:cs typeface="Microsoft YaHei"/>
                    </a:rPr>
                    <a:t>信息重叠/异常检查</a:t>
                  </a:r>
                </a:p>
              </p:txBody>
            </p:sp>
          </p:grpSp>
          <p:sp>
            <p:nvSpPr>
              <p:cNvPr id="295" name="Line 295"/>
              <p:cNvSpPr/>
              <p:nvPr/>
            </p:nvSpPr>
            <p:spPr>
              <a:xfrm>
                <a:off x="10715625" y="5619750"/>
                <a:ext cx="238125" cy="1"/>
              </a:xfrm>
              <a:prstGeom prst="line">
                <a:avLst/>
              </a:prstGeom>
              <a:noFill/>
              <a:ln w="14288">
                <a:solidFill>
                  <a:srgbClr val="0753B8"/>
                </a:solidFill>
                <a:tailEnd type="triangle" w="lg" len="lg"/>
              </a:ln>
            </p:spPr>
          </p:sp>
          <p:sp>
            <p:nvSpPr>
              <p:cNvPr id="296" name="TextBox 296"/>
              <p:cNvSpPr txBox="1"/>
              <p:nvPr/>
            </p:nvSpPr>
            <p:spPr>
              <a:xfrm>
                <a:off x="11218431" y="4874895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5A6C82"/>
                    </a:solidFill>
                    <a:latin typeface="Microsoft YaHei"/>
                    <a:ea typeface="Microsoft YaHei"/>
                    <a:cs typeface="Microsoft YaHei"/>
                  </a:rPr>
                  <a:t>输出动作</a:t>
                </a:r>
              </a:p>
            </p:txBody>
          </p:sp>
          <p:grpSp>
            <p:nvGrpSpPr>
              <p:cNvPr id="300" name="Group 300"/>
              <p:cNvGrpSpPr/>
              <p:nvPr/>
            </p:nvGrpSpPr>
            <p:grpSpPr>
              <a:xfrm>
                <a:off x="11144250" y="5191125"/>
                <a:ext cx="541379" cy="228600"/>
                <a:chOff x="11144250" y="5191125"/>
                <a:chExt cx="541379" cy="228600"/>
              </a:xfrm>
            </p:grpSpPr>
            <p:sp>
              <p:nvSpPr>
                <p:cNvPr id="297" name="Ellipse 297"/>
                <p:cNvSpPr/>
                <p:nvPr/>
              </p:nvSpPr>
              <p:spPr>
                <a:xfrm>
                  <a:off x="11144250" y="5191125"/>
                  <a:ext cx="228600" cy="228600"/>
                </a:xfrm>
                <a:prstGeom prst="ellipse">
                  <a:avLst/>
                </a:prstGeom>
                <a:solidFill>
                  <a:srgbClr val="52C41A"/>
                </a:solidFill>
                <a:ln>
                  <a:noFill/>
                </a:ln>
              </p:spPr>
            </p:sp>
            <p:sp>
              <p:nvSpPr>
                <p:cNvPr id="298" name="Freeform 298"/>
                <p:cNvSpPr/>
                <p:nvPr/>
              </p:nvSpPr>
              <p:spPr>
                <a:xfrm>
                  <a:off x="11210925" y="5267325"/>
                  <a:ext cx="952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6675">
                      <a:moveTo>
                        <a:pt x="0" y="38100"/>
                      </a:moveTo>
                      <a:lnTo>
                        <a:pt x="28575" y="66675"/>
                      </a:lnTo>
                      <a:lnTo>
                        <a:pt x="95250" y="0"/>
                      </a:lnTo>
                    </a:path>
                  </a:pathLst>
                </a:custGeom>
                <a:noFill/>
                <a:ln w="19050" cap="rnd">
                  <a:solidFill>
                    <a:srgbClr val="FFFFFF"/>
                  </a:solidFill>
                </a:ln>
              </p:spPr>
            </p:sp>
            <p:sp>
              <p:nvSpPr>
                <p:cNvPr id="299" name="TextBox 299"/>
                <p:cNvSpPr txBox="1"/>
                <p:nvPr/>
              </p:nvSpPr>
              <p:spPr>
                <a:xfrm>
                  <a:off x="11444288" y="5254466"/>
                  <a:ext cx="241341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b="1" dirty="0">
                      <a:solidFill>
                        <a:srgbClr val="52C41A"/>
                      </a:solidFill>
                      <a:latin typeface="Microsoft YaHei"/>
                      <a:ea typeface="Microsoft YaHei"/>
                      <a:cs typeface="Microsoft YaHei"/>
                    </a:rPr>
                    <a:t>通过</a:t>
                  </a:r>
                </a:p>
              </p:txBody>
            </p:sp>
          </p:grpSp>
          <p:grpSp>
            <p:nvGrpSpPr>
              <p:cNvPr id="304" name="Group 304"/>
              <p:cNvGrpSpPr/>
              <p:nvPr/>
            </p:nvGrpSpPr>
            <p:grpSpPr>
              <a:xfrm>
                <a:off x="11144250" y="5476875"/>
                <a:ext cx="836944" cy="253936"/>
                <a:chOff x="11144250" y="5476875"/>
                <a:chExt cx="836944" cy="253936"/>
              </a:xfrm>
            </p:grpSpPr>
            <p:sp>
              <p:nvSpPr>
                <p:cNvPr id="301" name="Ellipse 301"/>
                <p:cNvSpPr/>
                <p:nvPr/>
              </p:nvSpPr>
              <p:spPr>
                <a:xfrm>
                  <a:off x="11144250" y="5476875"/>
                  <a:ext cx="228600" cy="228600"/>
                </a:xfrm>
                <a:prstGeom prst="ellipse">
                  <a:avLst/>
                </a:prstGeom>
                <a:solidFill>
                  <a:srgbClr val="FAAD14"/>
                </a:solidFill>
                <a:ln>
                  <a:noFill/>
                </a:ln>
              </p:spPr>
            </p:sp>
            <p:sp>
              <p:nvSpPr>
                <p:cNvPr id="302" name="TextBox 302"/>
                <p:cNvSpPr txBox="1"/>
                <p:nvPr/>
              </p:nvSpPr>
              <p:spPr>
                <a:xfrm>
                  <a:off x="11230953" y="5525452"/>
                  <a:ext cx="5519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rPr>
                    <a:t>!</a:t>
                  </a:r>
                </a:p>
              </p:txBody>
            </p:sp>
            <p:sp>
              <p:nvSpPr>
                <p:cNvPr id="303" name="TextBox 303"/>
                <p:cNvSpPr txBox="1"/>
                <p:nvPr/>
              </p:nvSpPr>
              <p:spPr>
                <a:xfrm>
                  <a:off x="11444288" y="5540216"/>
                  <a:ext cx="536906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b="1" dirty="0">
                      <a:solidFill>
                        <a:srgbClr val="FAAD14"/>
                      </a:solidFill>
                      <a:latin typeface="Microsoft YaHei"/>
                      <a:ea typeface="Microsoft YaHei"/>
                      <a:cs typeface="Microsoft YaHei"/>
                    </a:rPr>
                    <a:t>提示/复核</a:t>
                  </a:r>
                </a:p>
              </p:txBody>
            </p:sp>
          </p:grpSp>
          <p:grpSp>
            <p:nvGrpSpPr>
              <p:cNvPr id="309" name="Group 309"/>
              <p:cNvGrpSpPr/>
              <p:nvPr/>
            </p:nvGrpSpPr>
            <p:grpSpPr>
              <a:xfrm>
                <a:off x="11144250" y="5762625"/>
                <a:ext cx="836944" cy="228600"/>
                <a:chOff x="11144250" y="5762625"/>
                <a:chExt cx="836944" cy="228600"/>
              </a:xfrm>
            </p:grpSpPr>
            <p:sp>
              <p:nvSpPr>
                <p:cNvPr id="305" name="Ellipse 305"/>
                <p:cNvSpPr/>
                <p:nvPr/>
              </p:nvSpPr>
              <p:spPr>
                <a:xfrm>
                  <a:off x="11144250" y="5762625"/>
                  <a:ext cx="228600" cy="228600"/>
                </a:xfrm>
                <a:prstGeom prst="ellipse">
                  <a:avLst/>
                </a:prstGeom>
                <a:solidFill>
                  <a:srgbClr val="F5222D"/>
                </a:solidFill>
                <a:ln>
                  <a:noFill/>
                </a:ln>
              </p:spPr>
            </p:sp>
            <p:sp>
              <p:nvSpPr>
                <p:cNvPr id="306" name="Freeform 306"/>
                <p:cNvSpPr/>
                <p:nvPr/>
              </p:nvSpPr>
              <p:spPr>
                <a:xfrm>
                  <a:off x="11220450" y="58293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0"/>
                      </a:lnTo>
                      <a:lnTo>
                        <a:pt x="38100" y="762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07" name="TextBox 307"/>
                <p:cNvSpPr txBox="1"/>
                <p:nvPr/>
              </p:nvSpPr>
              <p:spPr>
                <a:xfrm>
                  <a:off x="11241066" y="5831205"/>
                  <a:ext cx="34968" cy="1190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600" b="1" dirty="0">
                      <a:solidFill>
                        <a:srgbClr val="F5222D"/>
                      </a:solidFill>
                      <a:latin typeface="Arial"/>
                      <a:ea typeface="Arial"/>
                      <a:cs typeface="Arial"/>
                    </a:rPr>
                    <a:t>!</a:t>
                  </a:r>
                </a:p>
              </p:txBody>
            </p:sp>
            <p:sp>
              <p:nvSpPr>
                <p:cNvPr id="308" name="TextBox 308"/>
                <p:cNvSpPr txBox="1"/>
                <p:nvPr/>
              </p:nvSpPr>
              <p:spPr>
                <a:xfrm>
                  <a:off x="11444288" y="5825966"/>
                  <a:ext cx="536906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b="1" dirty="0">
                      <a:solidFill>
                        <a:srgbClr val="F5222D"/>
                      </a:solidFill>
                      <a:latin typeface="Microsoft YaHei"/>
                      <a:ea typeface="Microsoft YaHei"/>
                      <a:cs typeface="Microsoft YaHei"/>
                    </a:rPr>
                    <a:t>预警/拦截</a:t>
                  </a:r>
                </a:p>
              </p:txBody>
            </p:sp>
          </p:grpSp>
        </p:grpSp>
      </p:grpSp>
      <p:grpSp>
        <p:nvGrpSpPr>
          <p:cNvPr id="317" name="Group 317"/>
          <p:cNvGrpSpPr/>
          <p:nvPr/>
        </p:nvGrpSpPr>
        <p:grpSpPr>
          <a:xfrm>
            <a:off x="10096500" y="6667500"/>
            <a:ext cx="1905000" cy="184309"/>
            <a:chOff x="10096500" y="6667500"/>
            <a:chExt cx="1905000" cy="184309"/>
          </a:xfrm>
        </p:grpSpPr>
        <p:sp>
          <p:nvSpPr>
            <p:cNvPr id="312" name="Rectangle 312"/>
            <p:cNvSpPr/>
            <p:nvPr/>
          </p:nvSpPr>
          <p:spPr>
            <a:xfrm>
              <a:off x="10096500" y="6667500"/>
              <a:ext cx="1905000" cy="1714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9525">
              <a:solidFill>
                <a:srgbClr val="D4E4F8"/>
              </a:solidFill>
            </a:ln>
          </p:spPr>
        </p:sp>
        <p:sp>
          <p:nvSpPr>
            <p:cNvPr id="313" name="Rectangle 313"/>
            <p:cNvSpPr/>
            <p:nvPr/>
          </p:nvSpPr>
          <p:spPr>
            <a:xfrm>
              <a:off x="10144125" y="6705600"/>
              <a:ext cx="95250" cy="95250"/>
            </a:xfrm>
            <a:prstGeom prst="roundRect">
              <a:avLst>
                <a:gd name="adj" fmla="val 20000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14" name="TextBox 314"/>
            <p:cNvSpPr txBox="1"/>
            <p:nvPr/>
          </p:nvSpPr>
          <p:spPr>
            <a:xfrm>
              <a:off x="10282238" y="6718459"/>
              <a:ext cx="65031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业务数据与流程</a:t>
              </a:r>
            </a:p>
          </p:txBody>
        </p:sp>
        <p:sp>
          <p:nvSpPr>
            <p:cNvPr id="315" name="Rectangle 315"/>
            <p:cNvSpPr/>
            <p:nvPr/>
          </p:nvSpPr>
          <p:spPr>
            <a:xfrm>
              <a:off x="11001375" y="6705600"/>
              <a:ext cx="95250" cy="95250"/>
            </a:xfrm>
            <a:prstGeom prst="roundRect">
              <a:avLst>
                <a:gd name="adj" fmla="val 20000"/>
              </a:avLst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316" name="TextBox 316"/>
            <p:cNvSpPr txBox="1"/>
            <p:nvPr/>
          </p:nvSpPr>
          <p:spPr>
            <a:xfrm>
              <a:off x="11139488" y="6718459"/>
              <a:ext cx="650316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规则与风险判定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zzx-page6">
  <a:themeElements>
    <a:clrScheme name="zzx-page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zx-page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zx-page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2026-08-06T10:27:36Z</dcterms:created>
  <dcterms:modified xsi:type="dcterms:W3CDTF">2026-08-06T10:27:36Z</dcterms:modified>
  <cp:category/>
  <cp:contentStatus/>
</cp:coreProperties>
</file>