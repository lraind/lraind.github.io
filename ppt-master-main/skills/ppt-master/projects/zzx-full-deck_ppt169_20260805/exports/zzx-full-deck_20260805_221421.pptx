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ful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full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9341e102850ef5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ec882edd97d13a4.png"/>
  <Relationship Id="rId3" Type="http://schemas.openxmlformats.org/officeDocument/2006/relationships/image" Target="../media/image_662eb8741c73de9c.png"/>
  <Relationship Id="rId4" Type="http://schemas.openxmlformats.org/officeDocument/2006/relationships/image" Target="../media/image_19523fd3168d48ef.png"/>
  <Relationship Id="rId5" Type="http://schemas.openxmlformats.org/officeDocument/2006/relationships/image" Target="../media/image_3db04020df3eefb4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4f4407624da3c8.png"/>
  <Relationship Id="rId3" Type="http://schemas.openxmlformats.org/officeDocument/2006/relationships/image" Target="../media/image_aa44e676828350fb.png"/>
  <Relationship Id="rId4" Type="http://schemas.openxmlformats.org/officeDocument/2006/relationships/image" Target="../media/image_bb24d21776710e66.png"/>
  <Relationship Id="rId5" Type="http://schemas.openxmlformats.org/officeDocument/2006/relationships/image" Target="../media/image_722fd46d8540aa78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3d466a774370c5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3f5165a32a26369.png"/>
  <Relationship Id="rId3" Type="http://schemas.openxmlformats.org/officeDocument/2006/relationships/image" Target="../media/image_0b8da62c63489637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9523fd3168d48ef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9523fd3168d48ef.png"/>
  <Relationship Id="rId3" Type="http://schemas.openxmlformats.org/officeDocument/2006/relationships/image" Target="../media/image_910b70201f2b59c5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3f5165a32a26369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a44e676828350fb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04a6f4c01676df.pn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7f3643272bf38fe.pn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1ee288e36f10872.pn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647700" y="904875"/>
            <a:ext cx="6794078" cy="4276725"/>
            <a:chOff x="647700" y="904875"/>
            <a:chExt cx="6794078" cy="4276725"/>
          </a:xfrm>
        </p:grpSpPr>
        <p:sp>
          <p:nvSpPr>
            <p:cNvPr id="3" name="Rectangle 3"/>
            <p:cNvSpPr/>
            <p:nvPr/>
          </p:nvSpPr>
          <p:spPr>
            <a:xfrm>
              <a:off x="666750" y="90487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 + AI 大模型驱动的招采全流程立体穿透监管体系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赛道九｜赛题 33——招标采购交易数智化立体穿透监管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申报单位：中建电子商务有限责任公司（云筑）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511" y="415147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联合单位：中建三局西南公司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实时拦截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电子取证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全程追溯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0" y="790575"/>
            <a:ext cx="5095875" cy="4572000"/>
            <a:chOff x="6667500" y="790575"/>
            <a:chExt cx="5095875" cy="45720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0" y="1463675"/>
              <a:ext cx="5095875" cy="3397250"/>
            </a:xfrm>
            <a:prstGeom prst="rect">
              <a:avLst/>
            </a:prstGeom>
          </p:spPr>
        </p:pic>
        <p:sp>
          <p:nvSpPr>
            <p:cNvPr id="22" name="Ellipse 22"/>
            <p:cNvSpPr/>
            <p:nvPr/>
          </p:nvSpPr>
          <p:spPr>
            <a:xfrm>
              <a:off x="7029450" y="790575"/>
              <a:ext cx="4572000" cy="4572000"/>
            </a:xfrm>
            <a:prstGeom prst="ellipse">
              <a:avLst/>
            </a:prstGeom>
            <a:noFill/>
            <a:ln w="19050">
              <a:solidFill>
                <a:srgbClr val="77B9FF">
                  <a:alpha val="28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362825" y="1123950"/>
              <a:ext cx="3905250" cy="3905250"/>
            </a:xfrm>
            <a:prstGeom prst="ellipse">
              <a:avLst/>
            </a:prstGeom>
            <a:noFill/>
            <a:ln w="9525">
              <a:solidFill>
                <a:srgbClr val="FFFFFF">
                  <a:alpha val="16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以数字合规守护阳光招采，以智能监管助力建筑行业高质量发展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C7E2FF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F6FF"/>
            </a:gs>
            <a:gs pos="100000">
              <a:srgbClr val="F8FB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02｜核心问题：人工监管难以穿透海量招采业务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业务量大、文件复杂、法规专业、风险隐蔽，人工模式难以兼顾全量、准确、实时与追溯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209550" y="1190625"/>
            <a:ext cx="28575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3181350" y="1190625"/>
            <a:ext cx="28575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6153150" y="1190625"/>
            <a:ext cx="28575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9124950" y="1190625"/>
            <a:ext cx="28575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14" name="Group 14"/>
          <p:cNvGrpSpPr/>
          <p:nvPr/>
        </p:nvGrpSpPr>
        <p:grpSpPr>
          <a:xfrm>
            <a:off x="428625" y="1323975"/>
            <a:ext cx="486156" cy="670560"/>
            <a:chOff x="428625" y="1323975"/>
            <a:chExt cx="486156" cy="670560"/>
          </a:xfrm>
        </p:grpSpPr>
        <p:sp>
          <p:nvSpPr>
            <p:cNvPr id="10" name="Rectangle 10"/>
            <p:cNvSpPr/>
            <p:nvPr/>
          </p:nvSpPr>
          <p:spPr>
            <a:xfrm>
              <a:off x="428625" y="1407795"/>
              <a:ext cx="486156" cy="586740"/>
            </a:xfrm>
            <a:prstGeom prst="roundRect">
              <a:avLst>
                <a:gd name="adj" fmla="val 17241"/>
              </a:avLst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5973" y="1323975"/>
              <a:ext cx="318516" cy="150876"/>
            </a:xfrm>
            <a:prstGeom prst="roundRect">
              <a:avLst>
                <a:gd name="adj" fmla="val 27778"/>
              </a:avLst>
            </a:prstGeom>
            <a:solidFill>
              <a:srgbClr val="8FC0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7591" y="1508379"/>
              <a:ext cx="284988" cy="3352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6764">
              <a:solidFill>
                <a:srgbClr val="3C83D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96265" y="1592199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40">
                  <a:moveTo>
                    <a:pt x="0" y="0"/>
                  </a:moveTo>
                  <a:lnTo>
                    <a:pt x="167640" y="0"/>
                  </a:lnTo>
                  <a:lnTo>
                    <a:pt x="142494" y="108966"/>
                  </a:lnTo>
                  <a:lnTo>
                    <a:pt x="25146" y="108966"/>
                  </a:lnTo>
                  <a:close/>
                  <a:moveTo>
                    <a:pt x="41910" y="167640"/>
                  </a:moveTo>
                  <a:lnTo>
                    <a:pt x="125730" y="167640"/>
                  </a:lnTo>
                </a:path>
              </a:pathLst>
            </a:custGeom>
            <a:noFill/>
            <a:ln w="25146" cap="rnd">
              <a:solidFill>
                <a:srgbClr val="0753B8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03198" y="131968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年度采购业务超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1006" y="1546384"/>
            <a:ext cx="609527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8142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万次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425571" y="1323975"/>
            <a:ext cx="586740" cy="611886"/>
            <a:chOff x="3425571" y="1323975"/>
            <a:chExt cx="586740" cy="611886"/>
          </a:xfrm>
        </p:grpSpPr>
        <p:sp>
          <p:nvSpPr>
            <p:cNvPr id="18" name="Rectangle 18"/>
            <p:cNvSpPr/>
            <p:nvPr/>
          </p:nvSpPr>
          <p:spPr>
            <a:xfrm>
              <a:off x="3425571" y="1474851"/>
              <a:ext cx="586740" cy="461010"/>
            </a:xfrm>
            <a:prstGeom prst="roundRect">
              <a:avLst>
                <a:gd name="adj" fmla="val 14545"/>
              </a:avLst>
            </a:prstGeom>
            <a:solidFill>
              <a:srgbClr val="1768C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425571" y="1416177"/>
              <a:ext cx="586740" cy="486156"/>
            </a:xfrm>
            <a:custGeom>
              <a:avLst/>
              <a:gdLst/>
              <a:ahLst/>
              <a:cxnLst/>
              <a:rect l="l" t="t" r="r" b="b"/>
              <a:pathLst>
                <a:path w="586740" h="486156">
                  <a:moveTo>
                    <a:pt x="83820" y="0"/>
                  </a:moveTo>
                  <a:lnTo>
                    <a:pt x="310134" y="0"/>
                  </a:lnTo>
                  <a:lnTo>
                    <a:pt x="385572" y="83820"/>
                  </a:lnTo>
                  <a:lnTo>
                    <a:pt x="586740" y="83820"/>
                  </a:lnTo>
                  <a:lnTo>
                    <a:pt x="586740" y="486156"/>
                  </a:lnTo>
                  <a:lnTo>
                    <a:pt x="0" y="486156"/>
                  </a:lnTo>
                  <a:lnTo>
                    <a:pt x="0" y="58674"/>
                  </a:lnTo>
                  <a:close/>
                </a:path>
              </a:pathLst>
            </a:custGeom>
            <a:solidFill>
              <a:srgbClr val="79B2F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09975" y="1323975"/>
              <a:ext cx="368808" cy="469392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764">
              <a:solidFill>
                <a:srgbClr val="A9C9E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677031" y="1424559"/>
              <a:ext cx="226314" cy="9525"/>
            </a:xfrm>
            <a:custGeom>
              <a:avLst/>
              <a:gdLst/>
              <a:ahLst/>
              <a:cxnLst/>
              <a:rect l="l" t="t" r="r" b="b"/>
              <a:pathLst>
                <a:path w="226314" h="9525">
                  <a:moveTo>
                    <a:pt x="0" y="0"/>
                  </a:moveTo>
                  <a:lnTo>
                    <a:pt x="226314" y="0"/>
                  </a:lnTo>
                </a:path>
              </a:pathLst>
            </a:custGeom>
            <a:noFill/>
            <a:ln w="25146">
              <a:solidFill>
                <a:srgbClr val="8AAFD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677031" y="1516761"/>
              <a:ext cx="226314" cy="9525"/>
            </a:xfrm>
            <a:custGeom>
              <a:avLst/>
              <a:gdLst/>
              <a:ahLst/>
              <a:cxnLst/>
              <a:rect l="l" t="t" r="r" b="b"/>
              <a:pathLst>
                <a:path w="226314" h="9525">
                  <a:moveTo>
                    <a:pt x="0" y="0"/>
                  </a:moveTo>
                  <a:lnTo>
                    <a:pt x="226314" y="0"/>
                  </a:lnTo>
                </a:path>
              </a:pathLst>
            </a:custGeom>
            <a:noFill/>
            <a:ln w="25146">
              <a:solidFill>
                <a:srgbClr val="8AAFD6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4174998" y="13196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单次涉及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62806" y="1546384"/>
            <a:ext cx="323432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7992" y="17973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类文件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395085" y="1332357"/>
            <a:ext cx="796290" cy="628650"/>
            <a:chOff x="6395085" y="1332357"/>
            <a:chExt cx="796290" cy="628650"/>
          </a:xfrm>
        </p:grpSpPr>
        <p:sp>
          <p:nvSpPr>
            <p:cNvPr id="27" name="Freeform 27"/>
            <p:cNvSpPr/>
            <p:nvPr/>
          </p:nvSpPr>
          <p:spPr>
            <a:xfrm>
              <a:off x="6395085" y="1684401"/>
              <a:ext cx="720852" cy="276606"/>
            </a:xfrm>
            <a:custGeom>
              <a:avLst/>
              <a:gdLst/>
              <a:ahLst/>
              <a:cxnLst/>
              <a:rect l="l" t="t" r="r" b="b"/>
              <a:pathLst>
                <a:path w="720852" h="276606">
                  <a:moveTo>
                    <a:pt x="0" y="159258"/>
                  </a:moveTo>
                  <a:lnTo>
                    <a:pt x="393954" y="276606"/>
                  </a:lnTo>
                  <a:lnTo>
                    <a:pt x="720852" y="108966"/>
                  </a:lnTo>
                  <a:lnTo>
                    <a:pt x="326898" y="0"/>
                  </a:lnTo>
                  <a:close/>
                </a:path>
              </a:pathLst>
            </a:custGeom>
            <a:solidFill>
              <a:srgbClr val="8CBDF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420231" y="1567053"/>
              <a:ext cx="720852" cy="276606"/>
            </a:xfrm>
            <a:custGeom>
              <a:avLst/>
              <a:gdLst/>
              <a:ahLst/>
              <a:cxnLst/>
              <a:rect l="l" t="t" r="r" b="b"/>
              <a:pathLst>
                <a:path w="720852" h="276606">
                  <a:moveTo>
                    <a:pt x="0" y="159258"/>
                  </a:moveTo>
                  <a:lnTo>
                    <a:pt x="393954" y="276606"/>
                  </a:lnTo>
                  <a:lnTo>
                    <a:pt x="720852" y="108966"/>
                  </a:lnTo>
                  <a:lnTo>
                    <a:pt x="326898" y="0"/>
                  </a:lnTo>
                  <a:close/>
                </a:path>
              </a:pathLst>
            </a:custGeom>
            <a:solidFill>
              <a:srgbClr val="A7CDF6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445377" y="1449705"/>
              <a:ext cx="720852" cy="276606"/>
            </a:xfrm>
            <a:custGeom>
              <a:avLst/>
              <a:gdLst/>
              <a:ahLst/>
              <a:cxnLst/>
              <a:rect l="l" t="t" r="r" b="b"/>
              <a:pathLst>
                <a:path w="720852" h="276606">
                  <a:moveTo>
                    <a:pt x="0" y="159258"/>
                  </a:moveTo>
                  <a:lnTo>
                    <a:pt x="393954" y="276606"/>
                  </a:lnTo>
                  <a:lnTo>
                    <a:pt x="720852" y="108966"/>
                  </a:lnTo>
                  <a:lnTo>
                    <a:pt x="326898" y="0"/>
                  </a:lnTo>
                  <a:close/>
                </a:path>
              </a:pathLst>
            </a:custGeom>
            <a:solidFill>
              <a:srgbClr val="C2DDF9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70523" y="1332357"/>
              <a:ext cx="720852" cy="276606"/>
            </a:xfrm>
            <a:custGeom>
              <a:avLst/>
              <a:gdLst/>
              <a:ahLst/>
              <a:cxnLst/>
              <a:rect l="l" t="t" r="r" b="b"/>
              <a:pathLst>
                <a:path w="720852" h="276606">
                  <a:moveTo>
                    <a:pt x="0" y="159258"/>
                  </a:moveTo>
                  <a:lnTo>
                    <a:pt x="393954" y="276606"/>
                  </a:lnTo>
                  <a:lnTo>
                    <a:pt x="720852" y="108966"/>
                  </a:lnTo>
                  <a:lnTo>
                    <a:pt x="326898" y="0"/>
                  </a:lnTo>
                  <a:close/>
                </a:path>
              </a:pathLst>
            </a:custGeom>
            <a:solidFill>
              <a:srgbClr val="FFFFFF"/>
            </a:solidFill>
            <a:ln w="12573">
              <a:solidFill>
                <a:srgbClr val="A8C7EA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146798" y="131968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附件超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4606" y="1546384"/>
            <a:ext cx="895621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37017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余页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02699" y="1323975"/>
            <a:ext cx="486156" cy="637032"/>
            <a:chOff x="9402699" y="1323975"/>
            <a:chExt cx="486156" cy="637032"/>
          </a:xfrm>
        </p:grpSpPr>
        <p:sp>
          <p:nvSpPr>
            <p:cNvPr id="35" name="Rectangle 35"/>
            <p:cNvSpPr/>
            <p:nvPr/>
          </p:nvSpPr>
          <p:spPr>
            <a:xfrm>
              <a:off x="9402699" y="1349121"/>
              <a:ext cx="486156" cy="611886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5146">
              <a:solidFill>
                <a:srgbClr val="0753B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36811" y="1323975"/>
              <a:ext cx="226314" cy="100584"/>
            </a:xfrm>
            <a:prstGeom prst="roundRect">
              <a:avLst>
                <a:gd name="adj" fmla="val 41667"/>
              </a:avLst>
            </a:prstGeom>
            <a:solidFill>
              <a:srgbClr val="6DAAF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511665" y="1474851"/>
              <a:ext cx="134112" cy="402336"/>
            </a:xfrm>
            <a:custGeom>
              <a:avLst/>
              <a:gdLst/>
              <a:ahLst/>
              <a:cxnLst/>
              <a:rect l="l" t="t" r="r" b="b"/>
              <a:pathLst>
                <a:path w="134112" h="402336">
                  <a:moveTo>
                    <a:pt x="0" y="50292"/>
                  </a:moveTo>
                  <a:lnTo>
                    <a:pt x="50292" y="100584"/>
                  </a:lnTo>
                  <a:lnTo>
                    <a:pt x="134112" y="0"/>
                  </a:lnTo>
                  <a:moveTo>
                    <a:pt x="0" y="201168"/>
                  </a:moveTo>
                  <a:lnTo>
                    <a:pt x="50292" y="251460"/>
                  </a:lnTo>
                  <a:lnTo>
                    <a:pt x="134112" y="150876"/>
                  </a:lnTo>
                  <a:moveTo>
                    <a:pt x="0" y="352044"/>
                  </a:moveTo>
                  <a:lnTo>
                    <a:pt x="50292" y="402336"/>
                  </a:lnTo>
                  <a:lnTo>
                    <a:pt x="134112" y="301752"/>
                  </a:lnTo>
                </a:path>
              </a:pathLst>
            </a:custGeom>
            <a:noFill/>
            <a:ln w="25146" cap="rnd">
              <a:solidFill>
                <a:srgbClr val="0753B8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9704451" y="1541907"/>
              <a:ext cx="117348" cy="9525"/>
            </a:xfrm>
            <a:custGeom>
              <a:avLst/>
              <a:gdLst/>
              <a:ahLst/>
              <a:cxnLst/>
              <a:rect l="l" t="t" r="r" b="b"/>
              <a:pathLst>
                <a:path w="117348" h="9525">
                  <a:moveTo>
                    <a:pt x="0" y="0"/>
                  </a:moveTo>
                  <a:lnTo>
                    <a:pt x="117348" y="0"/>
                  </a:lnTo>
                </a:path>
              </a:pathLst>
            </a:custGeom>
            <a:noFill/>
            <a:ln w="25146">
              <a:solidFill>
                <a:srgbClr val="8AAFD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704451" y="1692783"/>
              <a:ext cx="117348" cy="9525"/>
            </a:xfrm>
            <a:custGeom>
              <a:avLst/>
              <a:gdLst/>
              <a:ahLst/>
              <a:cxnLst/>
              <a:rect l="l" t="t" r="r" b="b"/>
              <a:pathLst>
                <a:path w="117348" h="9525">
                  <a:moveTo>
                    <a:pt x="0" y="0"/>
                  </a:moveTo>
                  <a:lnTo>
                    <a:pt x="117348" y="0"/>
                  </a:lnTo>
                </a:path>
              </a:pathLst>
            </a:custGeom>
            <a:noFill/>
            <a:ln w="25146">
              <a:solidFill>
                <a:srgbClr val="8AAF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704451" y="1843659"/>
              <a:ext cx="117348" cy="9525"/>
            </a:xfrm>
            <a:custGeom>
              <a:avLst/>
              <a:gdLst/>
              <a:ahLst/>
              <a:cxnLst/>
              <a:rect l="l" t="t" r="r" b="b"/>
              <a:pathLst>
                <a:path w="117348" h="9525">
                  <a:moveTo>
                    <a:pt x="0" y="0"/>
                  </a:moveTo>
                  <a:lnTo>
                    <a:pt x="117348" y="0"/>
                  </a:lnTo>
                </a:path>
              </a:pathLst>
            </a:custGeom>
            <a:noFill/>
            <a:ln w="25146">
              <a:solidFill>
                <a:srgbClr val="8AAFD6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0118217" y="10353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需核对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6025" y="1248728"/>
            <a:ext cx="129753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100+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28273" y="1548289"/>
            <a:ext cx="7366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合规节点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0955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6" name="Rectangle 46"/>
          <p:cNvSpPr/>
          <p:nvPr/>
        </p:nvSpPr>
        <p:spPr>
          <a:xfrm>
            <a:off x="621030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7" name="Rectangle 47"/>
          <p:cNvSpPr/>
          <p:nvPr/>
        </p:nvSpPr>
        <p:spPr>
          <a:xfrm>
            <a:off x="20955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8" name="Rectangle 48"/>
          <p:cNvSpPr/>
          <p:nvPr/>
        </p:nvSpPr>
        <p:spPr>
          <a:xfrm>
            <a:off x="621030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60" name="Group 60"/>
          <p:cNvGrpSpPr/>
          <p:nvPr/>
        </p:nvGrpSpPr>
        <p:grpSpPr>
          <a:xfrm>
            <a:off x="478512" y="2324100"/>
            <a:ext cx="5217438" cy="1341120"/>
            <a:chOff x="478512" y="2324100"/>
            <a:chExt cx="5217438" cy="134112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512" y="2324100"/>
              <a:ext cx="1233726" cy="1257300"/>
            </a:xfrm>
            <a:prstGeom prst="rect">
              <a:avLst/>
            </a:prstGeom>
          </p:spPr>
        </p:pic>
        <p:sp>
          <p:nvSpPr>
            <p:cNvPr id="50" name="Line 50"/>
            <p:cNvSpPr/>
            <p:nvPr/>
          </p:nvSpPr>
          <p:spPr>
            <a:xfrm>
              <a:off x="1905000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95500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158867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7663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痛点一｜效率低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2114550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172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单批次人工审查约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97630" y="29241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3 小时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2114550" y="32385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10769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年度合规审查投入高达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92880" y="33718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7.5 万人天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460233" y="2324100"/>
            <a:ext cx="5236467" cy="1354265"/>
            <a:chOff x="6460233" y="2324100"/>
            <a:chExt cx="5236467" cy="1354265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0233" y="2324100"/>
              <a:ext cx="1328934" cy="1257300"/>
            </a:xfrm>
            <a:prstGeom prst="rect">
              <a:avLst/>
            </a:prstGeom>
          </p:spPr>
        </p:pic>
        <p:sp>
          <p:nvSpPr>
            <p:cNvPr id="62" name="Line 62"/>
            <p:cNvSpPr/>
            <p:nvPr/>
          </p:nvSpPr>
          <p:spPr>
            <a:xfrm>
              <a:off x="7934325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24825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8192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66988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痛点二｜门槛高</a:t>
              </a:r>
            </a:p>
          </p:txBody>
        </p:sp>
        <p:sp>
          <p:nvSpPr>
            <p:cNvPr id="66" name="Polygon 66"/>
            <p:cNvSpPr/>
            <p:nvPr/>
          </p:nvSpPr>
          <p:spPr>
            <a:xfrm>
              <a:off x="8143875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46567" y="2940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需对照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55405" y="29241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 余部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1017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法律法规和行业标准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143875" y="32385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37017" y="33880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人工遗漏与出错率约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16643" y="3355658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9000" y="4152900"/>
            <a:ext cx="5206950" cy="1470851"/>
            <a:chOff x="489000" y="4152900"/>
            <a:chExt cx="5206950" cy="1470851"/>
          </a:xfrm>
        </p:grpSpPr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000" y="4152900"/>
              <a:ext cx="1212750" cy="1257300"/>
            </a:xfrm>
            <a:prstGeom prst="rect">
              <a:avLst/>
            </a:prstGeom>
          </p:spPr>
        </p:pic>
        <p:sp>
          <p:nvSpPr>
            <p:cNvPr id="75" name="Line 75"/>
            <p:cNvSpPr/>
            <p:nvPr/>
          </p:nvSpPr>
          <p:spPr>
            <a:xfrm>
              <a:off x="1905000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095500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158867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637663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痛点三｜识别难</a:t>
              </a:r>
            </a:p>
          </p:txBody>
        </p:sp>
        <p:sp>
          <p:nvSpPr>
            <p:cNvPr id="79" name="Polygon 79"/>
            <p:cNvSpPr/>
            <p:nvPr/>
          </p:nvSpPr>
          <p:spPr>
            <a:xfrm>
              <a:off x="2114550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317242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公告、证书、清单和附件等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36186" y="47420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多格式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3172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异构数据难以统一解析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2114550" y="52197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107692" y="5359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隐性风险与跨文件异常难发现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391275" y="4152900"/>
            <a:ext cx="5305425" cy="1477423"/>
            <a:chOff x="6391275" y="4152900"/>
            <a:chExt cx="5305425" cy="1477423"/>
          </a:xfrm>
        </p:grpSpPr>
        <p:pic>
          <p:nvPicPr>
            <p:cNvPr id="86" name="Image 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1275" y="4245492"/>
              <a:ext cx="1466850" cy="1072116"/>
            </a:xfrm>
            <a:prstGeom prst="rect">
              <a:avLst/>
            </a:prstGeom>
          </p:spPr>
        </p:pic>
        <p:sp>
          <p:nvSpPr>
            <p:cNvPr id="87" name="Line 87"/>
            <p:cNvSpPr/>
            <p:nvPr/>
          </p:nvSpPr>
          <p:spPr>
            <a:xfrm>
              <a:off x="7934325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124825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88192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66988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痛点四｜防控晚</a:t>
              </a:r>
            </a:p>
          </p:txBody>
        </p:sp>
        <p:sp>
          <p:nvSpPr>
            <p:cNvPr id="91" name="Polygon 91"/>
            <p:cNvSpPr/>
            <p:nvPr/>
          </p:nvSpPr>
          <p:spPr>
            <a:xfrm>
              <a:off x="8143875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346567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围标串标、资质造假等问题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346567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往往在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55786" y="4980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采购完成后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18192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才暴露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8143875" y="52197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137017" y="5359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整改、审计与追责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41586" y="53516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成本高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09550" y="5829300"/>
            <a:ext cx="11772900" cy="781050"/>
            <a:chOff x="209550" y="5829300"/>
            <a:chExt cx="11772900" cy="781050"/>
          </a:xfrm>
        </p:grpSpPr>
        <p:sp>
          <p:nvSpPr>
            <p:cNvPr id="100" name="Rectangle 100"/>
            <p:cNvSpPr/>
            <p:nvPr/>
          </p:nvSpPr>
          <p:spPr>
            <a:xfrm>
              <a:off x="209550" y="5829300"/>
              <a:ext cx="11772900" cy="781050"/>
            </a:xfrm>
            <a:prstGeom prst="roundRect">
              <a:avLst>
                <a:gd name="adj" fmla="val 21951"/>
              </a:avLst>
            </a:prstGeom>
            <a:gradFill>
              <a:gsLst>
                <a:gs pos="0">
                  <a:srgbClr val="EDF5FF"/>
                </a:gs>
                <a:gs pos="72000">
                  <a:srgbClr val="F9FBFF"/>
                </a:gs>
                <a:gs pos="100000">
                  <a:srgbClr val="FFF0E5"/>
                </a:gs>
              </a:gsLst>
              <a:lin ang="0" scaled="1"/>
            </a:gradFill>
            <a:ln w="14288">
              <a:solidFill>
                <a:srgbClr val="B9D7FA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523875" y="5953125"/>
              <a:ext cx="533400" cy="5334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75ADEF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638175" y="6067425"/>
              <a:ext cx="304800" cy="304800"/>
            </a:xfrm>
            <a:prstGeom prst="ellipse">
              <a:avLst/>
            </a:prstGeom>
            <a:noFill/>
            <a:ln w="38100">
              <a:solidFill>
                <a:srgbClr val="0753B8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742950" y="6172200"/>
              <a:ext cx="95250" cy="952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4" name="Line 104"/>
            <p:cNvSpPr/>
            <p:nvPr/>
          </p:nvSpPr>
          <p:spPr>
            <a:xfrm>
              <a:off x="790575" y="6048375"/>
              <a:ext cx="200025" cy="171450"/>
            </a:xfrm>
            <a:custGeom>
              <a:avLst/>
              <a:gdLst/>
              <a:ahLst/>
              <a:cxnLst/>
              <a:rect l="l" t="t" r="r" b="b"/>
              <a:pathLst>
                <a:path w="200025" h="171450">
                  <a:moveTo>
                    <a:pt x="0" y="171450"/>
                  </a:moveTo>
                  <a:lnTo>
                    <a:pt x="200025" y="0"/>
                  </a:ln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200150" y="599122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9CB9D9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465326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人工审查模式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246501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无法同时满足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151120" y="6062662"/>
              <a:ext cx="4825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“规模、速度、准确、实时、追溯”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991725" y="61031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五项监管要求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9882188" y="6683216"/>
            <a:ext cx="21069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F7F94"/>
                </a:solidFill>
                <a:latin typeface="Microsoft YaHei"/>
                <a:ea typeface="Microsoft YaHei"/>
                <a:cs typeface="Microsoft YaHei"/>
              </a:rPr>
              <a:t>数据来源：项目申报材料，统计周期待补充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03｜监管对象：四大风险贯穿交易全流程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监管的不只是单份文件合规，而是跨阶段、跨主体、跨文件的风险证据链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61950" y="1190625"/>
            <a:ext cx="11468100" cy="2190750"/>
            <a:chOff x="361950" y="1190625"/>
            <a:chExt cx="11468100" cy="2190750"/>
          </a:xfrm>
        </p:grpSpPr>
        <p:sp>
          <p:nvSpPr>
            <p:cNvPr id="6" name="Rectangle 6"/>
            <p:cNvSpPr/>
            <p:nvPr/>
          </p:nvSpPr>
          <p:spPr>
            <a:xfrm>
              <a:off x="3619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375" y="1343510"/>
              <a:ext cx="1238250" cy="92295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830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围标串标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1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错误雷同｜异常一致｜主体关系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619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766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0025" y="1308058"/>
              <a:ext cx="1238250" cy="993859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40976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虚假投标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17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资质失效｜附件造假｜信息冲突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766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3738" y="1304925"/>
              <a:ext cx="1000125" cy="100012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70123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暗箱操作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64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排斥条款｜特定要求｜过程偏差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912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059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3317" y="1304925"/>
              <a:ext cx="950265" cy="100012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9269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履约违约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310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合同偏离｜承诺偏差｜履约风险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059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59511" y="3903821"/>
            <a:ext cx="10474071" cy="2077879"/>
            <a:chOff x="659511" y="3903821"/>
            <a:chExt cx="10474071" cy="2077879"/>
          </a:xfrm>
        </p:grpSpPr>
        <p:sp>
          <p:nvSpPr>
            <p:cNvPr id="27" name="TextBox 27"/>
            <p:cNvSpPr txBox="1"/>
            <p:nvPr/>
          </p:nvSpPr>
          <p:spPr>
            <a:xfrm>
              <a:off x="659511" y="39038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五阶段业务主轴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762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76200" cap="rnd">
              <a:solidFill>
                <a:srgbClr val="78AEE9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2001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814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62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3439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34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60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72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8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97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10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4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3966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209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929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619250" y="5543550"/>
              <a:ext cx="8953500" cy="4381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99256" y="5683568"/>
              <a:ext cx="4593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证据维度：主体｜文件｜行为｜关系｜时间｜处置记录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352733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7B8CA1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04｜解决思路：构建立体穿透监管闭环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以业务流程为轴、数据要素为底、AI 与规则为引擎，形成端到端监管闭环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924300" y="1171575"/>
            <a:ext cx="4343400" cy="4933950"/>
            <a:chOff x="3924300" y="1171575"/>
            <a:chExt cx="4343400" cy="4933950"/>
          </a:xfrm>
        </p:grpSpPr>
        <p:sp>
          <p:nvSpPr>
            <p:cNvPr id="6" name="Ellipse 6"/>
            <p:cNvSpPr/>
            <p:nvPr/>
          </p:nvSpPr>
          <p:spPr>
            <a:xfrm>
              <a:off x="4286250" y="1828800"/>
              <a:ext cx="3619500" cy="3619500"/>
            </a:xfrm>
            <a:prstGeom prst="ellipse">
              <a:avLst/>
            </a:prstGeom>
            <a:solidFill>
              <a:srgbClr val="FFFFFF"/>
            </a:solidFill>
            <a:ln w="228600">
              <a:solidFill>
                <a:srgbClr val="A9C9E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000625" y="2543175"/>
              <a:ext cx="2190750" cy="2190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4353" y="3273266"/>
              <a:ext cx="166329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56566" y="3748564"/>
              <a:ext cx="1678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AI + 规则 + 数据要素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600700" y="1171575"/>
              <a:ext cx="990600" cy="9906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277100" y="2171700"/>
              <a:ext cx="990600" cy="9906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277100" y="4114800"/>
              <a:ext cx="990600" cy="99060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600700" y="5114925"/>
              <a:ext cx="990600" cy="9906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24300" y="4114800"/>
              <a:ext cx="990600" cy="9906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924300" y="2171700"/>
              <a:ext cx="990600" cy="990600"/>
            </a:xfrm>
            <a:prstGeom prst="ellipse">
              <a:avLst/>
            </a:prstGeom>
            <a:solidFill>
              <a:srgbClr val="398DD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88043" y="15701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44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44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8043" y="551354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116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16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反馈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171950" y="1743075"/>
              <a:ext cx="3876675" cy="3781425"/>
            </a:xfrm>
            <a:custGeom>
              <a:avLst/>
              <a:gdLst/>
              <a:ahLst/>
              <a:cxnLst/>
              <a:rect l="l" t="t" r="r" b="b"/>
              <a:pathLst>
                <a:path w="3876675" h="3781425">
                  <a:moveTo>
                    <a:pt x="2400300" y="0"/>
                  </a:moveTo>
                  <a:cubicBezTo>
                    <a:pt x="2971800" y="123825"/>
                    <a:pt x="3352800" y="371475"/>
                    <a:pt x="3524250" y="619125"/>
                  </a:cubicBezTo>
                  <a:moveTo>
                    <a:pt x="3781425" y="1428750"/>
                  </a:moveTo>
                  <a:cubicBezTo>
                    <a:pt x="3876675" y="1876425"/>
                    <a:pt x="3829050" y="2228850"/>
                    <a:pt x="3686175" y="2505075"/>
                  </a:cubicBezTo>
                  <a:moveTo>
                    <a:pt x="3209925" y="3209925"/>
                  </a:moveTo>
                  <a:cubicBezTo>
                    <a:pt x="2838450" y="3562350"/>
                    <a:pt x="2466975" y="3733800"/>
                    <a:pt x="2257425" y="3781425"/>
                  </a:cubicBezTo>
                  <a:moveTo>
                    <a:pt x="1428750" y="3781425"/>
                  </a:moveTo>
                  <a:cubicBezTo>
                    <a:pt x="923925" y="3619500"/>
                    <a:pt x="600075" y="3419475"/>
                    <a:pt x="371475" y="3209925"/>
                  </a:cubicBezTo>
                  <a:moveTo>
                    <a:pt x="123825" y="2371725"/>
                  </a:moveTo>
                  <a:cubicBezTo>
                    <a:pt x="0" y="1933575"/>
                    <a:pt x="38100" y="1543050"/>
                    <a:pt x="152400" y="1333500"/>
                  </a:cubicBezTo>
                  <a:moveTo>
                    <a:pt x="504825" y="561975"/>
                  </a:moveTo>
                  <a:cubicBezTo>
                    <a:pt x="914400" y="228600"/>
                    <a:pt x="1333500" y="66675"/>
                    <a:pt x="1581150" y="9525"/>
                  </a:cubicBez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81000" y="1504950"/>
            <a:ext cx="2667000" cy="3467100"/>
            <a:chOff x="381000" y="1504950"/>
            <a:chExt cx="2667000" cy="3467100"/>
          </a:xfrm>
        </p:grpSpPr>
        <p:sp>
          <p:nvSpPr>
            <p:cNvPr id="24" name="Rectangle 24"/>
            <p:cNvSpPr/>
            <p:nvPr/>
          </p:nvSpPr>
          <p:spPr>
            <a:xfrm>
              <a:off x="381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业务贯通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需求、招标、投标、评标、履约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数据贯通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5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主体、文件、资质、信用、历史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504" y="44805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确定性规则 + 复杂语义模型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0" y="1504950"/>
            <a:ext cx="2667000" cy="3467100"/>
            <a:chOff x="9144000" y="1504950"/>
            <a:chExt cx="2667000" cy="3467100"/>
          </a:xfrm>
        </p:grpSpPr>
        <p:sp>
          <p:nvSpPr>
            <p:cNvPr id="34" name="Rectangle 34"/>
            <p:cNvSpPr/>
            <p:nvPr/>
          </p:nvSpPr>
          <p:spPr>
            <a:xfrm>
              <a:off x="9144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64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闭环处置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6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提示、复核、拦截、整改、解除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64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证据留痕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66504" y="3261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原始材料、依据、动作、日志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44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64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协同监管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6504" y="4480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交易、监管、信用、审计平台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19250" y="6153150"/>
            <a:ext cx="8953500" cy="400050"/>
            <a:chOff x="1619250" y="6153150"/>
            <a:chExt cx="8953500" cy="400050"/>
          </a:xfrm>
        </p:grpSpPr>
        <p:sp>
          <p:nvSpPr>
            <p:cNvPr id="44" name="Rectangle 44"/>
            <p:cNvSpPr/>
            <p:nvPr/>
          </p:nvSpPr>
          <p:spPr>
            <a:xfrm>
              <a:off x="1619250" y="6153150"/>
              <a:ext cx="8953500" cy="400050"/>
            </a:xfrm>
            <a:prstGeom prst="roundRect">
              <a:avLst>
                <a:gd name="adj" fmla="val 50000"/>
              </a:avLst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46978" y="6282214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业务流、数据流、风险流、证据流在同一监管体系中协同运行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05｜数据来源：多源数据形成监管基础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行业知识、历史文件、法规规则、实时交易和用户反馈共同构成事实基础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24375" y="1905000"/>
            <a:ext cx="3143250" cy="3143250"/>
            <a:chOff x="4524375" y="1905000"/>
            <a:chExt cx="3143250" cy="3143250"/>
          </a:xfrm>
        </p:grpSpPr>
        <p:sp>
          <p:nvSpPr>
            <p:cNvPr id="6" name="Ellipse 6"/>
            <p:cNvSpPr/>
            <p:nvPr/>
          </p:nvSpPr>
          <p:spPr>
            <a:xfrm>
              <a:off x="4524375" y="1905000"/>
              <a:ext cx="3143250" cy="3143250"/>
            </a:xfrm>
            <a:prstGeom prst="ellipse">
              <a:avLst/>
            </a:prstGeom>
            <a:solidFill>
              <a:srgbClr val="E8F3FF"/>
            </a:solidFill>
            <a:ln w="28575">
              <a:solidFill>
                <a:srgbClr val="74AEEA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5375" y="2177022"/>
              <a:ext cx="2381250" cy="1932456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578884" y="4278630"/>
              <a:ext cx="30342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监管数据湖 / 知识基座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59096" y="46805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57D"/>
                  </a:solidFill>
                  <a:latin typeface="Microsoft YaHei"/>
                  <a:ea typeface="Microsoft YaHei"/>
                  <a:cs typeface="Microsoft YaHei"/>
                </a:rPr>
                <a:t>统一接入｜主体对齐｜按权调用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1333500"/>
            <a:ext cx="3238500" cy="3952875"/>
            <a:chOff x="381000" y="1333500"/>
            <a:chExt cx="3238500" cy="3952875"/>
          </a:xfrm>
        </p:grpSpPr>
        <p:sp>
          <p:nvSpPr>
            <p:cNvPr id="11" name="Rectangle 11"/>
            <p:cNvSpPr/>
            <p:nvPr/>
          </p:nvSpPr>
          <p:spPr>
            <a:xfrm>
              <a:off x="3810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0743" y="15078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行业知识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5409" y="1851660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6B20"/>
                  </a:solidFill>
                  <a:latin typeface="Arial"/>
                  <a:ea typeface="Microsoft YaHei"/>
                  <a:cs typeface="Arial"/>
                </a:rPr>
                <a:t>4 亿+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8023" y="20054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建筑行业知识图谱节点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743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历史文件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171" y="3248978"/>
              <a:ext cx="1107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百万份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3273" y="3386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招标、投标及采购文件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07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法规规则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409" y="4613910"/>
              <a:ext cx="6571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20+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9898" y="47677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法规、标准与企业内控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0" y="1333500"/>
            <a:ext cx="3238500" cy="3952875"/>
            <a:chOff x="8572500" y="1333500"/>
            <a:chExt cx="3238500" cy="3952875"/>
          </a:xfrm>
        </p:grpSpPr>
        <p:sp>
          <p:nvSpPr>
            <p:cNvPr id="24" name="Rectangle 24"/>
            <p:cNvSpPr/>
            <p:nvPr/>
          </p:nvSpPr>
          <p:spPr>
            <a:xfrm>
              <a:off x="85725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02243" y="15078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实时交易数据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04148" y="19388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需求、公告、响应、评标、合同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02243" y="28889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主体与信用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4148" y="33199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供应商、人员、证书、信用与关系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725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022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用户反馈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04148" y="4701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复核、解除、整改和误判反馈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7750" y="5810250"/>
            <a:ext cx="10096500" cy="609600"/>
            <a:chOff x="1047750" y="5810250"/>
            <a:chExt cx="10096500" cy="609600"/>
          </a:xfrm>
        </p:grpSpPr>
        <p:sp>
          <p:nvSpPr>
            <p:cNvPr id="34" name="Rectangle 34"/>
            <p:cNvSpPr/>
            <p:nvPr/>
          </p:nvSpPr>
          <p:spPr>
            <a:xfrm>
              <a:off x="1047750" y="5810250"/>
              <a:ext cx="10096500" cy="6096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87878" y="593931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用于识别：资质核验｜排斥性条款｜异常一致性｜主体关系｜历史行为｜履约偏差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1952" y="620029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数据来源单位、更新频率、授权方式和统计时间点待补充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06｜数据要素：从原始数据到监管证据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治理、关联、知识化与场景调用，让分散数据成为可计算、可追溯的数据要素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333375" y="1333500"/>
            <a:ext cx="11525250" cy="2952750"/>
            <a:chOff x="333375" y="1333500"/>
            <a:chExt cx="11525250" cy="2952750"/>
          </a:xfrm>
        </p:grpSpPr>
        <p:sp>
          <p:nvSpPr>
            <p:cNvPr id="6" name="Rectangle 6"/>
            <p:cNvSpPr/>
            <p:nvPr/>
          </p:nvSpPr>
          <p:spPr>
            <a:xfrm>
              <a:off x="333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原始数据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1228" y="2518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文件｜交易｜主体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1228" y="28136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信用｜法规｜反馈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104900" y="315277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9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4288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146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967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治理加工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2478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接入｜清洗｜脱敏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2478" y="2556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标准化｜质量校验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1706" y="28613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主体对齐｜字段抽取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1706" y="3166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关系构建｜规则标签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4861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905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48101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95875" y="1333500"/>
              <a:ext cx="2000250" cy="2952750"/>
            </a:xfrm>
            <a:prstGeom prst="roundRect">
              <a:avLst>
                <a:gd name="adj" fmla="val 952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3561" y="1615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数据要素产品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4896" y="2167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主体画像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44896" y="2510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资质状态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44896" y="2853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历史行为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4896" y="3196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风险特征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4896" y="3539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法规条款</a:t>
              </a:r>
            </a:p>
          </p:txBody>
        </p:sp>
        <p:sp>
          <p:nvSpPr>
            <p:cNvPr id="29" name="Polygon 29"/>
            <p:cNvSpPr/>
            <p:nvPr/>
          </p:nvSpPr>
          <p:spPr>
            <a:xfrm>
              <a:off x="71913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771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592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场景调用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8066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规则引擎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58638" y="26422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模型 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8066" y="2985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预警引擎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2486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30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95726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58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0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证据回写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5456" y="25184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识别结论｜证据位置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25456" y="28136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处置结果｜用户反馈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10629900" y="3152775"/>
              <a:ext cx="457200" cy="457200"/>
            </a:xfrm>
            <a:prstGeom prst="ellipse">
              <a:avLst/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34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2500" y="4857750"/>
            <a:ext cx="10287000" cy="666750"/>
            <a:chOff x="952500" y="4857750"/>
            <a:chExt cx="10287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952500" y="4857750"/>
              <a:ext cx="10287000" cy="666750"/>
            </a:xfrm>
            <a:prstGeom prst="roundRect">
              <a:avLst>
                <a:gd name="adj" fmla="val 28571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46594" y="5081111"/>
              <a:ext cx="50988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数据 → 知识 → 模型 / 规则 → 应用 → 反馈 → 数据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03654" y="5947410"/>
            <a:ext cx="8583549" cy="234696"/>
            <a:chOff x="1803654" y="5947410"/>
            <a:chExt cx="8583549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1803654" y="5947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C536F"/>
                  </a:solidFill>
                  <a:latin typeface="Microsoft YaHei"/>
                  <a:ea typeface="Microsoft YaHei"/>
                  <a:cs typeface="Microsoft YaHei"/>
                </a:rPr>
                <a:t>数据安全：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60904" y="5947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脱敏｜权限控制｜最小必要使用｜操作留痕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2238" y="59716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实际能力以项目确认口径为准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07｜监管业务架构：一条业务链、三条贯通流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业务流推进交易，风险流推动处置，证据流保障审计，数据流按权支撑各节点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333375" y="1285875"/>
            <a:ext cx="11525250" cy="4476750"/>
            <a:chOff x="333375" y="1285875"/>
            <a:chExt cx="11525250" cy="447675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47675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9525">
              <a:solidFill>
                <a:srgbClr val="BDD3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1524000" cy="4476750"/>
            </a:xfrm>
            <a:prstGeom prst="roundRect">
              <a:avLst>
                <a:gd name="adj" fmla="val 1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857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BDD3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3375" y="21431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3375" y="30003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3375" y="38576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33375" y="47148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576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8578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581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858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058" y="16273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058" y="24845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058" y="33418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证据流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058" y="41990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971CC"/>
                  </a:solidFill>
                  <a:latin typeface="Microsoft YaHei"/>
                  <a:ea typeface="Microsoft YaHei"/>
                  <a:cs typeface="Microsoft YaHei"/>
                </a:rPr>
                <a:t>数据流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699" y="50563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监管角色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89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94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6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99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90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238375" y="1857375"/>
              <a:ext cx="9096375" cy="9525"/>
            </a:xfrm>
            <a:custGeom>
              <a:avLst/>
              <a:gdLst/>
              <a:ahLst/>
              <a:cxnLst/>
              <a:rect l="l" t="t" r="r" b="b"/>
              <a:pathLst>
                <a:path w="9096375" h="9525">
                  <a:moveTo>
                    <a:pt x="0" y="0"/>
                  </a:moveTo>
                  <a:lnTo>
                    <a:pt x="9096375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0753B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743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434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7437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7439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744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50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规则触发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04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041" y="25074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09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51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整改解除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381250" y="2809875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FF8A3D"/>
              </a:solidFill>
              <a:custDash>
                <a:ds d="250000" sp="175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69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7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特征命中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99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法规依据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702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操作日志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70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381250" y="3676650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7B61C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569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交易数据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697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法规规则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99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主体信用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702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历史行为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70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反馈结果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69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业务经办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97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合规人员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99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评标人员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702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审计人员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70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监管人员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400300" y="6115050"/>
            <a:ext cx="7415784" cy="225361"/>
            <a:chOff x="2400300" y="6115050"/>
            <a:chExt cx="7415784" cy="225361"/>
          </a:xfrm>
        </p:grpSpPr>
        <p:sp>
          <p:nvSpPr>
            <p:cNvPr id="56" name="Ellipse 56"/>
            <p:cNvSpPr/>
            <p:nvPr/>
          </p:nvSpPr>
          <p:spPr>
            <a:xfrm>
              <a:off x="2400300" y="6115050"/>
              <a:ext cx="152400" cy="1524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426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210050" y="6115050"/>
              <a:ext cx="152400" cy="1524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5236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处置完成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19800" y="6115050"/>
              <a:ext cx="152400" cy="1524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621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存证节点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43800" y="61350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横轴：招采阶段｜纵轴：监管贯通流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08｜系统技术架构：六层两体系支撑闭环监管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数据、智能、监管和业务协同分层建设，安全审计与运营治理横向贯穿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33375" y="1333500"/>
            <a:ext cx="1381125" cy="4619625"/>
            <a:chOff x="333375" y="1333500"/>
            <a:chExt cx="1381125" cy="46196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1381125" cy="4619625"/>
            </a:xfrm>
            <a:prstGeom prst="roundRect">
              <a:avLst>
                <a:gd name="adj" fmla="val 12414"/>
              </a:avLst>
            </a:prstGeom>
            <a:solidFill>
              <a:srgbClr val="0B4A9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41170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安全审计体系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1911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身份权限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1911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数据脱敏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911" y="3164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传输存储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911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操作日志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1911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存证归档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5" y="4723026"/>
              <a:ext cx="1000125" cy="698074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1952625" y="1333500"/>
            <a:ext cx="8286750" cy="4667250"/>
            <a:chOff x="1952625" y="1333500"/>
            <a:chExt cx="8286750" cy="4667250"/>
          </a:xfrm>
        </p:grpSpPr>
        <p:sp>
          <p:nvSpPr>
            <p:cNvPr id="15" name="Rectangle 15"/>
            <p:cNvSpPr/>
            <p:nvPr/>
          </p:nvSpPr>
          <p:spPr>
            <a:xfrm>
              <a:off x="1952625" y="13335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82749" y="15444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展现与协同层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4404" y="15849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风险看板｜预警中心｜核查工作台｜审计视图｜接口服务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52625" y="20574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82749" y="22683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业务应用层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4404" y="23088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F3FF"/>
                  </a:solidFill>
                  <a:latin typeface="Microsoft YaHei"/>
                  <a:ea typeface="Microsoft YaHei"/>
                  <a:cs typeface="Microsoft YaHei"/>
                </a:rPr>
                <a:t>公告审查｜资质核验｜异常一致性｜合同校验｜风险处置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52625" y="27813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82749" y="29922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监管引擎层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94404" y="3032760"/>
              <a:ext cx="4015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 + 模型编排 + 风险评分 + 预警引擎 + 证据链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52625" y="35052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54A0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82749" y="37161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智能能力层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94404" y="3756660"/>
              <a:ext cx="5073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多模态 OCR｜代码预处理｜领域大模型｜20+ Agent｜GEM｜Verifier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52625" y="42291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92C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82749" y="44400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数据与知识层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4404" y="44805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数据湖｜文档库｜知识图谱｜主体画像｜规则库｜指标库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52625" y="49530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D4E8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82749" y="51639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接入与交换层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4404" y="5204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交易平台｜监管平台｜信用平台｜供应商库｜法规库｜文件上传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43250" y="5676900"/>
              <a:ext cx="5905500" cy="3238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77156" y="57826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云原生基础设施｜中台化能力｜标准接口服务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29875" y="1333500"/>
            <a:ext cx="1428750" cy="4619625"/>
            <a:chOff x="10429875" y="1333500"/>
            <a:chExt cx="1428750" cy="4619625"/>
          </a:xfrm>
        </p:grpSpPr>
        <p:sp>
          <p:nvSpPr>
            <p:cNvPr id="36" name="Rectangle 36"/>
            <p:cNvSpPr/>
            <p:nvPr/>
          </p:nvSpPr>
          <p:spPr>
            <a:xfrm>
              <a:off x="10429875" y="1333500"/>
              <a:ext cx="1428750" cy="4619625"/>
            </a:xfrm>
            <a:prstGeom prst="roundRect">
              <a:avLst>
                <a:gd name="adj" fmla="val 12000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66245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运营治理体系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36986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规则版本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6986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模型评测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61599" y="3164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提示词管理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6986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反馈学习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36986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Microsoft YaHei"/>
                  <a:ea typeface="Microsoft YaHei"/>
                  <a:cs typeface="Microsoft YaHei"/>
                </a:rPr>
                <a:t>服务监控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30047" y="4619625"/>
              <a:ext cx="1028406" cy="952500"/>
            </a:xfrm>
            <a:prstGeom prst="rect">
              <a:avLst/>
            </a:prstGeom>
          </p:spPr>
        </p:pic>
      </p:grpSp>
      <p:sp>
        <p:nvSpPr>
          <p:cNvPr id="45" name="TextBox 45"/>
          <p:cNvSpPr txBox="1"/>
          <p:nvPr/>
        </p:nvSpPr>
        <p:spPr>
          <a:xfrm>
            <a:off x="9140762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实际部署方式、具体中间件及上线状态待项目确认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9566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09｜核心引擎：规则与 AI 双引擎协同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确定性问题交给规则，复杂语义交给 AI，以交叉验证提高准确性与可解释性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81000" y="1476375"/>
            <a:ext cx="11430000" cy="2667000"/>
            <a:chOff x="381000" y="1476375"/>
            <a:chExt cx="11430000" cy="2667000"/>
          </a:xfrm>
        </p:grpSpPr>
        <p:sp>
          <p:nvSpPr>
            <p:cNvPr id="6" name="Rectangle 6"/>
            <p:cNvSpPr/>
            <p:nvPr/>
          </p:nvSpPr>
          <p:spPr>
            <a:xfrm>
              <a:off x="381000" y="1714500"/>
              <a:ext cx="1762125" cy="2190750"/>
            </a:xfrm>
            <a:prstGeom prst="roundRect">
              <a:avLst>
                <a:gd name="adj" fmla="val 973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0728" y="19569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多格式输入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6809" y="2453164"/>
              <a:ext cx="1520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PDF｜Word｜Excel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569" y="27770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图片｜表格｜附件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769" y="3048000"/>
              <a:ext cx="689062" cy="714375"/>
            </a:xfrm>
            <a:prstGeom prst="rect">
              <a:avLst/>
            </a:prstGeom>
          </p:spPr>
        </p:pic>
        <p:sp>
          <p:nvSpPr>
            <p:cNvPr id="11" name="Polygon 11"/>
            <p:cNvSpPr/>
            <p:nvPr/>
          </p:nvSpPr>
          <p:spPr>
            <a:xfrm>
              <a:off x="2238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E7F2FF"/>
            </a:solidFill>
            <a:ln w="9525">
              <a:solidFill>
                <a:srgbClr val="AFCB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9103" y="17664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代码预处理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6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格式识别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66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文本抽取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66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表格定位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4947" y="3242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候选片段筛选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4524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7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6665" y="176641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52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法规条款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2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企业制度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947" y="29279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完整性与阈值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7757" y="3378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确定性检查</a:t>
              </a:r>
            </a:p>
          </p:txBody>
        </p:sp>
        <p:sp>
          <p:nvSpPr>
            <p:cNvPr id="25" name="Polygon 25"/>
            <p:cNvSpPr/>
            <p:nvPr/>
          </p:nvSpPr>
          <p:spPr>
            <a:xfrm>
              <a:off x="6810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3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29541" y="17664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大模型精解析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57719" y="2299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排斥性语义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7719" y="2613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跨附件关系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8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资质匹配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57719" y="3242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异常一致性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9096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29750" y="1714500"/>
              <a:ext cx="2381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52596" y="1956911"/>
              <a:ext cx="15355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Verifier 校验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5987" y="24422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知识图谱 + 规则库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68103" y="27565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业务约束交叉验证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31322" y="32832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风险结论 + 证据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4810125"/>
            <a:ext cx="10668000" cy="1143000"/>
            <a:chOff x="762000" y="4810125"/>
            <a:chExt cx="10668000" cy="1143000"/>
          </a:xfrm>
        </p:grpSpPr>
        <p:sp>
          <p:nvSpPr>
            <p:cNvPr id="39" name="Rectangle 39"/>
            <p:cNvSpPr/>
            <p:nvPr/>
          </p:nvSpPr>
          <p:spPr>
            <a:xfrm>
              <a:off x="7620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4385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89%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7048" y="55011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模型准确率｜口径待确认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7675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5860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42718" y="55011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推理耗时为通用模型的 10%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915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48187" y="4938236"/>
              <a:ext cx="1125127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85%+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01175" y="5501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业务解析准确率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10｜多模态多智能体：完成复杂核查任务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35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20+ 模型智能体通过任务规划和工具调用，将百页、多格式审查拆解为专业任务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476375"/>
            <a:ext cx="2381250" cy="3857625"/>
            <a:chOff x="381000" y="1476375"/>
            <a:chExt cx="2381250" cy="3857625"/>
          </a:xfrm>
        </p:grpSpPr>
        <p:sp>
          <p:nvSpPr>
            <p:cNvPr id="6" name="Rectangle 6"/>
            <p:cNvSpPr/>
            <p:nvPr/>
          </p:nvSpPr>
          <p:spPr>
            <a:xfrm>
              <a:off x="38100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918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复杂核查输入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31" y="2238375"/>
              <a:ext cx="1332188" cy="1381125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134364" y="3862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百页长文档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6882" y="4167664"/>
              <a:ext cx="2129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PDF / Word / Excel / 图片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894" y="4472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跨附件与历史信息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90875" y="1285875"/>
            <a:ext cx="5810250" cy="4333875"/>
            <a:chOff x="3190875" y="1285875"/>
            <a:chExt cx="5810250" cy="4333875"/>
          </a:xfrm>
        </p:grpSpPr>
        <p:sp>
          <p:nvSpPr>
            <p:cNvPr id="13" name="Rectangle 13"/>
            <p:cNvSpPr/>
            <p:nvPr/>
          </p:nvSpPr>
          <p:spPr>
            <a:xfrm>
              <a:off x="3190875" y="1285875"/>
              <a:ext cx="5810250" cy="4333875"/>
            </a:xfrm>
            <a:prstGeom prst="roundRect">
              <a:avLst>
                <a:gd name="adj" fmla="val 527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9988" y="1476375"/>
              <a:ext cx="2492024" cy="2000250"/>
            </a:xfrm>
            <a:prstGeom prst="rect">
              <a:avLst/>
            </a:prstGeom>
          </p:spPr>
        </p:pic>
        <p:sp>
          <p:nvSpPr>
            <p:cNvPr id="15" name="Ellipse 15"/>
            <p:cNvSpPr/>
            <p:nvPr/>
          </p:nvSpPr>
          <p:spPr>
            <a:xfrm>
              <a:off x="5572125" y="3114675"/>
              <a:ext cx="1047750" cy="1047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64327" y="3409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任务规划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5266" y="369951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CEEFF"/>
                  </a:solidFill>
                  <a:latin typeface="Arial"/>
                  <a:ea typeface="Arial"/>
                  <a:cs typeface="Arial"/>
                </a:rPr>
                <a:t>Agent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712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9723" y="372808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OCR / 解析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9137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2787" y="37280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知识图谱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8853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资质查询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9250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0662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规则调用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9137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278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文本比对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00062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500" y="0"/>
                  </a:moveTo>
                  <a:lnTo>
                    <a:pt x="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61987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0" y="0"/>
                  </a:moveTo>
                  <a:lnTo>
                    <a:pt x="57150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7148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104775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096000" y="41624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4293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0" y="0"/>
                  </a:moveTo>
                  <a:lnTo>
                    <a:pt x="104775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429750" y="1476375"/>
            <a:ext cx="2381250" cy="3857625"/>
            <a:chOff x="9429750" y="1476375"/>
            <a:chExt cx="2381250" cy="3857625"/>
          </a:xfrm>
        </p:grpSpPr>
        <p:sp>
          <p:nvSpPr>
            <p:cNvPr id="34" name="Rectangle 34"/>
            <p:cNvSpPr/>
            <p:nvPr/>
          </p:nvSpPr>
          <p:spPr>
            <a:xfrm>
              <a:off x="942975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20720" y="1758315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结构化核查报告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22860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52039" y="24626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风险等级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15500" y="29527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69271" y="3129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证据定位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36195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9271" y="37961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规则依据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15500" y="42862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69271" y="44629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建议动作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28750" y="5857875"/>
            <a:ext cx="9334500" cy="552450"/>
            <a:chOff x="1428750" y="5857875"/>
            <a:chExt cx="9334500" cy="552450"/>
          </a:xfrm>
        </p:grpSpPr>
        <p:sp>
          <p:nvSpPr>
            <p:cNvPr id="45" name="Rectangle 45"/>
            <p:cNvSpPr/>
            <p:nvPr/>
          </p:nvSpPr>
          <p:spPr>
            <a:xfrm>
              <a:off x="1428750" y="5857875"/>
              <a:ext cx="9334500" cy="552450"/>
            </a:xfrm>
            <a:prstGeom prst="roundRect">
              <a:avLst>
                <a:gd name="adj" fmla="val 3103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99185" y="6030754"/>
              <a:ext cx="79936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ReAct：推理 → 行动 → 观察 → 验证　｜　GEM 图记忆：试点期误判率下降 80%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11｜监管闭环：预警、核查、取证、处置全流程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每条风险线索转化为可核查、可处置、可反馈的监管任务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92086" y="2276475"/>
            <a:ext cx="10737152" cy="2152650"/>
            <a:chOff x="692086" y="2276475"/>
            <a:chExt cx="10737152" cy="2152650"/>
          </a:xfrm>
        </p:grpSpPr>
        <p:sp>
          <p:nvSpPr>
            <p:cNvPr id="6" name="Freeform 6"/>
            <p:cNvSpPr/>
            <p:nvPr/>
          </p:nvSpPr>
          <p:spPr>
            <a:xfrm>
              <a:off x="1285875" y="2809875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solidFill>
              <a:srgbClr val="000000"/>
            </a:solidFill>
            <a:ln w="95250" cap="rnd">
              <a:solidFill>
                <a:srgbClr val="A9C9EC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2276475"/>
              <a:ext cx="1066800" cy="1066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705100" y="2276475"/>
              <a:ext cx="1066800" cy="1066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610100" y="2276475"/>
              <a:ext cx="1066800" cy="1066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515100" y="2276475"/>
              <a:ext cx="1066800" cy="10668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20100" y="2276475"/>
              <a:ext cx="1066800" cy="10668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325100" y="2276475"/>
              <a:ext cx="1066800" cy="1066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2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3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预警拦截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3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4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证据固化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4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1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业务提交或节点操作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7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类型、置信度、影响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0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提示、复核或强拦截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原文、关联与依据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2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版本、时间、操作人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修改、解除或升级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04875" y="3286125"/>
              <a:ext cx="10477500" cy="1143000"/>
            </a:xfrm>
            <a:custGeom>
              <a:avLst/>
              <a:gdLst/>
              <a:ahLst/>
              <a:cxnLst/>
              <a:rect l="l" t="t" r="r" b="b"/>
              <a:pathLst>
                <a:path w="10477500" h="1143000">
                  <a:moveTo>
                    <a:pt x="10144125" y="0"/>
                  </a:moveTo>
                  <a:cubicBezTo>
                    <a:pt x="10477500" y="857250"/>
                    <a:pt x="9382125" y="1143000"/>
                    <a:pt x="5191125" y="1143000"/>
                  </a:cubicBezTo>
                  <a:cubicBezTo>
                    <a:pt x="1762125" y="1143000"/>
                    <a:pt x="0" y="952500"/>
                    <a:pt x="190500" y="142875"/>
                  </a:cubicBezTo>
                </a:path>
              </a:pathLst>
            </a:custGeom>
            <a:noFill/>
            <a:ln w="38100">
              <a:solidFill>
                <a:srgbClr val="42A96B"/>
              </a:solidFill>
              <a:custDash>
                <a:ds d="225000" sp="150000"/>
              </a:custDash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4810125"/>
            <a:ext cx="10096500" cy="1333500"/>
            <a:chOff x="1047750" y="4810125"/>
            <a:chExt cx="10096500" cy="1333500"/>
          </a:xfrm>
        </p:grpSpPr>
        <p:sp>
          <p:nvSpPr>
            <p:cNvPr id="33" name="Rectangle 33"/>
            <p:cNvSpPr/>
            <p:nvPr/>
          </p:nvSpPr>
          <p:spPr>
            <a:xfrm>
              <a:off x="1047750" y="4810125"/>
              <a:ext cx="10096500" cy="13335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4267" y="5016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责任泳道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811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77543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系统自动：触发、分级、预警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339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39868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业务人员：修改、补充、整改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96250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EE9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99780" y="5547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50B4"/>
                  </a:solidFill>
                  <a:latin typeface="Microsoft YaHei"/>
                  <a:ea typeface="Microsoft YaHei"/>
                  <a:cs typeface="Microsoft YaHei"/>
                </a:rPr>
                <a:t>合规 / 审计：核查、解除、升级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093136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风险等级、处置时限、升级规则和解除条件待补充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12｜存证审计：形成可验证的电子证据链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全过程留痕串联原始文件、识别结果、人工核查和处置结果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28625" y="1381125"/>
            <a:ext cx="7143750" cy="4476750"/>
            <a:chOff x="428625" y="1381125"/>
            <a:chExt cx="7143750" cy="44767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7143750" cy="44767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237" y="1623536"/>
              <a:ext cx="32157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风险事件 ID 串联全过程证据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242887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57150">
              <a:solidFill>
                <a:srgbClr val="9CC3E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2257425"/>
              <a:ext cx="342900" cy="3429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1550" y="2828925"/>
              <a:ext cx="342900" cy="3429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3400425"/>
              <a:ext cx="342900" cy="3429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1550" y="3971925"/>
              <a:ext cx="342900" cy="3429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4543425"/>
              <a:ext cx="342900" cy="3429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5114925"/>
              <a:ext cx="342900" cy="3429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7142" y="2349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5160" y="2374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摘要、版本、时间戳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142" y="29213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AI 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5160" y="29456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风险项、证据位置、服务版本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71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人工复核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85160" y="35171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访问、修改、核查意见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7142" y="4064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业务整改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5160" y="40886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处置动作、操作主体、结果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7142" y="46358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解除 / 升级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5160" y="4660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解除依据或调查任务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142" y="5207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5160" y="52316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按项目、主体、风险和时间检索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381125"/>
            <a:ext cx="3905250" cy="4476750"/>
            <a:chOff x="7905750" y="1381125"/>
            <a:chExt cx="39052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7905750" y="1381125"/>
              <a:ext cx="3905250" cy="4476750"/>
            </a:xfrm>
            <a:prstGeom prst="roundRect">
              <a:avLst>
                <a:gd name="adj" fmla="val 4878"/>
              </a:avLst>
            </a:prstGeom>
            <a:solidFill>
              <a:srgbClr val="E9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1625643"/>
              <a:ext cx="1619250" cy="1130215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8286750" y="295275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64880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日志审计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6785" y="33742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访问、修改、复核、导出、接口调用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86750" y="381000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4880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电子见证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42314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关键节点形成可查询、可验证记录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86750" y="4667250"/>
              <a:ext cx="3143250" cy="876300"/>
            </a:xfrm>
            <a:prstGeom prst="roundRect">
              <a:avLst>
                <a:gd name="adj" fmla="val 17391"/>
              </a:avLst>
            </a:prstGeom>
            <a:solidFill>
              <a:srgbClr val="F0E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4880" y="48101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B61C9"/>
                  </a:solidFill>
                  <a:latin typeface="Microsoft YaHei"/>
                  <a:ea typeface="Microsoft YaHei"/>
                  <a:cs typeface="Microsoft YaHei"/>
                </a:rPr>
                <a:t>区块链存证方案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6785" y="5117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4A77"/>
                  </a:solidFill>
                  <a:latin typeface="Microsoft YaHei"/>
                  <a:ea typeface="Microsoft YaHei"/>
                  <a:cs typeface="Microsoft YaHei"/>
                </a:rPr>
                <a:t>关键摘要、时间戳与状态不可篡改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7547" y="53620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是否已上线及采用何种链待确认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14500" y="6096000"/>
            <a:ext cx="8763000" cy="381000"/>
            <a:chOff x="1714500" y="6096000"/>
            <a:chExt cx="8763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1714500" y="6096000"/>
              <a:ext cx="8763000" cy="381000"/>
            </a:xfrm>
            <a:prstGeom prst="roundRect">
              <a:avLst>
                <a:gd name="adj" fmla="val 50000"/>
              </a:avLst>
            </a:prstGeom>
            <a:solidFill>
              <a:srgbClr val="E4F3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24001" y="6214110"/>
              <a:ext cx="6143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18A57"/>
                  </a:solidFill>
                  <a:latin typeface="Microsoft YaHei"/>
                  <a:ea typeface="Microsoft YaHei"/>
                  <a:cs typeface="Microsoft YaHei"/>
                </a:rPr>
                <a:t>已具备：全流程留痕　｜　待确认 / 规划：区块链、可信时间戳、第三方电子见证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4530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13｜业务能力：覆盖 5 大类 22 项合规解析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围绕公告、清单、资质、响应文件和合同，覆盖招采关键对象与业务节点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33375" y="1285875"/>
            <a:ext cx="11525250" cy="4762500"/>
            <a:chOff x="333375" y="1285875"/>
            <a:chExt cx="11525250" cy="476250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2190750" cy="5715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4285" y="1502092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能力域 / 业务阶段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241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910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2579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248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917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92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561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230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99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568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33375" y="1285875"/>
              <a:ext cx="11525250" cy="4762500"/>
            </a:xfrm>
            <a:custGeom>
              <a:avLst/>
              <a:gdLst/>
              <a:ahLst/>
              <a:cxnLst/>
              <a:rect l="l" t="t" r="r" b="b"/>
              <a:pathLst>
                <a:path w="11525250" h="4762500">
                  <a:moveTo>
                    <a:pt x="0" y="1143000"/>
                  </a:moveTo>
                  <a:lnTo>
                    <a:pt x="11525250" y="1143000"/>
                  </a:lnTo>
                  <a:moveTo>
                    <a:pt x="0" y="1714500"/>
                  </a:moveTo>
                  <a:lnTo>
                    <a:pt x="11525250" y="1714500"/>
                  </a:lnTo>
                  <a:moveTo>
                    <a:pt x="0" y="2286000"/>
                  </a:moveTo>
                  <a:lnTo>
                    <a:pt x="11525250" y="2286000"/>
                  </a:lnTo>
                  <a:moveTo>
                    <a:pt x="0" y="2857500"/>
                  </a:moveTo>
                  <a:lnTo>
                    <a:pt x="11525250" y="2857500"/>
                  </a:lnTo>
                  <a:moveTo>
                    <a:pt x="0" y="3429000"/>
                  </a:moveTo>
                  <a:lnTo>
                    <a:pt x="11525250" y="3429000"/>
                  </a:lnTo>
                  <a:moveTo>
                    <a:pt x="0" y="4000500"/>
                  </a:moveTo>
                  <a:lnTo>
                    <a:pt x="11525250" y="4000500"/>
                  </a:lnTo>
                  <a:moveTo>
                    <a:pt x="2190750" y="0"/>
                  </a:moveTo>
                  <a:lnTo>
                    <a:pt x="2190750" y="4762500"/>
                  </a:lnTo>
                  <a:moveTo>
                    <a:pt x="4057650" y="0"/>
                  </a:moveTo>
                  <a:lnTo>
                    <a:pt x="4057650" y="4762500"/>
                  </a:lnTo>
                  <a:moveTo>
                    <a:pt x="5924550" y="0"/>
                  </a:moveTo>
                  <a:lnTo>
                    <a:pt x="5924550" y="4762500"/>
                  </a:lnTo>
                  <a:moveTo>
                    <a:pt x="7791450" y="0"/>
                  </a:moveTo>
                  <a:lnTo>
                    <a:pt x="7791450" y="4762500"/>
                  </a:lnTo>
                  <a:moveTo>
                    <a:pt x="9658350" y="0"/>
                  </a:moveTo>
                  <a:lnTo>
                    <a:pt x="9658350" y="4762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7398" y="2100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清单与文件解析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7398" y="26722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公告与条款校验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398" y="3243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资质与附件核验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398" y="3815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一致性与异常识别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398" y="4386739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合同内容比对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779" y="4966335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自动核查 / 预警 / 拦截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20002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69539" y="2086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清单识别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5717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03864" y="2658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排斥性条款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3143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33413" y="32299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资质双向比对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37147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7913" y="3801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错误雷同识别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96500" y="4286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94264" y="4372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18A57"/>
                  </a:solidFill>
                  <a:latin typeface="Microsoft YaHei"/>
                  <a:ea typeface="Microsoft YaHei"/>
                  <a:cs typeface="Microsoft YaHei"/>
                </a:rPr>
                <a:t>合同校验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14625" y="5429250"/>
              <a:ext cx="6762750" cy="3810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57614" y="5539264"/>
              <a:ext cx="3676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总体覆盖：5 大类、22 子项｜完整清单待补充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14｜应用规模：已进入真实业务运行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面向中建招采业务形成规模化应用，支撑高频文件审查和实时风险处置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3375" y="1333500"/>
            <a:ext cx="11620500" cy="1762125"/>
            <a:chOff x="333375" y="1333500"/>
            <a:chExt cx="11620500" cy="17621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21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 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9414" y="22274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年均可审查采购文件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908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296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524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累计服务用户人次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48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50416" y="1499235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 万+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099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累计预警处置次数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05875" y="1333500"/>
              <a:ext cx="3048000" cy="1762125"/>
            </a:xfrm>
            <a:prstGeom prst="roundRect">
              <a:avLst>
                <a:gd name="adj" fmla="val 10811"/>
              </a:avLst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1696" y="1685449"/>
              <a:ext cx="796357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32595" y="2235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8F8EE"/>
                  </a:solidFill>
                  <a:latin typeface="Microsoft YaHei"/>
                  <a:ea typeface="Microsoft YaHei"/>
                  <a:cs typeface="Microsoft YaHei"/>
                </a:rPr>
                <a:t>纳入智能化采购率考核指标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714750"/>
            <a:ext cx="10991367" cy="1905000"/>
            <a:chOff x="762000" y="3714750"/>
            <a:chExt cx="10991367" cy="1905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714750"/>
              <a:ext cx="106680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30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应用对象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1773" y="43867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集团采购业务、供应商与业务经办人员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77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业务环节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89273" y="43867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公告、资质、响应、评标、合同履约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使用角色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677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业务、合规、评标、审计、监管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649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运行方式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802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平台嵌入、节点触发、闭环处置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9053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4E1E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47516" y="514731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D7E93"/>
                  </a:solidFill>
                  <a:latin typeface="Microsoft YaHei"/>
                  <a:ea typeface="Microsoft YaHei"/>
                  <a:cs typeface="Microsoft YaHei"/>
                </a:rPr>
                <a:t>具体上线时间、覆盖单位、区域、项目数量和活跃用户口径待补充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15｜运行成效：风险在关键节点被实时阻断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从辅助审查走向实时防控，形成高风险拦截与处置解除机制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76250" y="1428750"/>
            <a:ext cx="4572000" cy="4238625"/>
            <a:chOff x="476250" y="1428750"/>
            <a:chExt cx="4572000" cy="4238625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4572000" cy="4238625"/>
            </a:xfrm>
            <a:prstGeom prst="roundRect">
              <a:avLst>
                <a:gd name="adj" fmla="val 5393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61071" y="20116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累计预警处置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6609" y="2647950"/>
              <a:ext cx="309128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 万+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4082" y="4163854"/>
              <a:ext cx="30363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系统已从“看得见”走向“拦得住”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3500" y="4810125"/>
              <a:ext cx="2857500" cy="457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 w="9525">
              <a:solidFill>
                <a:srgbClr val="A9D1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5313" y="4959668"/>
              <a:ext cx="2713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预警｜核查｜整改｜解除 / 升级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0" y="1428750"/>
            <a:ext cx="6000750" cy="4238625"/>
            <a:chOff x="5715000" y="1428750"/>
            <a:chExt cx="6000750" cy="4238625"/>
          </a:xfrm>
        </p:grpSpPr>
        <p:sp>
          <p:nvSpPr>
            <p:cNvPr id="13" name="Rectangle 13"/>
            <p:cNvSpPr/>
            <p:nvPr/>
          </p:nvSpPr>
          <p:spPr>
            <a:xfrm>
              <a:off x="5715000" y="142875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72200" y="153162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42A96B"/>
                  </a:solidFill>
                  <a:latin typeface="Arial"/>
                  <a:ea typeface="Arial"/>
                  <a:cs typeface="Arial"/>
                </a:rPr>
                <a:t>98.35%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4392" y="21878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预警解除率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285750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72200" y="296037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57.75%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4392" y="3616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高风险业务直接拦截占比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4286250"/>
              <a:ext cx="6000750" cy="1381125"/>
            </a:xfrm>
            <a:prstGeom prst="roundRect">
              <a:avLst>
                <a:gd name="adj" fmla="val 13793"/>
              </a:avLst>
            </a:prstGeom>
            <a:solidFill>
              <a:srgbClr val="FFF4EB"/>
            </a:solidFill>
            <a:ln w="9525">
              <a:solidFill>
                <a:srgbClr val="FFD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2962" y="4469130"/>
              <a:ext cx="32424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20"/>
                  </a:solidFill>
                  <a:latin typeface="Arial"/>
                  <a:ea typeface="Microsoft YaHei"/>
                  <a:cs typeface="Arial"/>
                </a:rPr>
                <a:t>30% → 6%以下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4392" y="5112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审计漏检率显著下降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546348" y="6144578"/>
            <a:ext cx="5099304" cy="205359"/>
            <a:chOff x="3546348" y="6144578"/>
            <a:chExt cx="5099304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3546348" y="614457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指标定义、分母、统计周期与数据来源待补充；最终认定由授权人员依法依规作出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16｜案例一：公告排斥性条款发布前拦截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在公告发布前定位疑似排斥性表述，给出依据并推动修改，避免风险进入交易环节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3810000" cy="4429125"/>
            <a:chOff x="428625" y="1381125"/>
            <a:chExt cx="3810000" cy="4429125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3810000" cy="4429125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14375" y="1714500"/>
              <a:ext cx="3238500" cy="3143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880" y="198120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招标公告（脱敏示意）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4288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6404" y="2680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项目资格条件：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04875" y="3048000"/>
              <a:ext cx="2762250" cy="552450"/>
            </a:xfrm>
            <a:prstGeom prst="roundRect">
              <a:avLst>
                <a:gd name="adj" fmla="val 13793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2035" y="32599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疑似排斥性表述（待补充真实条款）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52500" y="4191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92212" y="5268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真实脱敏截图待补充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24375" y="1381125"/>
            <a:ext cx="3143250" cy="4429125"/>
            <a:chOff x="4524375" y="1381125"/>
            <a:chExt cx="3143250" cy="4429125"/>
          </a:xfrm>
        </p:grpSpPr>
        <p:sp>
          <p:nvSpPr>
            <p:cNvPr id="17" name="Rectangle 17"/>
            <p:cNvSpPr/>
            <p:nvPr/>
          </p:nvSpPr>
          <p:spPr>
            <a:xfrm>
              <a:off x="4524375" y="1381125"/>
              <a:ext cx="3143250" cy="4429125"/>
            </a:xfrm>
            <a:prstGeom prst="roundRect">
              <a:avLst>
                <a:gd name="adj" fmla="val 545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53000" y="1762125"/>
              <a:ext cx="22860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06947" y="189261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高风险 / 待核查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6085" y="2172652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AI 识别结果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4148" y="28627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命中原因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4910" y="3212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条件可能造成不公平竞争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4148" y="35771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依据与证据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94910" y="39266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原文位置｜规则版本｜识别时间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000625" y="4572000"/>
              <a:ext cx="2190750" cy="523875"/>
            </a:xfrm>
            <a:prstGeom prst="roundRect">
              <a:avLst>
                <a:gd name="adj" fmla="val 21818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7737" y="4767739"/>
              <a:ext cx="187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定位 → 解释 → 建议动作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381125"/>
            <a:ext cx="3762375" cy="4429125"/>
            <a:chOff x="8001000" y="1381125"/>
            <a:chExt cx="3762375" cy="4429125"/>
          </a:xfrm>
        </p:grpSpPr>
        <p:sp>
          <p:nvSpPr>
            <p:cNvPr id="28" name="Rectangle 28"/>
            <p:cNvSpPr/>
            <p:nvPr/>
          </p:nvSpPr>
          <p:spPr>
            <a:xfrm>
              <a:off x="8001000" y="1381125"/>
              <a:ext cx="3762375" cy="4429125"/>
            </a:xfrm>
            <a:prstGeom prst="roundRect">
              <a:avLst>
                <a:gd name="adj" fmla="val 4557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3237" y="1671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处置流程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67750" y="23812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47625">
              <a:solidFill>
                <a:srgbClr val="9CC3E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515350" y="2228850"/>
              <a:ext cx="304800" cy="304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515350" y="2990850"/>
              <a:ext cx="304800" cy="304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15350" y="3752850"/>
              <a:ext cx="304800" cy="304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515350" y="4514850"/>
              <a:ext cx="304800" cy="304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4648" y="2310289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94648" y="30722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业务人员修改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4648" y="3834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合规复核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4648" y="4596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解除发布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0" y="5143500"/>
              <a:ext cx="3000375" cy="4000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70608" y="52873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案例已脱敏｜最终结果待真实材料补充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17｜案例二：响应文件异常一致性识别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跨文件比对发现错误雷同与异常相似片段，为围标串标核查提供可定位线索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81000" y="1381125"/>
            <a:ext cx="7239000" cy="4286250"/>
            <a:chOff x="381000" y="1381125"/>
            <a:chExt cx="723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7239000" cy="428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16316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多份响应文件并行比对（脱敏示意）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04825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577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58901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202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供应商 C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90875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012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43250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8637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028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33406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7653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相似 / 雷同片段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333625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4476750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32507" y="51254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真实脱敏文件、相似度与判断依据待补充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3375" y="1381125"/>
            <a:ext cx="3857625" cy="4286250"/>
            <a:chOff x="7953375" y="1381125"/>
            <a:chExt cx="3857625" cy="4286250"/>
          </a:xfrm>
        </p:grpSpPr>
        <p:sp>
          <p:nvSpPr>
            <p:cNvPr id="27" name="Rectangle 27"/>
            <p:cNvSpPr/>
            <p:nvPr/>
          </p:nvSpPr>
          <p:spPr>
            <a:xfrm>
              <a:off x="7953375" y="1381125"/>
              <a:ext cx="3857625" cy="4286250"/>
            </a:xfrm>
            <a:prstGeom prst="roundRect">
              <a:avLst>
                <a:gd name="adj" fmla="val 444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25612" y="167116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异常特征与核查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34375" y="2238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6023" y="244363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错误雷同 / 共同信息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34375" y="3000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6023" y="3205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文本或结构高度相似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34375" y="3762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6023" y="3967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关联主体与历史行为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34375" y="4619625"/>
              <a:ext cx="3095625" cy="666750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30609" y="4785360"/>
              <a:ext cx="1293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AI 提供风险线索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36012" y="50492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不直接替代违法定性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875" y="5953125"/>
            <a:ext cx="9620250" cy="495300"/>
            <a:chOff x="1285875" y="5953125"/>
            <a:chExt cx="9620250" cy="495300"/>
          </a:xfrm>
        </p:grpSpPr>
        <p:sp>
          <p:nvSpPr>
            <p:cNvPr id="39" name="Rectangle 39"/>
            <p:cNvSpPr/>
            <p:nvPr/>
          </p:nvSpPr>
          <p:spPr>
            <a:xfrm>
              <a:off x="1285875" y="5953125"/>
              <a:ext cx="9620250" cy="4953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85119" y="6129814"/>
              <a:ext cx="5621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最终结论由授权人员结合主体关系、历史行为及其他证据依法依规作出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18｜案例三：供应商资质自动核验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从公告提取资质要求，与供应商附件、资质状态和信用信息进行交叉核验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381125"/>
            <a:ext cx="3238500" cy="4333875"/>
            <a:chOff x="381000" y="1381125"/>
            <a:chExt cx="3238500" cy="4333875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6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公告资质要求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2238375"/>
              <a:ext cx="2571750" cy="2381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2537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资质类型：待补充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966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等级要求：待补充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3394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有效期要求：待补充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823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特定条件：待补充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487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605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自动提取结构化要求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76750" y="1381125"/>
            <a:ext cx="3238500" cy="4333875"/>
            <a:chOff x="4476750" y="1381125"/>
            <a:chExt cx="3238500" cy="4333875"/>
          </a:xfrm>
        </p:grpSpPr>
        <p:sp>
          <p:nvSpPr>
            <p:cNvPr id="16" name="Rectangle 16"/>
            <p:cNvSpPr/>
            <p:nvPr/>
          </p:nvSpPr>
          <p:spPr>
            <a:xfrm>
              <a:off x="447675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013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证书附件解析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6375" y="2183857"/>
              <a:ext cx="1619250" cy="1299661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851654" y="3823335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OCR / 多模态识别字段：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2035" y="41838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主体｜编号｜等级｜有效期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0062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1180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字段抽取与主体对齐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96250" y="1381125"/>
            <a:ext cx="3714750" cy="4333875"/>
            <a:chOff x="8096250" y="1381125"/>
            <a:chExt cx="3714750" cy="4333875"/>
          </a:xfrm>
        </p:grpSpPr>
        <p:sp>
          <p:nvSpPr>
            <p:cNvPr id="24" name="Rectangle 24"/>
            <p:cNvSpPr/>
            <p:nvPr/>
          </p:nvSpPr>
          <p:spPr>
            <a:xfrm>
              <a:off x="8096250" y="1381125"/>
              <a:ext cx="3714750" cy="4333875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08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自动比对结果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29625" y="2238375"/>
              <a:ext cx="3048000" cy="4572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7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要求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9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4841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429625" y="2238375"/>
              <a:ext cx="3048000" cy="2333625"/>
            </a:xfrm>
            <a:custGeom>
              <a:avLst/>
              <a:gdLst/>
              <a:ahLst/>
              <a:cxnLst/>
              <a:rect l="l" t="t" r="r" b="b"/>
              <a:pathLst>
                <a:path w="3048000" h="2333625">
                  <a:moveTo>
                    <a:pt x="0" y="904875"/>
                  </a:moveTo>
                  <a:lnTo>
                    <a:pt x="3048000" y="904875"/>
                  </a:lnTo>
                  <a:moveTo>
                    <a:pt x="0" y="1381125"/>
                  </a:moveTo>
                  <a:lnTo>
                    <a:pt x="3048000" y="1381125"/>
                  </a:lnTo>
                  <a:moveTo>
                    <a:pt x="0" y="1857375"/>
                  </a:moveTo>
                  <a:lnTo>
                    <a:pt x="3048000" y="1857375"/>
                  </a:lnTo>
                  <a:moveTo>
                    <a:pt x="762000" y="0"/>
                  </a:moveTo>
                  <a:lnTo>
                    <a:pt x="762000" y="2333625"/>
                  </a:lnTo>
                  <a:moveTo>
                    <a:pt x="1524000" y="0"/>
                  </a:moveTo>
                  <a:lnTo>
                    <a:pt x="1524000" y="2333625"/>
                  </a:lnTo>
                  <a:moveTo>
                    <a:pt x="2286000" y="0"/>
                  </a:moveTo>
                  <a:lnTo>
                    <a:pt x="2286000" y="2333625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754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类型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547" y="29046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91547" y="2904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3449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公告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754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等级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9547" y="33808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1547" y="33808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449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证书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67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有效期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9547" y="38571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91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449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资质库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905375"/>
              <a:ext cx="2762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00185" y="50682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真实案例与数据平台待补充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19｜量化价值：效率、成本与风险同步改善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单份审查从 3 小时压缩至 3 分钟，并形成规模化降本与风险减损价值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285875"/>
            <a:ext cx="10668000" cy="2095500"/>
            <a:chOff x="762000" y="1285875"/>
            <a:chExt cx="1066800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10668000" cy="2095500"/>
            </a:xfrm>
            <a:prstGeom prst="roundRect">
              <a:avLst>
                <a:gd name="adj" fmla="val 1090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81428" y="19164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人工审查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80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 小时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5143500" y="20955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23812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7B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99183" y="207454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7077" y="19164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57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 分钟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810000"/>
            <a:ext cx="11049000" cy="2047875"/>
            <a:chOff x="571500" y="3810000"/>
            <a:chExt cx="11049000" cy="2047875"/>
          </a:xfrm>
        </p:grpSpPr>
        <p:sp>
          <p:nvSpPr>
            <p:cNvPr id="14" name="Rectangle 14"/>
            <p:cNvSpPr/>
            <p:nvPr/>
          </p:nvSpPr>
          <p:spPr>
            <a:xfrm>
              <a:off x="57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6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效率价值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7013" y="4421505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90%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4112" y="5053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重复审查工作替代率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2763" y="53949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累计节省 10 万+小时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7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成本价值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2000 万元+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86425" y="5053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年节约人力成本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测算公式与证明材料待补充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8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风险价值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6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5000 万元+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51798" y="5053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每年避免直接及间接损失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5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测算口径与证明材料待补充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809973" y="6363652"/>
            <a:ext cx="2572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D7E93"/>
                </a:solidFill>
                <a:latin typeface="Microsoft YaHei"/>
                <a:ea typeface="Microsoft YaHei"/>
                <a:cs typeface="Microsoft YaHei"/>
              </a:rPr>
              <a:t>AI 替代重复工作，不替代最终专业判断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20｜跨平台对接：打通交易、监管与信用数据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通过标准接口和事件协同，嵌入交易平台并输出风险、证据与处置数据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24000"/>
            <a:ext cx="2857500" cy="3429000"/>
            <a:chOff x="381000" y="1524000"/>
            <a:chExt cx="2857500" cy="3429000"/>
          </a:xfrm>
        </p:grpSpPr>
        <p:sp>
          <p:nvSpPr>
            <p:cNvPr id="6" name="Rectangle 6"/>
            <p:cNvSpPr/>
            <p:nvPr/>
          </p:nvSpPr>
          <p:spPr>
            <a:xfrm>
              <a:off x="3810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349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交易平台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614" y="21169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项目、公告、响应、评标、合同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959" y="29841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供应商 / 资质平台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0163" y="33551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主体、证书与有效状态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349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文件服务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6320" y="4593431"/>
              <a:ext cx="198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API、消息、批量交换、文件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33750" y="1809750"/>
            <a:ext cx="5524500" cy="3238500"/>
            <a:chOff x="3333750" y="1809750"/>
            <a:chExt cx="5524500" cy="3238500"/>
          </a:xfrm>
        </p:grpSpPr>
        <p:sp>
          <p:nvSpPr>
            <p:cNvPr id="16" name="Ellipse 16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4824" y="2190750"/>
              <a:ext cx="2142353" cy="180975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4800832" y="4115276"/>
              <a:ext cx="259033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数字合规官监管中台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4864" y="45458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数据输入｜风险输出｜处置反馈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333750" y="2000250"/>
              <a:ext cx="5524500" cy="2476500"/>
            </a:xfrm>
            <a:custGeom>
              <a:avLst/>
              <a:gdLst/>
              <a:ahLst/>
              <a:cxnLst/>
              <a:rect l="l" t="t" r="r" b="b"/>
              <a:pathLst>
                <a:path w="5524500" h="2476500">
                  <a:moveTo>
                    <a:pt x="0" y="0"/>
                  </a:moveTo>
                  <a:lnTo>
                    <a:pt x="1143000" y="0"/>
                  </a:lnTo>
                  <a:moveTo>
                    <a:pt x="0" y="1238250"/>
                  </a:moveTo>
                  <a:lnTo>
                    <a:pt x="1143000" y="1238250"/>
                  </a:lnTo>
                  <a:moveTo>
                    <a:pt x="0" y="2476500"/>
                  </a:moveTo>
                  <a:lnTo>
                    <a:pt x="1143000" y="2476500"/>
                  </a:lnTo>
                  <a:moveTo>
                    <a:pt x="4381500" y="0"/>
                  </a:moveTo>
                  <a:lnTo>
                    <a:pt x="5524500" y="0"/>
                  </a:lnTo>
                  <a:moveTo>
                    <a:pt x="4381500" y="1238250"/>
                  </a:moveTo>
                  <a:lnTo>
                    <a:pt x="5524500" y="1238250"/>
                  </a:lnTo>
                  <a:moveTo>
                    <a:pt x="4381500" y="2476500"/>
                  </a:moveTo>
                  <a:lnTo>
                    <a:pt x="5524500" y="247650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78AEE9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953500" y="1524000"/>
            <a:ext cx="2857500" cy="3429000"/>
            <a:chOff x="8953500" y="1524000"/>
            <a:chExt cx="28575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89535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074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监管平台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6501" y="21169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高风险线索、证据、处置状态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535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07410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信用平台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6501" y="33551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信用、处罚、失信与主体信息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074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审计平台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1114" y="45934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风险事件、日志、证据链、处置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" y="5715000"/>
            <a:ext cx="10287000" cy="619125"/>
            <a:chOff x="952500" y="5715000"/>
            <a:chExt cx="10287000" cy="619125"/>
          </a:xfrm>
        </p:grpSpPr>
        <p:sp>
          <p:nvSpPr>
            <p:cNvPr id="32" name="Rectangle 32"/>
            <p:cNvSpPr/>
            <p:nvPr/>
          </p:nvSpPr>
          <p:spPr>
            <a:xfrm>
              <a:off x="952500" y="5715000"/>
              <a:ext cx="10287000" cy="619125"/>
            </a:xfrm>
            <a:prstGeom prst="roundRect">
              <a:avLst>
                <a:gd name="adj" fmla="val 2769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06344" y="5852160"/>
              <a:ext cx="5779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接口治理：身份认证｜权限控制｜数据脱敏｜调用日志｜失败重试｜版本管理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5807" y="60955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已上线、试点和规划对接需按实际平台清单区分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21｜行业优势：四层壁垒形成领域领先能力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30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优势来自行业数据、AI 工程、业务闭环和可信证据的叠加，而非单一模型参数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38250" y="1571625"/>
            <a:ext cx="4476750" cy="4146709"/>
            <a:chOff x="1238250" y="1571625"/>
            <a:chExt cx="4476750" cy="4146709"/>
          </a:xfrm>
        </p:grpSpPr>
        <p:sp>
          <p:nvSpPr>
            <p:cNvPr id="6" name="Freeform 6"/>
            <p:cNvSpPr/>
            <p:nvPr/>
          </p:nvSpPr>
          <p:spPr>
            <a:xfrm>
              <a:off x="1238250" y="4429125"/>
              <a:ext cx="4476750" cy="857250"/>
            </a:xfrm>
            <a:custGeom>
              <a:avLst/>
              <a:gdLst/>
              <a:ahLst/>
              <a:cxnLst/>
              <a:rect l="l" t="t" r="r" b="b"/>
              <a:pathLst>
                <a:path w="4476750" h="857250">
                  <a:moveTo>
                    <a:pt x="0" y="857250"/>
                  </a:moveTo>
                  <a:lnTo>
                    <a:pt x="4476750" y="857250"/>
                  </a:lnTo>
                  <a:lnTo>
                    <a:pt x="3857625" y="0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857375" y="3476625"/>
              <a:ext cx="3238500" cy="857250"/>
            </a:xfrm>
            <a:custGeom>
              <a:avLst/>
              <a:gdLst/>
              <a:ahLst/>
              <a:cxnLst/>
              <a:rect l="l" t="t" r="r" b="b"/>
              <a:pathLst>
                <a:path w="3238500" h="857250">
                  <a:moveTo>
                    <a:pt x="0" y="857250"/>
                  </a:moveTo>
                  <a:lnTo>
                    <a:pt x="3238500" y="857250"/>
                  </a:lnTo>
                  <a:lnTo>
                    <a:pt x="2762250" y="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1971CC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333625" y="252412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857250"/>
                  </a:moveTo>
                  <a:lnTo>
                    <a:pt x="2286000" y="857250"/>
                  </a:lnTo>
                  <a:lnTo>
                    <a:pt x="1905000" y="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188D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14625" y="1571625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857250"/>
                  </a:moveTo>
                  <a:lnTo>
                    <a:pt x="1524000" y="857250"/>
                  </a:lnTo>
                  <a:lnTo>
                    <a:pt x="1190625" y="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7B61C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81615" y="4719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数据壁垒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81615" y="3766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技术壁垒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81615" y="2814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业务壁垒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81615" y="1861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可信壁垒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1462" y="5498306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3677F"/>
                  </a:solidFill>
                  <a:latin typeface="Microsoft YaHei"/>
                  <a:ea typeface="Microsoft YaHei"/>
                  <a:cs typeface="Microsoft YaHei"/>
                </a:rPr>
                <a:t>4 亿+图谱节点｜百万份历史标书｜法规与实时业务数据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0" y="1381125"/>
            <a:ext cx="4953000" cy="4524375"/>
            <a:chOff x="6667500" y="1381125"/>
            <a:chExt cx="4953000" cy="4524375"/>
          </a:xfrm>
        </p:grpSpPr>
        <p:sp>
          <p:nvSpPr>
            <p:cNvPr id="16" name="Rectangle 16"/>
            <p:cNvSpPr/>
            <p:nvPr/>
          </p:nvSpPr>
          <p:spPr>
            <a:xfrm>
              <a:off x="6667500" y="1381125"/>
              <a:ext cx="4953000" cy="4524375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6087" y="1671161"/>
              <a:ext cx="23758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本项目 vs 通用大模型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0" y="2143125"/>
              <a:ext cx="4191000" cy="523875"/>
            </a:xfrm>
            <a:prstGeom prst="rect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8154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能力维度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3851" y="2346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65537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通用模型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048500" y="2143125"/>
              <a:ext cx="4191000" cy="2952750"/>
            </a:xfrm>
            <a:custGeom>
              <a:avLst/>
              <a:gdLst/>
              <a:ahLst/>
              <a:cxnLst/>
              <a:rect l="l" t="t" r="r" b="b"/>
              <a:pathLst>
                <a:path w="4191000" h="2952750">
                  <a:moveTo>
                    <a:pt x="0" y="1000125"/>
                  </a:moveTo>
                  <a:lnTo>
                    <a:pt x="4191000" y="1000125"/>
                  </a:lnTo>
                  <a:moveTo>
                    <a:pt x="0" y="1476375"/>
                  </a:moveTo>
                  <a:lnTo>
                    <a:pt x="4191000" y="1476375"/>
                  </a:lnTo>
                  <a:moveTo>
                    <a:pt x="0" y="1952625"/>
                  </a:moveTo>
                  <a:lnTo>
                    <a:pt x="4191000" y="1952625"/>
                  </a:lnTo>
                  <a:moveTo>
                    <a:pt x="0" y="2428875"/>
                  </a:moveTo>
                  <a:lnTo>
                    <a:pt x="4191000" y="2428875"/>
                  </a:lnTo>
                  <a:moveTo>
                    <a:pt x="1571625" y="0"/>
                  </a:moveTo>
                  <a:lnTo>
                    <a:pt x="1571625" y="2952750"/>
                  </a:lnTo>
                  <a:moveTo>
                    <a:pt x="3238500" y="0"/>
                  </a:moveTo>
                  <a:lnTo>
                    <a:pt x="3238500" y="29527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8535" y="2897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行业数据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14816" y="2889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深度沉淀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3235" y="28898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有限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8535" y="33742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规则与证据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95588" y="3366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可定位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4007" y="33661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535" y="38504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实时业务闭环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4816" y="3842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嵌入节点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62463" y="38423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未嵌入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8535" y="4326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审计追溯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5588" y="43186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Microsoft YaHei"/>
                  <a:ea typeface="Microsoft YaHei"/>
                  <a:cs typeface="Microsoft YaHei"/>
                </a:rPr>
                <a:t>全过程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3235" y="4318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Microsoft YaHei"/>
                  <a:ea typeface="Microsoft YaHei"/>
                  <a:cs typeface="Microsoft YaHei"/>
                </a:rPr>
                <a:t>有限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5238750"/>
              <a:ext cx="171450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53379" y="53854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准确率 89%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39250" y="5238750"/>
              <a:ext cx="2000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11694" y="5385435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推理耗时 10%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201732" y="6513195"/>
            <a:ext cx="15664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8 大方向正式测评材料待补充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22｜推广与商业：标准产品叠加行业知识包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共性能力标准化、行业知识本地化、企业规则配置化，从集团内部向行业复制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19862" y="1575911"/>
            <a:ext cx="3617517" cy="3996214"/>
            <a:chOff x="419862" y="1575911"/>
            <a:chExt cx="3617517" cy="3996214"/>
          </a:xfrm>
        </p:grpSpPr>
        <p:sp>
          <p:nvSpPr>
            <p:cNvPr id="6" name="TextBox 6"/>
            <p:cNvSpPr txBox="1"/>
            <p:nvPr/>
          </p:nvSpPr>
          <p:spPr>
            <a:xfrm>
              <a:off x="419862" y="157591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四阶段推广路径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66750" y="4905375"/>
              <a:ext cx="3048000" cy="666750"/>
            </a:xfrm>
            <a:prstGeom prst="roundRect">
              <a:avLst>
                <a:gd name="adj" fmla="val 1428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0125" y="4048125"/>
              <a:ext cx="2714625" cy="666750"/>
            </a:xfrm>
            <a:prstGeom prst="roundRect">
              <a:avLst>
                <a:gd name="adj" fmla="val 14286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3190875"/>
              <a:ext cx="2381250" cy="666750"/>
            </a:xfrm>
            <a:prstGeom prst="roundRect">
              <a:avLst>
                <a:gd name="adj" fmla="val 1428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66875" y="2333625"/>
              <a:ext cx="2047875" cy="666750"/>
            </a:xfrm>
            <a:prstGeom prst="roundRect">
              <a:avLst>
                <a:gd name="adj" fmla="val 14286"/>
              </a:avLst>
            </a:prstGeom>
            <a:solidFill>
              <a:srgbClr val="59A6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2074" y="51706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试点验证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3999" y="431339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集团推广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4731" y="34561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建筑行业输出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77015" y="259889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跨行业扩展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0120" y="1714500"/>
              <a:ext cx="1407259" cy="12382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4563237" y="1575911"/>
            <a:ext cx="3533013" cy="3900964"/>
            <a:chOff x="4563237" y="1575911"/>
            <a:chExt cx="3533013" cy="3900964"/>
          </a:xfrm>
        </p:grpSpPr>
        <p:sp>
          <p:nvSpPr>
            <p:cNvPr id="17" name="TextBox 17"/>
            <p:cNvSpPr txBox="1"/>
            <p:nvPr/>
          </p:nvSpPr>
          <p:spPr>
            <a:xfrm>
              <a:off x="4563237" y="15759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标准产品模块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0" y="2143125"/>
              <a:ext cx="3333750" cy="762000"/>
            </a:xfrm>
            <a:prstGeom prst="roundRect">
              <a:avLst>
                <a:gd name="adj" fmla="val 2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4705" y="243982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监管中台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53000" y="3095625"/>
              <a:ext cx="2952750" cy="666750"/>
            </a:xfrm>
            <a:prstGeom prst="roundRect">
              <a:avLst>
                <a:gd name="adj" fmla="val 22857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85896" y="3360896"/>
              <a:ext cx="1286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/ 规则能力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143500" y="3952875"/>
              <a:ext cx="2571750" cy="666750"/>
            </a:xfrm>
            <a:prstGeom prst="roundRect">
              <a:avLst>
                <a:gd name="adj" fmla="val 22857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20340" y="4218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行业知识包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0" y="4810125"/>
              <a:ext cx="2190750" cy="666750"/>
            </a:xfrm>
            <a:prstGeom prst="roundRect">
              <a:avLst>
                <a:gd name="adj" fmla="val 22857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4208" y="5075396"/>
              <a:ext cx="1650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企业规则包 + 接口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428750"/>
            <a:ext cx="3238500" cy="4476750"/>
            <a:chOff x="8572500" y="1428750"/>
            <a:chExt cx="3238500" cy="4476750"/>
          </a:xfrm>
        </p:grpSpPr>
        <p:sp>
          <p:nvSpPr>
            <p:cNvPr id="27" name="Rectangle 27"/>
            <p:cNvSpPr/>
            <p:nvPr/>
          </p:nvSpPr>
          <p:spPr>
            <a:xfrm>
              <a:off x="8572500" y="1428750"/>
              <a:ext cx="3238500" cy="44767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0472" y="1671161"/>
              <a:ext cx="16425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SaaS 商业模式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7023" y="2291239"/>
              <a:ext cx="840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按年订阅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7023" y="2672239"/>
              <a:ext cx="1185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按使用量收费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7023" y="3053239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知识包与规则包服务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3667125"/>
              <a:ext cx="2476500" cy="1000125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54489" y="3910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预计年收入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1359" y="4206716"/>
              <a:ext cx="222078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200—1000 万元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6776" y="49744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建筑招采｜其他行业采购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7550" y="5260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政府采购监管等场景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093136" y="651319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Microsoft YaHei"/>
                <a:ea typeface="Microsoft YaHei"/>
                <a:cs typeface="Microsoft YaHei"/>
              </a:rPr>
              <a:t>目标客户、定价逻辑、销售路径与签约情况待补充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23｜团队保障：平台技术与一线业务联合创新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880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云筑网与中建三局西南公司形成“平台技术 + 一线场景”联合团队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5715000" cy="3905250"/>
            <a:chOff x="428625" y="1381125"/>
            <a:chExt cx="5715000" cy="39052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5715000" cy="3905250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3263" y="1571625"/>
              <a:ext cx="2285725" cy="18097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62000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8199" y="37271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云筑网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225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技术平台｜数据治理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2225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算法研发｜产品运营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71875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45001" y="37271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中建三局西南公司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2100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真实场景｜合规规则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2100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试点验证｜应用反馈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72250" y="1381125"/>
            <a:ext cx="5191125" cy="3905250"/>
            <a:chOff x="6572250" y="1381125"/>
            <a:chExt cx="5191125" cy="3905250"/>
          </a:xfrm>
        </p:grpSpPr>
        <p:sp>
          <p:nvSpPr>
            <p:cNvPr id="17" name="Rectangle 17"/>
            <p:cNvSpPr/>
            <p:nvPr/>
          </p:nvSpPr>
          <p:spPr>
            <a:xfrm>
              <a:off x="6572250" y="1381125"/>
              <a:ext cx="5191125" cy="3905250"/>
            </a:xfrm>
            <a:prstGeom prst="roundRect">
              <a:avLst>
                <a:gd name="adj" fmla="val 5366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21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完整落地能力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00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2345" y="238648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人工智能 / 大数据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286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35896" y="2386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招采合规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00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3739" y="3148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供应链管理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86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77425" y="3148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产品研发与运营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000875" y="381000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9525">
              <a:solidFill>
                <a:srgbClr val="B8D0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4398" y="40343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企业资质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5160" y="4383881"/>
              <a:ext cx="2632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国家级高新技术企业｜CMMI 5 级 2.0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5160" y="473630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Microsoft YaHei"/>
                  <a:ea typeface="Microsoft YaHei"/>
                  <a:cs typeface="Microsoft YaHei"/>
                </a:rPr>
                <a:t>80 项软件著作权｜44 项专利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715000"/>
            <a:ext cx="9906000" cy="647700"/>
            <a:chOff x="1143000" y="5715000"/>
            <a:chExt cx="9906000" cy="647700"/>
          </a:xfrm>
        </p:grpSpPr>
        <p:sp>
          <p:nvSpPr>
            <p:cNvPr id="32" name="Rectangle 32"/>
            <p:cNvSpPr/>
            <p:nvPr/>
          </p:nvSpPr>
          <p:spPr>
            <a:xfrm>
              <a:off x="1143000" y="5715000"/>
              <a:ext cx="9906000" cy="647700"/>
            </a:xfrm>
            <a:prstGeom prst="roundRect">
              <a:avLst>
                <a:gd name="adj" fmla="val 2647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05297" y="5863114"/>
              <a:ext cx="4581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学术积累：KG-DPO｜GEM｜ADQ-DS｜GradPromptOpt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5626" y="61336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论文、专利、软著及证明材料待补充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95875"/>
            <a:ext cx="12192000" cy="1619250"/>
          </a:xfrm>
          <a:custGeom>
            <a:avLst/>
            <a:gdLst/>
            <a:ahLst/>
            <a:cxnLst/>
            <a:rect l="l" t="t" r="r" b="b"/>
            <a:pathLst>
              <a:path w="12192000" h="1619250">
                <a:moveTo>
                  <a:pt x="0" y="809625"/>
                </a:moveTo>
                <a:cubicBezTo>
                  <a:pt x="2667000" y="0"/>
                  <a:pt x="4476750" y="1619250"/>
                  <a:pt x="6858000" y="809625"/>
                </a:cubicBezTo>
                <a:cubicBezTo>
                  <a:pt x="8953500" y="95250"/>
                  <a:pt x="10477500" y="904875"/>
                  <a:pt x="12192000" y="381000"/>
                </a:cubicBezTo>
              </a:path>
            </a:pathLst>
          </a:custGeom>
          <a:noFill/>
          <a:ln w="28575">
            <a:solidFill>
              <a:srgbClr val="7BBEFF">
                <a:alpha val="2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79182" y="684371"/>
            <a:ext cx="6633637" cy="796004"/>
            <a:chOff x="2779182" y="684371"/>
            <a:chExt cx="6633637" cy="796004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让招采监管可识别、可阻断、可追溯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98368" y="1216342"/>
              <a:ext cx="5995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数据要素为基座｜AI 与规则为引擎｜监管闭环为核心｜可信证据为保障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71900" y="1295400"/>
            <a:ext cx="4648200" cy="3648075"/>
            <a:chOff x="3771900" y="1295400"/>
            <a:chExt cx="4648200" cy="3648075"/>
          </a:xfrm>
        </p:grpSpPr>
        <p:sp>
          <p:nvSpPr>
            <p:cNvPr id="6" name="Ellipse 6"/>
            <p:cNvSpPr/>
            <p:nvPr/>
          </p:nvSpPr>
          <p:spPr>
            <a:xfrm>
              <a:off x="5048250" y="2143125"/>
              <a:ext cx="2095500" cy="2095500"/>
            </a:xfrm>
            <a:prstGeom prst="ellipse">
              <a:avLst/>
            </a:prstGeom>
            <a:solidFill>
              <a:srgbClr val="FFFFFF">
                <a:alpha val="14000"/>
              </a:srgbClr>
            </a:solidFill>
            <a:ln w="28575">
              <a:solidFill>
                <a:srgbClr val="A8D1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89471" y="2871788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09251" y="3306604"/>
              <a:ext cx="21734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dirty="0">
                  <a:solidFill>
                    <a:srgbClr val="DCEEFF"/>
                  </a:solidFill>
                  <a:latin typeface="Arial"/>
                  <a:ea typeface="Arial"/>
                  <a:cs typeface="Arial"/>
                </a:rPr>
                <a:t>AI DIGITAL EMPLOYEE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581650" y="1295400"/>
              <a:ext cx="1028700" cy="10287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391400" y="2057400"/>
              <a:ext cx="1028700" cy="10287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915150" y="3914775"/>
              <a:ext cx="1028700" cy="10287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48150" y="3914775"/>
              <a:ext cx="1028700" cy="10287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771900" y="2057400"/>
              <a:ext cx="1028700" cy="10287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88043" y="1722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77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阻断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21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4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追溯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82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7750" y="5000625"/>
            <a:ext cx="10096500" cy="952500"/>
            <a:chOff x="1047750" y="5000625"/>
            <a:chExt cx="100965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0477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4920" y="51215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1022" y="5585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审查效率提升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08885" y="512159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89%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8604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模型准确率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80405" y="5178266"/>
              <a:ext cx="16796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5000 万元+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1029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Microsoft YaHei"/>
                  <a:ea typeface="Microsoft YaHei"/>
                  <a:cs typeface="Microsoft YaHei"/>
                </a:rPr>
                <a:t>年避免损失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53509" y="6378892"/>
            <a:ext cx="3284982" cy="264033"/>
            <a:chOff x="4453509" y="6378892"/>
            <a:chExt cx="3284982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4453509" y="63788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　｜　感谢聆听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full-deck">
  <a:themeElements>
    <a:clrScheme name="zzx-full-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full-de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ful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2026-08-05T14:14:22Z</dcterms:created>
  <dcterms:modified xsi:type="dcterms:W3CDTF">2026-08-05T14:14:22Z</dcterms:modified>
  <cp:category/>
  <cp:contentStatus/>
</cp:coreProperties>
</file>