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page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page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ec882edd97d13a4.png"/>
  <Relationship Id="rId3" Type="http://schemas.openxmlformats.org/officeDocument/2006/relationships/image" Target="../media/image_662eb8741c73de9c.png"/>
  <Relationship Id="rId4" Type="http://schemas.openxmlformats.org/officeDocument/2006/relationships/image" Target="../media/image_19523fd3168d48ef.png"/>
  <Relationship Id="rId5" Type="http://schemas.openxmlformats.org/officeDocument/2006/relationships/image" Target="../media/image_3db04020df3eefb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02｜核心问题：人工监管难以穿透海量招采业务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dirty="0">
                  <a:solidFill>
                    <a:srgbClr val="5A6C82"/>
                  </a:solidFill>
                  <a:latin typeface="+mn-lt"/>
                  <a:ea typeface="+mn-ea"/>
                  <a:cs typeface="+mn-cs"/>
                </a:rPr>
                <a:t>业务量大、文件复杂、法规专业、风险隐蔽，人工模式难以兼顾全量、准确、实时与追溯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2095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31813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61531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91249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14" name="Group 14"/>
          <p:cNvGrpSpPr/>
          <p:nvPr/>
        </p:nvGrpSpPr>
        <p:grpSpPr>
          <a:xfrm>
            <a:off x="428625" y="1295400"/>
            <a:ext cx="464058" cy="640080"/>
            <a:chOff x="428625" y="1295400"/>
            <a:chExt cx="464058" cy="640080"/>
          </a:xfrm>
        </p:grpSpPr>
        <p:sp>
          <p:nvSpPr>
            <p:cNvPr id="10" name="Rectangle 10"/>
            <p:cNvSpPr/>
            <p:nvPr/>
          </p:nvSpPr>
          <p:spPr>
            <a:xfrm>
              <a:off x="428625" y="1375410"/>
              <a:ext cx="464058" cy="560070"/>
            </a:xfrm>
            <a:prstGeom prst="roundRect">
              <a:avLst>
                <a:gd name="adj" fmla="val 17241"/>
              </a:avLst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0639" y="1295400"/>
              <a:ext cx="304038" cy="144018"/>
            </a:xfrm>
            <a:prstGeom prst="roundRect">
              <a:avLst>
                <a:gd name="adj" fmla="val 27778"/>
              </a:avLst>
            </a:prstGeom>
            <a:solidFill>
              <a:srgbClr val="8FC0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2638" y="1471422"/>
              <a:ext cx="272034" cy="32004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6002">
              <a:solidFill>
                <a:srgbClr val="3C83D9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88645" y="1551432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0"/>
                  </a:moveTo>
                  <a:lnTo>
                    <a:pt x="160020" y="0"/>
                  </a:lnTo>
                  <a:lnTo>
                    <a:pt x="136017" y="104013"/>
                  </a:lnTo>
                  <a:lnTo>
                    <a:pt x="24003" y="104013"/>
                  </a:lnTo>
                  <a:close/>
                  <a:moveTo>
                    <a:pt x="40005" y="160020"/>
                  </a:moveTo>
                  <a:lnTo>
                    <a:pt x="120015" y="160020"/>
                  </a:lnTo>
                </a:path>
              </a:pathLst>
            </a:custGeom>
            <a:noFill/>
            <a:ln w="24003" cap="rnd">
              <a:solidFill>
                <a:schemeClr val="accent2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03198" y="131968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年度采购业务超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1006" y="1546384"/>
            <a:ext cx="609527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368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8142" y="17973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万次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424428" y="1295400"/>
            <a:ext cx="560070" cy="584073"/>
            <a:chOff x="3424428" y="1295400"/>
            <a:chExt cx="560070" cy="584073"/>
          </a:xfrm>
        </p:grpSpPr>
        <p:sp>
          <p:nvSpPr>
            <p:cNvPr id="18" name="Rectangle 18"/>
            <p:cNvSpPr/>
            <p:nvPr/>
          </p:nvSpPr>
          <p:spPr>
            <a:xfrm>
              <a:off x="3424428" y="1439418"/>
              <a:ext cx="560070" cy="440055"/>
            </a:xfrm>
            <a:prstGeom prst="roundRect">
              <a:avLst>
                <a:gd name="adj" fmla="val 14545"/>
              </a:avLst>
            </a:prstGeom>
            <a:solidFill>
              <a:srgbClr val="1768C6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424428" y="1383411"/>
              <a:ext cx="560070" cy="464058"/>
            </a:xfrm>
            <a:custGeom>
              <a:avLst/>
              <a:gdLst/>
              <a:ahLst/>
              <a:cxnLst/>
              <a:rect l="l" t="t" r="r" b="b"/>
              <a:pathLst>
                <a:path w="560070" h="464058">
                  <a:moveTo>
                    <a:pt x="80010" y="0"/>
                  </a:moveTo>
                  <a:lnTo>
                    <a:pt x="296037" y="0"/>
                  </a:lnTo>
                  <a:lnTo>
                    <a:pt x="368046" y="80010"/>
                  </a:lnTo>
                  <a:lnTo>
                    <a:pt x="560070" y="80010"/>
                  </a:lnTo>
                  <a:lnTo>
                    <a:pt x="560070" y="464058"/>
                  </a:lnTo>
                  <a:lnTo>
                    <a:pt x="0" y="464058"/>
                  </a:lnTo>
                  <a:lnTo>
                    <a:pt x="0" y="56007"/>
                  </a:lnTo>
                  <a:close/>
                </a:path>
              </a:pathLst>
            </a:custGeom>
            <a:solidFill>
              <a:srgbClr val="79B2F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00450" y="1295400"/>
              <a:ext cx="352044" cy="448056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002">
              <a:solidFill>
                <a:srgbClr val="A9C9E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664458" y="1391412"/>
              <a:ext cx="216027" cy="9525"/>
            </a:xfrm>
            <a:custGeom>
              <a:avLst/>
              <a:gdLst/>
              <a:ahLst/>
              <a:cxnLst/>
              <a:rect l="l" t="t" r="r" b="b"/>
              <a:pathLst>
                <a:path w="216027" h="9525">
                  <a:moveTo>
                    <a:pt x="0" y="0"/>
                  </a:moveTo>
                  <a:lnTo>
                    <a:pt x="216027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664458" y="1479423"/>
              <a:ext cx="216027" cy="9525"/>
            </a:xfrm>
            <a:custGeom>
              <a:avLst/>
              <a:gdLst/>
              <a:ahLst/>
              <a:cxnLst/>
              <a:rect l="l" t="t" r="r" b="b"/>
              <a:pathLst>
                <a:path w="216027" h="9525">
                  <a:moveTo>
                    <a:pt x="0" y="0"/>
                  </a:moveTo>
                  <a:lnTo>
                    <a:pt x="216027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4174998" y="13196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单次涉及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62806" y="1546384"/>
            <a:ext cx="323432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368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07992" y="179736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类文件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393180" y="1303401"/>
            <a:ext cx="760095" cy="600075"/>
            <a:chOff x="6393180" y="1303401"/>
            <a:chExt cx="760095" cy="600075"/>
          </a:xfrm>
        </p:grpSpPr>
        <p:sp>
          <p:nvSpPr>
            <p:cNvPr id="27" name="Freeform 27"/>
            <p:cNvSpPr/>
            <p:nvPr/>
          </p:nvSpPr>
          <p:spPr>
            <a:xfrm>
              <a:off x="6393180" y="1639443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8CBDF3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417183" y="1527429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A7CDF6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441186" y="1415415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C2DDF9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65189" y="1303401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FFFFFF"/>
            </a:solidFill>
            <a:ln w="12002">
              <a:solidFill>
                <a:srgbClr val="A8C7EA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7146798" y="131968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附件超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4606" y="1546384"/>
            <a:ext cx="895621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368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37017" y="17973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余页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400032" y="1295400"/>
            <a:ext cx="464058" cy="608076"/>
            <a:chOff x="9400032" y="1295400"/>
            <a:chExt cx="464058" cy="608076"/>
          </a:xfrm>
        </p:grpSpPr>
        <p:sp>
          <p:nvSpPr>
            <p:cNvPr id="35" name="Rectangle 35"/>
            <p:cNvSpPr/>
            <p:nvPr/>
          </p:nvSpPr>
          <p:spPr>
            <a:xfrm>
              <a:off x="9400032" y="1319403"/>
              <a:ext cx="464058" cy="584073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4003">
              <a:solidFill>
                <a:schemeClr val="accent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8048" y="1295400"/>
              <a:ext cx="216027" cy="96012"/>
            </a:xfrm>
            <a:prstGeom prst="roundRect">
              <a:avLst>
                <a:gd name="adj" fmla="val 41667"/>
              </a:avLst>
            </a:prstGeom>
            <a:solidFill>
              <a:srgbClr val="6DAAF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504045" y="1439418"/>
              <a:ext cx="128016" cy="384048"/>
            </a:xfrm>
            <a:custGeom>
              <a:avLst/>
              <a:gdLst/>
              <a:ahLst/>
              <a:cxnLst/>
              <a:rect l="l" t="t" r="r" b="b"/>
              <a:pathLst>
                <a:path w="128016" h="384048">
                  <a:moveTo>
                    <a:pt x="0" y="48006"/>
                  </a:moveTo>
                  <a:lnTo>
                    <a:pt x="48006" y="96012"/>
                  </a:lnTo>
                  <a:lnTo>
                    <a:pt x="128016" y="0"/>
                  </a:lnTo>
                  <a:moveTo>
                    <a:pt x="0" y="192024"/>
                  </a:moveTo>
                  <a:lnTo>
                    <a:pt x="48006" y="240030"/>
                  </a:lnTo>
                  <a:lnTo>
                    <a:pt x="128016" y="144018"/>
                  </a:lnTo>
                  <a:moveTo>
                    <a:pt x="0" y="336042"/>
                  </a:moveTo>
                  <a:lnTo>
                    <a:pt x="48006" y="384048"/>
                  </a:lnTo>
                  <a:lnTo>
                    <a:pt x="128016" y="288036"/>
                  </a:lnTo>
                </a:path>
              </a:pathLst>
            </a:custGeom>
            <a:noFill/>
            <a:ln w="24003" cap="rnd">
              <a:solidFill>
                <a:schemeClr val="accent2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9688068" y="1503426"/>
              <a:ext cx="112014" cy="9525"/>
            </a:xfrm>
            <a:custGeom>
              <a:avLst/>
              <a:gdLst/>
              <a:ahLst/>
              <a:cxnLst/>
              <a:rect l="l" t="t" r="r" b="b"/>
              <a:pathLst>
                <a:path w="112014" h="9525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688068" y="1647444"/>
              <a:ext cx="112014" cy="9525"/>
            </a:xfrm>
            <a:custGeom>
              <a:avLst/>
              <a:gdLst/>
              <a:ahLst/>
              <a:cxnLst/>
              <a:rect l="l" t="t" r="r" b="b"/>
              <a:pathLst>
                <a:path w="112014" h="9525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9688068" y="1791462"/>
              <a:ext cx="112014" cy="9525"/>
            </a:xfrm>
            <a:custGeom>
              <a:avLst/>
              <a:gdLst/>
              <a:ahLst/>
              <a:cxnLst/>
              <a:rect l="l" t="t" r="r" b="b"/>
              <a:pathLst>
                <a:path w="112014" h="9525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0118598" y="131968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需核对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6406" y="1546384"/>
            <a:ext cx="1181716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368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100+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14354" y="18135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合规节点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0955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6" name="Rectangle 46"/>
          <p:cNvSpPr/>
          <p:nvPr/>
        </p:nvSpPr>
        <p:spPr>
          <a:xfrm>
            <a:off x="621030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7" name="Rectangle 47"/>
          <p:cNvSpPr/>
          <p:nvPr/>
        </p:nvSpPr>
        <p:spPr>
          <a:xfrm>
            <a:off x="20955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8" name="Rectangle 48"/>
          <p:cNvSpPr/>
          <p:nvPr/>
        </p:nvSpPr>
        <p:spPr>
          <a:xfrm>
            <a:off x="621030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60" name="Group 60"/>
          <p:cNvGrpSpPr/>
          <p:nvPr/>
        </p:nvGrpSpPr>
        <p:grpSpPr>
          <a:xfrm>
            <a:off x="478512" y="2324100"/>
            <a:ext cx="5217438" cy="1341120"/>
            <a:chOff x="478512" y="2324100"/>
            <a:chExt cx="5217438" cy="134112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512" y="2324100"/>
              <a:ext cx="1233726" cy="1257300"/>
            </a:xfrm>
            <a:prstGeom prst="rect">
              <a:avLst/>
            </a:prstGeom>
          </p:spPr>
        </p:pic>
        <p:sp>
          <p:nvSpPr>
            <p:cNvPr id="50" name="Line 50"/>
            <p:cNvSpPr/>
            <p:nvPr/>
          </p:nvSpPr>
          <p:spPr>
            <a:xfrm>
              <a:off x="1905000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095500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158867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37663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0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痛点一｜效率低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2114550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172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单批次人工审查约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97630" y="29241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3 小时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2114550" y="32385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107692" y="33880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年度合规审查投入高达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92880" y="337185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7.5 万人天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460233" y="2324100"/>
            <a:ext cx="5236467" cy="1354265"/>
            <a:chOff x="6460233" y="2324100"/>
            <a:chExt cx="5236467" cy="1354265"/>
          </a:xfrm>
        </p:grpSpPr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0233" y="2324100"/>
              <a:ext cx="1328934" cy="1257300"/>
            </a:xfrm>
            <a:prstGeom prst="rect">
              <a:avLst/>
            </a:prstGeom>
          </p:spPr>
        </p:pic>
        <p:sp>
          <p:nvSpPr>
            <p:cNvPr id="62" name="Line 62"/>
            <p:cNvSpPr/>
            <p:nvPr/>
          </p:nvSpPr>
          <p:spPr>
            <a:xfrm>
              <a:off x="7934325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124825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88192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66988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0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痛点二｜门槛高</a:t>
              </a:r>
            </a:p>
          </p:txBody>
        </p:sp>
        <p:sp>
          <p:nvSpPr>
            <p:cNvPr id="66" name="Polygon 66"/>
            <p:cNvSpPr/>
            <p:nvPr/>
          </p:nvSpPr>
          <p:spPr>
            <a:xfrm>
              <a:off x="8143875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46567" y="2940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需对照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55405" y="29241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20 余部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61017" y="2940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法律法规和行业标准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143875" y="32385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37017" y="33880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人工遗漏与出错率约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16643" y="3355658"/>
              <a:ext cx="448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30%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9000" y="4152900"/>
            <a:ext cx="5206950" cy="1470851"/>
            <a:chOff x="489000" y="4152900"/>
            <a:chExt cx="5206950" cy="1470851"/>
          </a:xfrm>
        </p:grpSpPr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000" y="4152900"/>
              <a:ext cx="1212750" cy="1257300"/>
            </a:xfrm>
            <a:prstGeom prst="rect">
              <a:avLst/>
            </a:prstGeom>
          </p:spPr>
        </p:pic>
        <p:sp>
          <p:nvSpPr>
            <p:cNvPr id="75" name="Line 75"/>
            <p:cNvSpPr/>
            <p:nvPr/>
          </p:nvSpPr>
          <p:spPr>
            <a:xfrm>
              <a:off x="1905000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095500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158867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637663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0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痛点三｜识别难</a:t>
              </a:r>
            </a:p>
          </p:txBody>
        </p:sp>
        <p:sp>
          <p:nvSpPr>
            <p:cNvPr id="79" name="Polygon 79"/>
            <p:cNvSpPr/>
            <p:nvPr/>
          </p:nvSpPr>
          <p:spPr>
            <a:xfrm>
              <a:off x="2114550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317242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公告、证书、清单和附件等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536186" y="47420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42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多格式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317242" y="4988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异构数据难以统一解析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2114550" y="52197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107692" y="5359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隐性风险与跨文件异常难发现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391275" y="4152900"/>
            <a:ext cx="5305425" cy="1477423"/>
            <a:chOff x="6391275" y="4152900"/>
            <a:chExt cx="5305425" cy="1477423"/>
          </a:xfrm>
        </p:grpSpPr>
        <p:pic>
          <p:nvPicPr>
            <p:cNvPr id="86" name="Image 8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1275" y="4245492"/>
              <a:ext cx="1466850" cy="1072116"/>
            </a:xfrm>
            <a:prstGeom prst="rect">
              <a:avLst/>
            </a:prstGeom>
          </p:spPr>
        </p:pic>
        <p:sp>
          <p:nvSpPr>
            <p:cNvPr id="87" name="Line 87"/>
            <p:cNvSpPr/>
            <p:nvPr/>
          </p:nvSpPr>
          <p:spPr>
            <a:xfrm>
              <a:off x="7934325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124825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88192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666988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0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痛点四｜防控晚</a:t>
              </a:r>
            </a:p>
          </p:txBody>
        </p:sp>
        <p:sp>
          <p:nvSpPr>
            <p:cNvPr id="91" name="Polygon 91"/>
            <p:cNvSpPr/>
            <p:nvPr/>
          </p:nvSpPr>
          <p:spPr>
            <a:xfrm>
              <a:off x="8143875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346567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围标串标、资质造假等问题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346567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往往在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55786" y="4980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42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采购完成后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18192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才暴露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8143875" y="52197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137017" y="5359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整改、审计与追责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41586" y="53516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42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成本高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209550" y="5829300"/>
            <a:ext cx="11772900" cy="781050"/>
            <a:chOff x="209550" y="5829300"/>
            <a:chExt cx="11772900" cy="781050"/>
          </a:xfrm>
        </p:grpSpPr>
        <p:sp>
          <p:nvSpPr>
            <p:cNvPr id="100" name="Rectangle 100"/>
            <p:cNvSpPr/>
            <p:nvPr/>
          </p:nvSpPr>
          <p:spPr>
            <a:xfrm>
              <a:off x="209550" y="5829300"/>
              <a:ext cx="11772900" cy="781050"/>
            </a:xfrm>
            <a:prstGeom prst="roundRect">
              <a:avLst>
                <a:gd name="adj" fmla="val 21951"/>
              </a:avLst>
            </a:prstGeom>
            <a:gradFill>
              <a:gsLst>
                <a:gs pos="0">
                  <a:srgbClr val="EDF5FF"/>
                </a:gs>
                <a:gs pos="72000">
                  <a:srgbClr val="F9FBFF"/>
                </a:gs>
                <a:gs pos="100000">
                  <a:srgbClr val="FFF0E5"/>
                </a:gs>
              </a:gsLst>
              <a:lin ang="0" scaled="1"/>
            </a:gradFill>
            <a:ln w="14288">
              <a:solidFill>
                <a:srgbClr val="B9D7FA"/>
              </a:solidFill>
            </a:ln>
          </p:spPr>
        </p:sp>
        <p:sp>
          <p:nvSpPr>
            <p:cNvPr id="101" name="Ellipse 101"/>
            <p:cNvSpPr/>
            <p:nvPr/>
          </p:nvSpPr>
          <p:spPr>
            <a:xfrm>
              <a:off x="523875" y="5953125"/>
              <a:ext cx="533400" cy="5334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75ADEF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638175" y="6067425"/>
              <a:ext cx="304800" cy="3048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742950" y="61722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4" name="Line 104"/>
            <p:cNvSpPr/>
            <p:nvPr/>
          </p:nvSpPr>
          <p:spPr>
            <a:xfrm>
              <a:off x="790575" y="6048375"/>
              <a:ext cx="200025" cy="171450"/>
            </a:xfrm>
            <a:custGeom>
              <a:avLst/>
              <a:gdLst/>
              <a:ahLst/>
              <a:cxnLst/>
              <a:rect l="l" t="t" r="r" b="b"/>
              <a:pathLst>
                <a:path w="200025" h="171450">
                  <a:moveTo>
                    <a:pt x="0" y="171450"/>
                  </a:moveTo>
                  <a:lnTo>
                    <a:pt x="200025" y="0"/>
                  </a:ln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200150" y="599122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9CB9D9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465326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180" b="1" dirty="0">
                  <a:solidFill>
                    <a:srgbClr val="0A3F91"/>
                  </a:solidFill>
                  <a:latin typeface="+mn-lt"/>
                  <a:ea typeface="+mn-ea"/>
                  <a:cs typeface="+mn-cs"/>
                </a:rPr>
                <a:t>人工审查模式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246501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180" b="1" dirty="0">
                  <a:solidFill>
                    <a:srgbClr val="FF6B20"/>
                  </a:solidFill>
                  <a:latin typeface="+mn-lt"/>
                  <a:ea typeface="+mn-ea"/>
                  <a:cs typeface="+mn-cs"/>
                </a:rPr>
                <a:t>无法同时满足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151120" y="6062662"/>
              <a:ext cx="4825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0A3F91"/>
                  </a:solidFill>
                  <a:latin typeface="+mn-lt"/>
                  <a:ea typeface="+mn-ea"/>
                  <a:cs typeface="+mn-cs"/>
                </a:rPr>
                <a:t>“规模、速度、准确、实时、追溯”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991725" y="61031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80" b="1" dirty="0">
                  <a:solidFill>
                    <a:srgbClr val="D95C1A"/>
                  </a:solidFill>
                  <a:latin typeface="+mn-lt"/>
                  <a:ea typeface="+mn-ea"/>
                  <a:cs typeface="+mn-cs"/>
                </a:rPr>
                <a:t>五项监管要求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9882188" y="6683216"/>
            <a:ext cx="21069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820" dirty="0">
                <a:solidFill>
                  <a:srgbClr val="6F7F94"/>
                </a:solidFill>
                <a:latin typeface="+mn-lt"/>
                <a:ea typeface="+mn-ea"/>
                <a:cs typeface="+mn-cs"/>
              </a:rPr>
              <a:t>数据来源：项目申报材料，统计周期待补充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page2">
  <a:themeElements>
    <a:clrScheme name="zzx-page2">
      <a:dk1>
        <a:srgbClr val="1B2638"/>
      </a:dk1>
      <a:lt1>
        <a:srgbClr val="F4F8FD"/>
      </a:lt1>
      <a:dk2>
        <a:srgbClr val="1B2638"/>
      </a:dk2>
      <a:lt2>
        <a:srgbClr val="F4F8FD"/>
      </a:lt2>
      <a:accent1>
        <a:srgbClr val="083F91"/>
      </a:accent1>
      <a:accent2>
        <a:srgbClr val="0753B8"/>
      </a:accent2>
      <a:accent3>
        <a:srgbClr val="0753B8"/>
      </a:accent3>
      <a:accent4>
        <a:srgbClr val="083F91"/>
      </a:accent4>
      <a:accent5>
        <a:srgbClr val="4BACC6"/>
      </a:accent5>
      <a:accent6>
        <a:srgbClr val="F79646"/>
      </a:accent6>
      <a:hlink>
        <a:srgbClr val="0753B8"/>
      </a:hlink>
      <a:folHlink>
        <a:srgbClr val="0753B8"/>
      </a:folHlink>
    </a:clrScheme>
    <a:fontScheme name="zzx-page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pag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zh-Hans</dc:language>
  <cp:lastModifiedBy/>
  <cp:revision>1</cp:revision>
  <dcterms:created xsi:type="dcterms:W3CDTF">2026-08-06T01:58:12Z</dcterms:created>
  <dcterms:modified xsi:type="dcterms:W3CDTF">2026-08-06T01:58:12Z</dcterms:modified>
  <cp:category/>
  <cp:contentStatus/>
</cp:coreProperties>
</file>