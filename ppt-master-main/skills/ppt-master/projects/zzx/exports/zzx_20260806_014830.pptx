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zzx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zzx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9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32E70"/>
            </a:gs>
            <a:gs pos="58000">
              <a:schemeClr val="accent1"/>
            </a:gs>
            <a:gs pos="100000">
              <a:srgbClr val="0A78D4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4810125"/>
            <a:ext cx="12192000" cy="2143125"/>
          </a:xfrm>
          <a:custGeom>
            <a:avLst/>
            <a:gdLst/>
            <a:ahLst/>
            <a:cxnLst/>
            <a:rect l="l" t="t" r="r" b="b"/>
            <a:pathLst>
              <a:path w="12192000" h="2143125">
                <a:moveTo>
                  <a:pt x="0" y="619125"/>
                </a:moveTo>
                <a:cubicBezTo>
                  <a:pt x="2381250" y="0"/>
                  <a:pt x="4000500" y="1762125"/>
                  <a:pt x="6286500" y="1000125"/>
                </a:cubicBezTo>
                <a:cubicBezTo>
                  <a:pt x="8477250" y="285750"/>
                  <a:pt x="10048875" y="1143000"/>
                  <a:pt x="12192000" y="476250"/>
                </a:cubicBezTo>
                <a:moveTo>
                  <a:pt x="0" y="1190625"/>
                </a:moveTo>
                <a:cubicBezTo>
                  <a:pt x="2667000" y="571500"/>
                  <a:pt x="4286250" y="2143125"/>
                  <a:pt x="6762750" y="1362075"/>
                </a:cubicBezTo>
                <a:cubicBezTo>
                  <a:pt x="8953500" y="666750"/>
                  <a:pt x="10477500" y="1524000"/>
                  <a:pt x="12192000" y="952500"/>
                </a:cubicBezTo>
              </a:path>
            </a:pathLst>
          </a:custGeom>
          <a:noFill/>
          <a:ln w="19050">
            <a:solidFill>
              <a:srgbClr val="74B7FF">
                <a:alpha val="23000"/>
              </a:srgbClr>
            </a:solidFill>
          </a:ln>
        </p:spPr>
      </p:sp>
      <p:grpSp>
        <p:nvGrpSpPr>
          <p:cNvPr id="19" name="Group 19"/>
          <p:cNvGrpSpPr/>
          <p:nvPr/>
        </p:nvGrpSpPr>
        <p:grpSpPr>
          <a:xfrm>
            <a:off x="647700" y="885825"/>
            <a:ext cx="6794078" cy="4295775"/>
            <a:chOff x="647700" y="885825"/>
            <a:chExt cx="6794078" cy="4295775"/>
          </a:xfrm>
        </p:grpSpPr>
        <p:sp>
          <p:nvSpPr>
            <p:cNvPr id="3" name="Rectangle 3"/>
            <p:cNvSpPr/>
            <p:nvPr/>
          </p:nvSpPr>
          <p:spPr>
            <a:xfrm>
              <a:off x="666750" y="885825"/>
              <a:ext cx="876300" cy="76200"/>
            </a:xfrm>
            <a:prstGeom prst="roundRect">
              <a:avLst>
                <a:gd name="adj" fmla="val 50000"/>
              </a:avLst>
            </a:prstGeom>
            <a:solidFill>
              <a:srgbClr val="FF7B2C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47700" y="1187768"/>
              <a:ext cx="3112484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数字合规官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47700" y="1803082"/>
              <a:ext cx="628414" cy="904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AI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457325" y="1835468"/>
              <a:ext cx="2497607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数字员工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57225" y="2655094"/>
              <a:ext cx="6784553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D8EBFF"/>
                  </a:solidFill>
                  <a:latin typeface="Microsoft YaHei"/>
                  <a:ea typeface="Microsoft YaHei"/>
                  <a:cs typeface="Microsoft YaHei"/>
                </a:rPr>
                <a:t>数据要素 + AI 大模型驱动的招采全流程立体穿透监管体系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66750" y="318135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14288">
              <a:solidFill>
                <a:srgbClr val="8FC4F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59130" y="3429000"/>
              <a:ext cx="47605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赛道九｜赛题 33——招标采购交易数智化立体穿透监管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59511" y="3827621"/>
              <a:ext cx="3801618" cy="6025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420" dirty="0">
                  <a:solidFill>
                    <a:srgbClr val="D8EBFF"/>
                  </a:solidFill>
                  <a:latin typeface="Microsoft YaHei"/>
                  <a:ea typeface="Microsoft YaHei"/>
                  <a:cs typeface="Microsoft YaHei"/>
                </a:rPr>
                <a:t>申报单位：中建电子商务有限责任公司（云筑）</a:t>
              </a:r>
              <a:br/>
              <a:r>
                <a:rPr lang="zh-CN" sz="1420" dirty="0">
                  <a:solidFill>
                    <a:srgbClr val="D8EBFF"/>
                  </a:solidFill>
                  <a:latin typeface="Microsoft YaHei"/>
                  <a:ea typeface="Microsoft YaHei"/>
                  <a:cs typeface="Microsoft YaHei"/>
                </a:rPr>
                <a:t>联合单位：中建三局西南公司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66750" y="4781550"/>
              <a:ext cx="1123950" cy="400050"/>
            </a:xfrm>
            <a:prstGeom prst="roundRect">
              <a:avLst>
                <a:gd name="adj" fmla="val 50000"/>
              </a:avLst>
            </a:prstGeom>
            <a:solidFill>
              <a:schemeClr val="lt2">
                <a:alpha val="14000"/>
              </a:schemeClr>
            </a:solidFill>
            <a:ln w="9525">
              <a:solidFill>
                <a:srgbClr val="A8D1FF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1914525" y="4781550"/>
              <a:ext cx="1123950" cy="400050"/>
            </a:xfrm>
            <a:prstGeom prst="roundRect">
              <a:avLst>
                <a:gd name="adj" fmla="val 50000"/>
              </a:avLst>
            </a:prstGeom>
            <a:solidFill>
              <a:schemeClr val="lt2">
                <a:alpha val="14000"/>
              </a:schemeClr>
            </a:solidFill>
            <a:ln w="9525">
              <a:solidFill>
                <a:srgbClr val="A8D1FF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3162300" y="4781550"/>
              <a:ext cx="1123950" cy="400050"/>
            </a:xfrm>
            <a:prstGeom prst="roundRect">
              <a:avLst>
                <a:gd name="adj" fmla="val 50000"/>
              </a:avLst>
            </a:prstGeom>
            <a:solidFill>
              <a:schemeClr val="lt2">
                <a:alpha val="14000"/>
              </a:schemeClr>
            </a:solidFill>
            <a:ln w="9525">
              <a:solidFill>
                <a:srgbClr val="A8D1FF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4410075" y="4781550"/>
              <a:ext cx="1123950" cy="400050"/>
            </a:xfrm>
            <a:prstGeom prst="roundRect">
              <a:avLst>
                <a:gd name="adj" fmla="val 50000"/>
              </a:avLst>
            </a:prstGeom>
            <a:solidFill>
              <a:schemeClr val="lt2">
                <a:alpha val="14000"/>
              </a:schemeClr>
            </a:solidFill>
            <a:ln w="9525">
              <a:solidFill>
                <a:srgbClr val="A8D1F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77621" y="4910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智能识别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125396" y="4910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实时拦截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373171" y="4910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电子取证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20946" y="4910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全程追溯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077075" y="942975"/>
            <a:ext cx="4286250" cy="4286250"/>
            <a:chOff x="7077075" y="942975"/>
            <a:chExt cx="4286250" cy="4286250"/>
          </a:xfrm>
        </p:grpSpPr>
        <p:sp>
          <p:nvSpPr>
            <p:cNvPr id="20" name="Ellipse 20"/>
            <p:cNvSpPr/>
            <p:nvPr/>
          </p:nvSpPr>
          <p:spPr>
            <a:xfrm>
              <a:off x="7077075" y="942975"/>
              <a:ext cx="4286250" cy="4286250"/>
            </a:xfrm>
            <a:prstGeom prst="ellipse">
              <a:avLst/>
            </a:prstGeom>
            <a:solidFill>
              <a:schemeClr val="lt2">
                <a:alpha val="5000"/>
              </a:schemeClr>
            </a:solidFill>
            <a:ln w="19050">
              <a:solidFill>
                <a:srgbClr val="77B9FF">
                  <a:alpha val="35000"/>
                </a:srgbClr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7467600" y="1333500"/>
              <a:ext cx="3505200" cy="3505200"/>
            </a:xfrm>
            <a:prstGeom prst="ellipse">
              <a:avLst/>
            </a:prstGeom>
            <a:noFill/>
            <a:ln w="14288">
              <a:solidFill>
                <a:srgbClr val="FFFFFF">
                  <a:alpha val="18000"/>
                </a:srgbClr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8039100" y="1381125"/>
              <a:ext cx="2362200" cy="3476625"/>
            </a:xfrm>
            <a:custGeom>
              <a:avLst/>
              <a:gdLst/>
              <a:ahLst/>
              <a:cxnLst/>
              <a:rect l="l" t="t" r="r" b="b"/>
              <a:pathLst>
                <a:path w="2362200" h="3476625">
                  <a:moveTo>
                    <a:pt x="1181100" y="0"/>
                  </a:moveTo>
                  <a:lnTo>
                    <a:pt x="2362200" y="476250"/>
                  </a:lnTo>
                  <a:lnTo>
                    <a:pt x="2190750" y="2028825"/>
                  </a:lnTo>
                  <a:cubicBezTo>
                    <a:pt x="2095500" y="2847975"/>
                    <a:pt x="1600200" y="3276600"/>
                    <a:pt x="1181100" y="3476625"/>
                  </a:cubicBezTo>
                  <a:cubicBezTo>
                    <a:pt x="762000" y="3276600"/>
                    <a:pt x="266700" y="2847975"/>
                    <a:pt x="171450" y="2028825"/>
                  </a:cubicBezTo>
                  <a:lnTo>
                    <a:pt x="0" y="476250"/>
                  </a:lnTo>
                  <a:close/>
                </a:path>
              </a:pathLst>
            </a:custGeom>
            <a:gradFill>
              <a:gsLst>
                <a:gs pos="0">
                  <a:srgbClr val="9DD1FF">
                    <a:alpha val="18000"/>
                  </a:srgbClr>
                </a:gs>
                <a:gs pos="100000">
                  <a:schemeClr val="lt2">
                    <a:alpha val="18000"/>
                  </a:schemeClr>
                </a:gs>
              </a:gsLst>
              <a:lin ang="2700000" scaled="1"/>
            </a:gradFill>
            <a:ln w="28575">
              <a:solidFill>
                <a:srgbClr val="B9DDFF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8591550" y="2171700"/>
              <a:ext cx="1257300" cy="1657350"/>
            </a:xfrm>
            <a:prstGeom prst="roundRect">
              <a:avLst>
                <a:gd name="adj" fmla="val 10606"/>
              </a:avLst>
            </a:prstGeom>
            <a:solidFill>
              <a:schemeClr val="lt2">
                <a:alpha val="93000"/>
              </a:schemeClr>
            </a:solidFill>
            <a:ln w="19050">
              <a:solidFill>
                <a:srgbClr val="9DCAF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8810625" y="1981200"/>
              <a:ext cx="819150" cy="342900"/>
            </a:xfrm>
            <a:prstGeom prst="roundRect">
              <a:avLst>
                <a:gd name="adj" fmla="val 33333"/>
              </a:avLst>
            </a:prstGeom>
            <a:solidFill>
              <a:srgbClr val="66A8ED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8839200" y="2505075"/>
              <a:ext cx="333375" cy="723900"/>
            </a:xfrm>
            <a:custGeom>
              <a:avLst/>
              <a:gdLst/>
              <a:ahLst/>
              <a:cxnLst/>
              <a:rect l="l" t="t" r="r" b="b"/>
              <a:pathLst>
                <a:path w="333375" h="723900">
                  <a:moveTo>
                    <a:pt x="0" y="142875"/>
                  </a:moveTo>
                  <a:lnTo>
                    <a:pt x="123825" y="266700"/>
                  </a:lnTo>
                  <a:lnTo>
                    <a:pt x="333375" y="0"/>
                  </a:lnTo>
                  <a:moveTo>
                    <a:pt x="0" y="600075"/>
                  </a:moveTo>
                  <a:lnTo>
                    <a:pt x="123825" y="723900"/>
                  </a:lnTo>
                  <a:lnTo>
                    <a:pt x="333375" y="457200"/>
                  </a:lnTo>
                </a:path>
              </a:pathLst>
            </a:custGeom>
            <a:noFill/>
            <a:ln w="66675" cap="rnd">
              <a:solidFill>
                <a:schemeClr val="accent1"/>
              </a:solidFill>
              <a:round/>
            </a:ln>
          </p:spPr>
        </p:sp>
        <p:sp>
          <p:nvSpPr>
            <p:cNvPr id="26" name="Line 26"/>
            <p:cNvSpPr/>
            <p:nvPr/>
          </p:nvSpPr>
          <p:spPr>
            <a:xfrm>
              <a:off x="9334500" y="264795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47625" cap="rnd">
              <a:solidFill>
                <a:srgbClr val="7A9DC5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9334500" y="3105150"/>
              <a:ext cx="314325" cy="9525"/>
            </a:xfrm>
            <a:custGeom>
              <a:avLst/>
              <a:gdLst/>
              <a:ahLst/>
              <a:cxnLst/>
              <a:rect l="l" t="t" r="r" b="b"/>
              <a:pathLst>
                <a:path w="314325" h="9525">
                  <a:moveTo>
                    <a:pt x="0" y="0"/>
                  </a:moveTo>
                  <a:lnTo>
                    <a:pt x="314325" y="0"/>
                  </a:lnTo>
                </a:path>
              </a:pathLst>
            </a:custGeom>
            <a:noFill/>
            <a:ln w="47625" cap="rnd">
              <a:solidFill>
                <a:srgbClr val="7A9DC5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9420225" y="3429000"/>
              <a:ext cx="1047750" cy="1047750"/>
            </a:xfrm>
            <a:prstGeom prst="ellipse">
              <a:avLst/>
            </a:prstGeom>
            <a:solidFill>
              <a:srgbClr val="FF7B2C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9705975" y="3743325"/>
              <a:ext cx="523875" cy="400050"/>
            </a:xfrm>
            <a:custGeom>
              <a:avLst/>
              <a:gdLst/>
              <a:ahLst/>
              <a:cxnLst/>
              <a:rect l="l" t="t" r="r" b="b"/>
              <a:pathLst>
                <a:path w="523875" h="400050">
                  <a:moveTo>
                    <a:pt x="0" y="219075"/>
                  </a:moveTo>
                  <a:lnTo>
                    <a:pt x="180975" y="400050"/>
                  </a:lnTo>
                  <a:lnTo>
                    <a:pt x="523875" y="0"/>
                  </a:lnTo>
                </a:path>
              </a:pathLst>
            </a:custGeom>
            <a:noFill/>
            <a:ln w="95250" cap="rnd">
              <a:solidFill>
                <a:srgbClr val="FFFFFF"/>
              </a:solidFill>
              <a:round/>
            </a:ln>
          </p:spPr>
        </p:sp>
        <p:sp>
          <p:nvSpPr>
            <p:cNvPr id="30" name="Ellipse 30"/>
            <p:cNvSpPr/>
            <p:nvPr/>
          </p:nvSpPr>
          <p:spPr>
            <a:xfrm>
              <a:off x="7629525" y="2390775"/>
              <a:ext cx="209550" cy="209550"/>
            </a:xfrm>
            <a:prstGeom prst="ellipse">
              <a:avLst/>
            </a:prstGeom>
            <a:solidFill>
              <a:srgbClr val="76BAFF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10544175" y="2543175"/>
              <a:ext cx="209550" cy="209550"/>
            </a:xfrm>
            <a:prstGeom prst="ellipse">
              <a:avLst/>
            </a:prstGeom>
            <a:solidFill>
              <a:srgbClr val="76BAFF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7915275" y="4391025"/>
              <a:ext cx="209550" cy="209550"/>
            </a:xfrm>
            <a:prstGeom prst="ellipse">
              <a:avLst/>
            </a:prstGeom>
            <a:solidFill>
              <a:srgbClr val="76BAFF"/>
            </a:solidFill>
            <a:ln>
              <a:noFill/>
            </a:ln>
          </p:spPr>
        </p:sp>
        <p:sp>
          <p:nvSpPr>
            <p:cNvPr id="33" name="Line 33"/>
            <p:cNvSpPr/>
            <p:nvPr/>
          </p:nvSpPr>
          <p:spPr>
            <a:xfrm>
              <a:off x="7839075" y="2495550"/>
              <a:ext cx="571500" cy="285750"/>
            </a:xfrm>
            <a:custGeom>
              <a:avLst/>
              <a:gdLst/>
              <a:ahLst/>
              <a:cxnLst/>
              <a:rect l="l" t="t" r="r" b="b"/>
              <a:pathLst>
                <a:path w="571500" h="285750">
                  <a:moveTo>
                    <a:pt x="0" y="0"/>
                  </a:moveTo>
                  <a:lnTo>
                    <a:pt x="571500" y="285750"/>
                  </a:lnTo>
                </a:path>
              </a:pathLst>
            </a:custGeom>
            <a:noFill/>
            <a:ln w="19050">
              <a:solidFill>
                <a:srgbClr val="76BAFF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9925050" y="2647950"/>
              <a:ext cx="619125" cy="247650"/>
            </a:xfrm>
            <a:custGeom>
              <a:avLst/>
              <a:gdLst/>
              <a:ahLst/>
              <a:cxnLst/>
              <a:rect l="l" t="t" r="r" b="b"/>
              <a:pathLst>
                <a:path w="619125" h="247650">
                  <a:moveTo>
                    <a:pt x="619125" y="0"/>
                  </a:moveTo>
                  <a:lnTo>
                    <a:pt x="0" y="247650"/>
                  </a:lnTo>
                </a:path>
              </a:pathLst>
            </a:custGeom>
            <a:noFill/>
            <a:ln w="19050">
              <a:solidFill>
                <a:srgbClr val="76BAFF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8124825" y="3971925"/>
              <a:ext cx="581025" cy="466725"/>
            </a:xfrm>
            <a:custGeom>
              <a:avLst/>
              <a:gdLst/>
              <a:ahLst/>
              <a:cxnLst/>
              <a:rect l="l" t="t" r="r" b="b"/>
              <a:pathLst>
                <a:path w="581025" h="466725">
                  <a:moveTo>
                    <a:pt x="0" y="466725"/>
                  </a:moveTo>
                  <a:lnTo>
                    <a:pt x="581025" y="0"/>
                  </a:lnTo>
                </a:path>
              </a:pathLst>
            </a:custGeom>
            <a:noFill/>
            <a:ln w="19050">
              <a:solidFill>
                <a:srgbClr val="76BAFF"/>
              </a:solidFill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660654" y="6347460"/>
            <a:ext cx="10869930" cy="234696"/>
            <a:chOff x="660654" y="6347460"/>
            <a:chExt cx="10869930" cy="234696"/>
          </a:xfrm>
        </p:grpSpPr>
        <p:sp>
          <p:nvSpPr>
            <p:cNvPr id="37" name="TextBox 37"/>
            <p:cNvSpPr txBox="1"/>
            <p:nvPr/>
          </p:nvSpPr>
          <p:spPr>
            <a:xfrm>
              <a:off x="660654" y="6347460"/>
              <a:ext cx="45354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7E2FF"/>
                  </a:solidFill>
                  <a:latin typeface="Microsoft YaHei"/>
                  <a:ea typeface="Microsoft YaHei"/>
                  <a:cs typeface="Microsoft YaHei"/>
                </a:rPr>
                <a:t>以数字合规守护阳光招采，以智能监管助力建筑行业高质量发展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208944" y="636365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C7E2FF"/>
                  </a:solidFill>
                  <a:latin typeface="+mn-lt"/>
                  <a:ea typeface="+mn-ea"/>
                  <a:cs typeface="+mn-cs"/>
                </a:rPr>
                <a:t>2026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83845"/>
            <a:ext cx="11556492" cy="716280"/>
            <a:chOff x="311658" y="283845"/>
            <a:chExt cx="11556492" cy="716280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83845"/>
              <a:ext cx="548618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02｜人工监管难以穿透海量招采业务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691039"/>
              <a:ext cx="62162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规模、专业、识别和时点四重矛盾，使人工模式无法兼顾全量、准确、实时与追溯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209550" y="1162050"/>
            <a:ext cx="11772900" cy="880015"/>
            <a:chOff x="209550" y="1162050"/>
            <a:chExt cx="11772900" cy="880015"/>
          </a:xfrm>
        </p:grpSpPr>
        <p:sp>
          <p:nvSpPr>
            <p:cNvPr id="6" name="Rectangle 6"/>
            <p:cNvSpPr/>
            <p:nvPr/>
          </p:nvSpPr>
          <p:spPr>
            <a:xfrm>
              <a:off x="209550" y="1162050"/>
              <a:ext cx="2819400" cy="876300"/>
            </a:xfrm>
            <a:prstGeom prst="roundRect">
              <a:avLst>
                <a:gd name="adj" fmla="val 17391"/>
              </a:avLst>
            </a:prstGeom>
            <a:solidFill>
              <a:schemeClr val="lt2"/>
            </a:solidFill>
            <a:ln w="9525">
              <a:solidFill>
                <a:srgbClr val="D4E4F8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3143250" y="1162050"/>
              <a:ext cx="2819400" cy="876300"/>
            </a:xfrm>
            <a:prstGeom prst="roundRect">
              <a:avLst>
                <a:gd name="adj" fmla="val 17391"/>
              </a:avLst>
            </a:prstGeom>
            <a:solidFill>
              <a:schemeClr val="lt2"/>
            </a:solidFill>
            <a:ln w="9525">
              <a:solidFill>
                <a:srgbClr val="D4E4F8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076950" y="1162050"/>
              <a:ext cx="2819400" cy="876300"/>
            </a:xfrm>
            <a:prstGeom prst="roundRect">
              <a:avLst>
                <a:gd name="adj" fmla="val 17391"/>
              </a:avLst>
            </a:prstGeom>
            <a:solidFill>
              <a:schemeClr val="lt2"/>
            </a:solidFill>
            <a:ln w="9525">
              <a:solidFill>
                <a:srgbClr val="D4E4F8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9010650" y="1162050"/>
              <a:ext cx="2971800" cy="876300"/>
            </a:xfrm>
            <a:prstGeom prst="roundRect">
              <a:avLst>
                <a:gd name="adj" fmla="val 17391"/>
              </a:avLst>
            </a:prstGeom>
            <a:solidFill>
              <a:schemeClr val="lt2"/>
            </a:solidFill>
            <a:ln w="9525">
              <a:solidFill>
                <a:srgbClr val="D4E4F8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428625" y="1343025"/>
              <a:ext cx="514350" cy="514350"/>
            </a:xfrm>
            <a:prstGeom prst="ellipse">
              <a:avLst/>
            </a:prstGeom>
            <a:solidFill>
              <a:srgbClr val="E7F1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30118" y="1483519"/>
              <a:ext cx="311364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51179" y="132778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年度采购业务超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5464" y="1587341"/>
              <a:ext cx="1138599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20 万次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3362325" y="1343025"/>
              <a:ext cx="514350" cy="514350"/>
            </a:xfrm>
            <a:prstGeom prst="ellipse">
              <a:avLst/>
            </a:prstGeom>
            <a:solidFill>
              <a:srgbClr val="E7F1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536897" y="1483519"/>
              <a:ext cx="165207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984879" y="13277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单次涉及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979164" y="1587341"/>
              <a:ext cx="1286169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8 类文件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6296025" y="1343025"/>
              <a:ext cx="514350" cy="514350"/>
            </a:xfrm>
            <a:prstGeom prst="ellipse">
              <a:avLst/>
            </a:prstGeom>
            <a:solidFill>
              <a:srgbClr val="E7F1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70658" y="1524000"/>
              <a:ext cx="3650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918579" y="132778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附件超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12864" y="1587341"/>
              <a:ext cx="1318963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100 余页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9229725" y="1343025"/>
              <a:ext cx="514350" cy="514350"/>
            </a:xfrm>
            <a:prstGeom prst="ellipse">
              <a:avLst/>
            </a:prstGeom>
            <a:solidFill>
              <a:srgbClr val="E7F1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270136" y="1540192"/>
              <a:ext cx="4335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100+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852279" y="132778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需核对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846945" y="1595438"/>
              <a:ext cx="145403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100+ 节点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209550" y="2171700"/>
            <a:ext cx="11772900" cy="3409950"/>
            <a:chOff x="209550" y="2171700"/>
            <a:chExt cx="11772900" cy="3409950"/>
          </a:xfrm>
        </p:grpSpPr>
        <p:sp>
          <p:nvSpPr>
            <p:cNvPr id="27" name="Rectangle 27"/>
            <p:cNvSpPr/>
            <p:nvPr/>
          </p:nvSpPr>
          <p:spPr>
            <a:xfrm>
              <a:off x="209550" y="2171700"/>
              <a:ext cx="5772150" cy="1638300"/>
            </a:xfrm>
            <a:prstGeom prst="roundRect">
              <a:avLst>
                <a:gd name="adj" fmla="val 9302"/>
              </a:avLst>
            </a:prstGeom>
            <a:solidFill>
              <a:schemeClr val="lt2"/>
            </a:solidFill>
            <a:ln w="9525">
              <a:solidFill>
                <a:srgbClr val="D4E4F8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10300" y="2171700"/>
              <a:ext cx="5772150" cy="1638300"/>
            </a:xfrm>
            <a:prstGeom prst="roundRect">
              <a:avLst>
                <a:gd name="adj" fmla="val 9302"/>
              </a:avLst>
            </a:prstGeom>
            <a:solidFill>
              <a:schemeClr val="lt2"/>
            </a:solidFill>
            <a:ln w="9525">
              <a:solidFill>
                <a:srgbClr val="D4E4F8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209550" y="3943350"/>
              <a:ext cx="5772150" cy="1638300"/>
            </a:xfrm>
            <a:prstGeom prst="roundRect">
              <a:avLst>
                <a:gd name="adj" fmla="val 9302"/>
              </a:avLst>
            </a:prstGeom>
            <a:solidFill>
              <a:schemeClr val="lt2"/>
            </a:solidFill>
            <a:ln w="9525">
              <a:solidFill>
                <a:srgbClr val="D4E4F8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210300" y="3943350"/>
              <a:ext cx="5772150" cy="1638300"/>
            </a:xfrm>
            <a:prstGeom prst="roundRect">
              <a:avLst>
                <a:gd name="adj" fmla="val 9302"/>
              </a:avLst>
            </a:prstGeom>
            <a:solidFill>
              <a:schemeClr val="lt2"/>
            </a:solidFill>
            <a:ln w="9525">
              <a:solidFill>
                <a:srgbClr val="D4E4F8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447675" y="2371725"/>
              <a:ext cx="704850" cy="704850"/>
            </a:xfrm>
            <a:prstGeom prst="ellipse">
              <a:avLst/>
            </a:prstGeom>
            <a:solidFill>
              <a:srgbClr val="E7F1FF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800100" y="2466975"/>
              <a:ext cx="200025" cy="390525"/>
            </a:xfrm>
            <a:custGeom>
              <a:avLst/>
              <a:gdLst/>
              <a:ahLst/>
              <a:cxnLst/>
              <a:rect l="l" t="t" r="r" b="b"/>
              <a:pathLst>
                <a:path w="200025" h="390525">
                  <a:moveTo>
                    <a:pt x="0" y="0"/>
                  </a:moveTo>
                  <a:lnTo>
                    <a:pt x="0" y="276225"/>
                  </a:lnTo>
                  <a:lnTo>
                    <a:pt x="200025" y="390525"/>
                  </a:lnTo>
                </a:path>
              </a:pathLst>
            </a:custGeom>
            <a:noFill/>
            <a:ln w="57150" cap="rnd">
              <a:solidFill>
                <a:schemeClr val="accent1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352550" y="2407444"/>
              <a:ext cx="1374323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01｜效率低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355217" y="2854642"/>
              <a:ext cx="2040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单批次人工审查约 3 小时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355217" y="32070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年度合规审查投入高达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325749" y="3182779"/>
              <a:ext cx="112150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2"/>
                  </a:solidFill>
                  <a:latin typeface="Microsoft YaHei"/>
                  <a:ea typeface="Microsoft YaHei"/>
                  <a:cs typeface="Microsoft YaHei"/>
                </a:rPr>
                <a:t>7.5 万人天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6448425" y="2371725"/>
              <a:ext cx="704850" cy="704850"/>
            </a:xfrm>
            <a:prstGeom prst="ellipse">
              <a:avLst/>
            </a:prstGeom>
            <a:solidFill>
              <a:srgbClr val="E7F1FF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6610350" y="2505075"/>
              <a:ext cx="381000" cy="438150"/>
            </a:xfrm>
            <a:custGeom>
              <a:avLst/>
              <a:gdLst/>
              <a:ahLst/>
              <a:cxnLst/>
              <a:rect l="l" t="t" r="r" b="b"/>
              <a:pathLst>
                <a:path w="381000" h="438150">
                  <a:moveTo>
                    <a:pt x="0" y="438150"/>
                  </a:moveTo>
                  <a:lnTo>
                    <a:pt x="0" y="0"/>
                  </a:lnTo>
                  <a:lnTo>
                    <a:pt x="381000" y="0"/>
                  </a:lnTo>
                  <a:lnTo>
                    <a:pt x="381000" y="438150"/>
                  </a:lnTo>
                  <a:moveTo>
                    <a:pt x="95250" y="142875"/>
                  </a:moveTo>
                  <a:lnTo>
                    <a:pt x="285750" y="142875"/>
                  </a:lnTo>
                  <a:moveTo>
                    <a:pt x="95250" y="266700"/>
                  </a:moveTo>
                  <a:lnTo>
                    <a:pt x="285750" y="26670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353300" y="2407444"/>
              <a:ext cx="1374323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02｜门槛高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55967" y="2854642"/>
              <a:ext cx="25035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需对照 20 余部法律法规与标准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55967" y="32070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人工遗漏与出错率约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116568" y="3174682"/>
              <a:ext cx="4482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30%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447675" y="4143375"/>
              <a:ext cx="704850" cy="704850"/>
            </a:xfrm>
            <a:prstGeom prst="ellipse">
              <a:avLst/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90550" y="4295775"/>
              <a:ext cx="419100" cy="295275"/>
            </a:xfrm>
            <a:prstGeom prst="roundRect">
              <a:avLst>
                <a:gd name="adj" fmla="val 16129"/>
              </a:avLst>
            </a:prstGeom>
            <a:solidFill>
              <a:schemeClr val="lt2"/>
            </a:solidFill>
            <a:ln w="28575">
              <a:solidFill>
                <a:schemeClr val="accent2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4396" y="4400074"/>
              <a:ext cx="2514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PDF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352550" y="4179094"/>
              <a:ext cx="1374323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03｜识别难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355217" y="4626292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多格式异构数据难以统一解析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355217" y="49787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隐性风险与跨文件异常难发现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448425" y="4143375"/>
              <a:ext cx="704850" cy="704850"/>
            </a:xfrm>
            <a:prstGeom prst="ellipse">
              <a:avLst/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6534150" y="4191000"/>
              <a:ext cx="533400" cy="733425"/>
            </a:xfrm>
            <a:custGeom>
              <a:avLst/>
              <a:gdLst/>
              <a:ahLst/>
              <a:cxnLst/>
              <a:rect l="l" t="t" r="r" b="b"/>
              <a:pathLst>
                <a:path w="533400" h="733425">
                  <a:moveTo>
                    <a:pt x="266700" y="0"/>
                  </a:moveTo>
                  <a:lnTo>
                    <a:pt x="533400" y="114300"/>
                  </a:lnTo>
                  <a:lnTo>
                    <a:pt x="533400" y="333375"/>
                  </a:lnTo>
                  <a:cubicBezTo>
                    <a:pt x="514350" y="571500"/>
                    <a:pt x="361950" y="676275"/>
                    <a:pt x="266700" y="733425"/>
                  </a:cubicBezTo>
                  <a:cubicBezTo>
                    <a:pt x="171450" y="676275"/>
                    <a:pt x="19050" y="571500"/>
                    <a:pt x="0" y="333375"/>
                  </a:cubicBezTo>
                  <a:lnTo>
                    <a:pt x="0" y="114300"/>
                  </a:lnTo>
                  <a:close/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49599" y="4437698"/>
              <a:ext cx="10250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!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353300" y="4179094"/>
              <a:ext cx="1374323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04｜防控晚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355967" y="4626292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围标串标、资质造假常在采购后暴露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355967" y="49787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整改、审计与追责成本高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209550" y="5753100"/>
            <a:ext cx="11772900" cy="800100"/>
            <a:chOff x="209550" y="5753100"/>
            <a:chExt cx="11772900" cy="800100"/>
          </a:xfrm>
        </p:grpSpPr>
        <p:sp>
          <p:nvSpPr>
            <p:cNvPr id="56" name="Rectangle 56"/>
            <p:cNvSpPr/>
            <p:nvPr/>
          </p:nvSpPr>
          <p:spPr>
            <a:xfrm>
              <a:off x="209550" y="5753100"/>
              <a:ext cx="11772900" cy="800100"/>
            </a:xfrm>
            <a:prstGeom prst="roundRect">
              <a:avLst>
                <a:gd name="adj" fmla="val 21429"/>
              </a:avLst>
            </a:prstGeom>
            <a:solidFill>
              <a:srgbClr val="EAF4FF"/>
            </a:solidFill>
            <a:ln w="9525">
              <a:solidFill>
                <a:srgbClr val="B9D7FA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974138" y="6031230"/>
              <a:ext cx="824372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 xml:space="preserve">人工审查模式 </a:t>
              </a:r>
              <a:r>
                <a:rPr lang="zh-CN" sz="2100" b="1" dirty="0">
                  <a:solidFill>
                    <a:schemeClr val="accent2"/>
                  </a:solidFill>
                  <a:latin typeface="Microsoft YaHei"/>
                  <a:ea typeface="Microsoft YaHei"/>
                  <a:cs typeface="Microsoft YaHei"/>
                </a:rPr>
                <a:t>无法同时满足</a:t>
              </a:r>
              <a:r>
                <a:rPr lang="zh-CN" sz="21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 xml:space="preserve"> “规模、速度、准确、实时、追溯”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329738" y="6387941"/>
              <a:ext cx="210690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数据来源：项目申报材料，统计周期待补充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83845"/>
            <a:ext cx="11556492" cy="716280"/>
            <a:chOff x="311658" y="283845"/>
            <a:chExt cx="11556492" cy="716280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83845"/>
              <a:ext cx="616467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03｜四类主体、四大风险贯穿交易全流程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691039"/>
              <a:ext cx="62162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两级协同监管围绕主体、文件、规则、行为、关系、时间和处置形成可核验证据链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819150" y="1028700"/>
            <a:ext cx="10553700" cy="952500"/>
            <a:chOff x="819150" y="1028700"/>
            <a:chExt cx="10553700" cy="952500"/>
          </a:xfrm>
        </p:grpSpPr>
        <p:sp>
          <p:nvSpPr>
            <p:cNvPr id="6" name="Rectangle 6"/>
            <p:cNvSpPr/>
            <p:nvPr/>
          </p:nvSpPr>
          <p:spPr>
            <a:xfrm>
              <a:off x="819150" y="1181100"/>
              <a:ext cx="4191000" cy="647700"/>
            </a:xfrm>
            <a:prstGeom prst="roundRect">
              <a:avLst>
                <a:gd name="adj" fmla="val 2352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7181850" y="1181100"/>
              <a:ext cx="4191000" cy="647700"/>
            </a:xfrm>
            <a:prstGeom prst="roundRect">
              <a:avLst>
                <a:gd name="adj" fmla="val 23529"/>
              </a:avLst>
            </a:prstGeom>
            <a:solidFill>
              <a:srgbClr val="0D9097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619750" y="1028700"/>
              <a:ext cx="952500" cy="952500"/>
            </a:xfrm>
            <a:prstGeom prst="ellipse">
              <a:avLst/>
            </a:prstGeom>
            <a:solidFill>
              <a:schemeClr val="lt2"/>
            </a:solidFill>
            <a:ln w="47625">
              <a:solidFill>
                <a:srgbClr val="5C8FD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176516" y="1385411"/>
              <a:ext cx="147626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集团集中监管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539216" y="1385411"/>
              <a:ext cx="147626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采购单位自查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707494" y="129254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两级协同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898318" y="1521142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监管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5010150" y="1504950"/>
              <a:ext cx="581025" cy="9525"/>
            </a:xfrm>
            <a:custGeom>
              <a:avLst/>
              <a:gdLst/>
              <a:ahLst/>
              <a:cxnLst/>
              <a:rect l="l" t="t" r="r" b="b"/>
              <a:pathLst>
                <a:path w="581025" h="9525">
                  <a:moveTo>
                    <a:pt x="0" y="0"/>
                  </a:moveTo>
                  <a:lnTo>
                    <a:pt x="581025" y="0"/>
                  </a:lnTo>
                </a:path>
              </a:pathLst>
            </a:custGeom>
            <a:noFill/>
            <a:ln w="47625">
              <a:solidFill>
                <a:schemeClr val="accent1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6600825" y="1504950"/>
              <a:ext cx="581025" cy="9525"/>
            </a:xfrm>
            <a:custGeom>
              <a:avLst/>
              <a:gdLst/>
              <a:ahLst/>
              <a:cxnLst/>
              <a:rect l="l" t="t" r="r" b="b"/>
              <a:pathLst>
                <a:path w="581025" h="9525">
                  <a:moveTo>
                    <a:pt x="0" y="0"/>
                  </a:moveTo>
                  <a:lnTo>
                    <a:pt x="581025" y="0"/>
                  </a:lnTo>
                </a:path>
              </a:pathLst>
            </a:custGeom>
            <a:noFill/>
            <a:ln w="47625">
              <a:solidFill>
                <a:srgbClr val="0D9097"/>
              </a:solidFill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304800" y="2095500"/>
            <a:ext cx="11582400" cy="3105150"/>
            <a:chOff x="304800" y="2095500"/>
            <a:chExt cx="11582400" cy="3105150"/>
          </a:xfrm>
        </p:grpSpPr>
        <p:sp>
          <p:nvSpPr>
            <p:cNvPr id="16" name="Rectangle 16"/>
            <p:cNvSpPr/>
            <p:nvPr/>
          </p:nvSpPr>
          <p:spPr>
            <a:xfrm>
              <a:off x="304800" y="2095500"/>
              <a:ext cx="11582400" cy="3105150"/>
            </a:xfrm>
            <a:prstGeom prst="roundRect">
              <a:avLst>
                <a:gd name="adj" fmla="val 4908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04800" y="2095500"/>
              <a:ext cx="1981200" cy="3105150"/>
            </a:xfrm>
            <a:prstGeom prst="roundRect">
              <a:avLst>
                <a:gd name="adj" fmla="val 7692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18" name="Line 18"/>
            <p:cNvSpPr/>
            <p:nvPr/>
          </p:nvSpPr>
          <p:spPr>
            <a:xfrm>
              <a:off x="2286000" y="2095500"/>
              <a:ext cx="9525" cy="3105150"/>
            </a:xfrm>
            <a:custGeom>
              <a:avLst/>
              <a:gdLst/>
              <a:ahLst/>
              <a:cxnLst/>
              <a:rect l="l" t="t" r="r" b="b"/>
              <a:pathLst>
                <a:path w="9525" h="3105150">
                  <a:moveTo>
                    <a:pt x="0" y="0"/>
                  </a:moveTo>
                  <a:lnTo>
                    <a:pt x="0" y="310515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4210050" y="2095500"/>
              <a:ext cx="9525" cy="3105150"/>
            </a:xfrm>
            <a:custGeom>
              <a:avLst/>
              <a:gdLst/>
              <a:ahLst/>
              <a:cxnLst/>
              <a:rect l="l" t="t" r="r" b="b"/>
              <a:pathLst>
                <a:path w="9525" h="3105150">
                  <a:moveTo>
                    <a:pt x="0" y="0"/>
                  </a:moveTo>
                  <a:lnTo>
                    <a:pt x="0" y="3105150"/>
                  </a:lnTo>
                </a:path>
              </a:pathLst>
            </a:custGeom>
            <a:noFill/>
            <a:ln w="9525">
              <a:solidFill>
                <a:srgbClr val="D6E3F0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6134100" y="2095500"/>
              <a:ext cx="9525" cy="3105150"/>
            </a:xfrm>
            <a:custGeom>
              <a:avLst/>
              <a:gdLst/>
              <a:ahLst/>
              <a:cxnLst/>
              <a:rect l="l" t="t" r="r" b="b"/>
              <a:pathLst>
                <a:path w="9525" h="3105150">
                  <a:moveTo>
                    <a:pt x="0" y="0"/>
                  </a:moveTo>
                  <a:lnTo>
                    <a:pt x="0" y="3105150"/>
                  </a:lnTo>
                </a:path>
              </a:pathLst>
            </a:custGeom>
            <a:noFill/>
            <a:ln w="9525">
              <a:solidFill>
                <a:srgbClr val="D6E3F0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8058150" y="2095500"/>
              <a:ext cx="9525" cy="3105150"/>
            </a:xfrm>
            <a:custGeom>
              <a:avLst/>
              <a:gdLst/>
              <a:ahLst/>
              <a:cxnLst/>
              <a:rect l="l" t="t" r="r" b="b"/>
              <a:pathLst>
                <a:path w="9525" h="3105150">
                  <a:moveTo>
                    <a:pt x="0" y="0"/>
                  </a:moveTo>
                  <a:lnTo>
                    <a:pt x="0" y="3105150"/>
                  </a:lnTo>
                </a:path>
              </a:pathLst>
            </a:custGeom>
            <a:noFill/>
            <a:ln w="9525">
              <a:solidFill>
                <a:srgbClr val="D6E3F0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9982200" y="2095500"/>
              <a:ext cx="9525" cy="3105150"/>
            </a:xfrm>
            <a:custGeom>
              <a:avLst/>
              <a:gdLst/>
              <a:ahLst/>
              <a:cxnLst/>
              <a:rect l="l" t="t" r="r" b="b"/>
              <a:pathLst>
                <a:path w="9525" h="3105150">
                  <a:moveTo>
                    <a:pt x="0" y="0"/>
                  </a:moveTo>
                  <a:lnTo>
                    <a:pt x="0" y="3105150"/>
                  </a:lnTo>
                </a:path>
              </a:pathLst>
            </a:custGeom>
            <a:noFill/>
            <a:ln w="9525">
              <a:solidFill>
                <a:srgbClr val="D6E3F0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304800" y="2619375"/>
              <a:ext cx="11582400" cy="9525"/>
            </a:xfrm>
            <a:custGeom>
              <a:avLst/>
              <a:gdLst/>
              <a:ahLst/>
              <a:cxnLst/>
              <a:rect l="l" t="t" r="r" b="b"/>
              <a:pathLst>
                <a:path w="11582400" h="9525">
                  <a:moveTo>
                    <a:pt x="0" y="0"/>
                  </a:moveTo>
                  <a:lnTo>
                    <a:pt x="11582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304800" y="3267075"/>
              <a:ext cx="11582400" cy="9525"/>
            </a:xfrm>
            <a:custGeom>
              <a:avLst/>
              <a:gdLst/>
              <a:ahLst/>
              <a:cxnLst/>
              <a:rect l="l" t="t" r="r" b="b"/>
              <a:pathLst>
                <a:path w="11582400" h="9525">
                  <a:moveTo>
                    <a:pt x="0" y="0"/>
                  </a:moveTo>
                  <a:lnTo>
                    <a:pt x="11582400" y="0"/>
                  </a:lnTo>
                </a:path>
              </a:pathLst>
            </a:custGeom>
            <a:noFill/>
            <a:ln w="9525">
              <a:solidFill>
                <a:srgbClr val="D6E3F0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304800" y="3914775"/>
              <a:ext cx="11582400" cy="9525"/>
            </a:xfrm>
            <a:custGeom>
              <a:avLst/>
              <a:gdLst/>
              <a:ahLst/>
              <a:cxnLst/>
              <a:rect l="l" t="t" r="r" b="b"/>
              <a:pathLst>
                <a:path w="11582400" h="9525">
                  <a:moveTo>
                    <a:pt x="0" y="0"/>
                  </a:moveTo>
                  <a:lnTo>
                    <a:pt x="11582400" y="0"/>
                  </a:lnTo>
                </a:path>
              </a:pathLst>
            </a:custGeom>
            <a:noFill/>
            <a:ln w="9525">
              <a:solidFill>
                <a:srgbClr val="D6E3F0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304800" y="4562475"/>
              <a:ext cx="11582400" cy="9525"/>
            </a:xfrm>
            <a:custGeom>
              <a:avLst/>
              <a:gdLst/>
              <a:ahLst/>
              <a:cxnLst/>
              <a:rect l="l" t="t" r="r" b="b"/>
              <a:pathLst>
                <a:path w="11582400" h="9525">
                  <a:moveTo>
                    <a:pt x="0" y="0"/>
                  </a:moveTo>
                  <a:lnTo>
                    <a:pt x="11582400" y="0"/>
                  </a:lnTo>
                </a:path>
              </a:pathLst>
            </a:custGeom>
            <a:noFill/>
            <a:ln w="9525">
              <a:solidFill>
                <a:srgbClr val="D6E3F0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879689" y="2291239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采购需求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803739" y="2291239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招标发布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27789" y="2291239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投标响应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651839" y="2291239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评标定标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575889" y="2291239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合同履约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52397" y="2849404"/>
              <a:ext cx="68600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采购方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52397" y="3497104"/>
              <a:ext cx="68600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0D9097"/>
                  </a:solidFill>
                  <a:latin typeface="Microsoft YaHei"/>
                  <a:ea typeface="Microsoft YaHei"/>
                  <a:cs typeface="Microsoft YaHei"/>
                </a:rPr>
                <a:t>供应商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52397" y="4144804"/>
              <a:ext cx="68600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评审方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52397" y="4792504"/>
              <a:ext cx="68600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D94F4F"/>
                  </a:solidFill>
                  <a:latin typeface="Microsoft YaHei"/>
                  <a:ea typeface="Microsoft YaHei"/>
                  <a:cs typeface="Microsoft YaHei"/>
                </a:rPr>
                <a:t>履约方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2619375" y="2781300"/>
              <a:ext cx="4333875" cy="3048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909621" y="2870835"/>
              <a:ext cx="37438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ja-JP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规则设置风险｜违法分包・排斥条款・文件不规范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6953250" y="2933700"/>
              <a:ext cx="2809875" cy="9525"/>
            </a:xfrm>
            <a:custGeom>
              <a:avLst/>
              <a:gdLst/>
              <a:ahLst/>
              <a:cxnLst/>
              <a:rect l="l" t="t" r="r" b="b"/>
              <a:pathLst>
                <a:path w="2809875" h="9525">
                  <a:moveTo>
                    <a:pt x="0" y="0"/>
                  </a:moveTo>
                  <a:lnTo>
                    <a:pt x="2809875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  <a:custDash>
                <a:ds d="266667" sp="200000"/>
              </a:custDash>
            </a:ln>
          </p:spPr>
        </p:sp>
        <p:sp>
          <p:nvSpPr>
            <p:cNvPr id="39" name="Rectangle 39"/>
            <p:cNvSpPr/>
            <p:nvPr/>
          </p:nvSpPr>
          <p:spPr>
            <a:xfrm>
              <a:off x="4629150" y="3429000"/>
              <a:ext cx="4191000" cy="304800"/>
            </a:xfrm>
            <a:prstGeom prst="roundRect">
              <a:avLst>
                <a:gd name="adj" fmla="val 50000"/>
              </a:avLst>
            </a:prstGeom>
            <a:solidFill>
              <a:srgbClr val="0D9097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870448" y="3518535"/>
              <a:ext cx="17084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投标真实性与关联风险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8820150" y="3581400"/>
              <a:ext cx="2562225" cy="9525"/>
            </a:xfrm>
            <a:custGeom>
              <a:avLst/>
              <a:gdLst/>
              <a:ahLst/>
              <a:cxnLst/>
              <a:rect l="l" t="t" r="r" b="b"/>
              <a:pathLst>
                <a:path w="2562225" h="9525">
                  <a:moveTo>
                    <a:pt x="0" y="0"/>
                  </a:moveTo>
                  <a:lnTo>
                    <a:pt x="2562225" y="0"/>
                  </a:lnTo>
                </a:path>
              </a:pathLst>
            </a:custGeom>
            <a:noFill/>
            <a:ln w="28575">
              <a:solidFill>
                <a:srgbClr val="0D9097"/>
              </a:solidFill>
              <a:custDash>
                <a:ds d="266667" sp="200000"/>
              </a:custDash>
            </a:ln>
          </p:spPr>
        </p:sp>
        <p:sp>
          <p:nvSpPr>
            <p:cNvPr id="42" name="Rectangle 42"/>
            <p:cNvSpPr/>
            <p:nvPr/>
          </p:nvSpPr>
          <p:spPr>
            <a:xfrm>
              <a:off x="6667500" y="4076700"/>
              <a:ext cx="2905125" cy="3048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430719" y="4166235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评审过程合规风险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9572625" y="4229100"/>
              <a:ext cx="1809750" cy="9525"/>
            </a:xfrm>
            <a:custGeom>
              <a:avLst/>
              <a:gdLst/>
              <a:ahLst/>
              <a:cxnLst/>
              <a:rect l="l" t="t" r="r" b="b"/>
              <a:pathLst>
                <a:path w="1809750" h="9525">
                  <a:moveTo>
                    <a:pt x="0" y="0"/>
                  </a:moveTo>
                  <a:lnTo>
                    <a:pt x="1809750" y="0"/>
                  </a:lnTo>
                </a:path>
              </a:pathLst>
            </a:custGeom>
            <a:noFill/>
            <a:ln w="28575">
              <a:solidFill>
                <a:schemeClr val="accent5"/>
              </a:solidFill>
              <a:custDash>
                <a:ds d="266667" sp="200000"/>
              </a:custDash>
            </a:ln>
          </p:spPr>
        </p:sp>
        <p:sp>
          <p:nvSpPr>
            <p:cNvPr id="45" name="Rectangle 45"/>
            <p:cNvSpPr/>
            <p:nvPr/>
          </p:nvSpPr>
          <p:spPr>
            <a:xfrm>
              <a:off x="8458200" y="4724400"/>
              <a:ext cx="2952750" cy="304800"/>
            </a:xfrm>
            <a:prstGeom prst="roundRect">
              <a:avLst>
                <a:gd name="adj" fmla="val 50000"/>
              </a:avLst>
            </a:prstGeom>
            <a:solidFill>
              <a:srgbClr val="D94F4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080373" y="4813935"/>
              <a:ext cx="17084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合同一致性与履约风险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297561" y="5504021"/>
            <a:ext cx="11589639" cy="1045845"/>
            <a:chOff x="297561" y="5504021"/>
            <a:chExt cx="11589639" cy="1045845"/>
          </a:xfrm>
        </p:grpSpPr>
        <p:sp>
          <p:nvSpPr>
            <p:cNvPr id="48" name="TextBox 48"/>
            <p:cNvSpPr txBox="1"/>
            <p:nvPr/>
          </p:nvSpPr>
          <p:spPr>
            <a:xfrm>
              <a:off x="297561" y="5504021"/>
              <a:ext cx="8173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证据主线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04800" y="5810250"/>
              <a:ext cx="11582400" cy="6096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662327" y="6029325"/>
              <a:ext cx="8867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334A67"/>
                  </a:solidFill>
                  <a:latin typeface="Microsoft YaHei"/>
                  <a:ea typeface="Microsoft YaHei"/>
                  <a:cs typeface="Microsoft YaHei"/>
                </a:rPr>
                <a:t>主体身份与关系 → 原始文件与版本 → 规则和行为记录 → 时间节点 → 风险依据 → 复核及处置记录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901238" y="6387941"/>
              <a:ext cx="166535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实线：当前能力｜虚线：规划扩展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83845"/>
            <a:ext cx="11556492" cy="716280"/>
            <a:chOff x="311658" y="283845"/>
            <a:chExt cx="11556492" cy="716280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83845"/>
              <a:ext cx="412921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04｜构建立体穿透监管闭环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691039"/>
              <a:ext cx="5010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一轴贯全程、三流穿数据、双擎识风险、两级强协同、六步成闭环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266700" y="1257300"/>
            <a:ext cx="2000250" cy="4095750"/>
            <a:chOff x="266700" y="1257300"/>
            <a:chExt cx="2000250" cy="4095750"/>
          </a:xfrm>
        </p:grpSpPr>
        <p:sp>
          <p:nvSpPr>
            <p:cNvPr id="6" name="Rectangle 6"/>
            <p:cNvSpPr/>
            <p:nvPr/>
          </p:nvSpPr>
          <p:spPr>
            <a:xfrm>
              <a:off x="266700" y="1257300"/>
              <a:ext cx="2000250" cy="4095750"/>
            </a:xfrm>
            <a:prstGeom prst="roundRect">
              <a:avLst>
                <a:gd name="adj" fmla="val 857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9139" y="14382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双引擎输入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476250" y="1809750"/>
              <a:ext cx="1581150" cy="1428750"/>
            </a:xfrm>
            <a:prstGeom prst="roundRect">
              <a:avLst>
                <a:gd name="adj" fmla="val 10000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990600" y="1981200"/>
              <a:ext cx="552450" cy="552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80085" y="2150269"/>
              <a:ext cx="17348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1815" y="2556986"/>
              <a:ext cx="99002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规则引擎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07238" y="291703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ja-JP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字段・阈值・关系计算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76250" y="3429000"/>
              <a:ext cx="1581150" cy="1428750"/>
            </a:xfrm>
            <a:prstGeom prst="roundRect">
              <a:avLst>
                <a:gd name="adj" fmla="val 10000"/>
              </a:avLst>
            </a:prstGeom>
            <a:solidFill>
              <a:srgbClr val="F1EDFF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990600" y="3600450"/>
              <a:ext cx="552450" cy="5524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37968" y="3769519"/>
              <a:ext cx="257714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3467" y="4176236"/>
              <a:ext cx="82671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AI 模型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07238" y="453628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ja-JP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语义・比对・关联推理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2476500" y="1181100"/>
            <a:ext cx="7143750" cy="4400550"/>
            <a:chOff x="2476500" y="1181100"/>
            <a:chExt cx="7143750" cy="4400550"/>
          </a:xfrm>
        </p:grpSpPr>
        <p:sp>
          <p:nvSpPr>
            <p:cNvPr id="19" name="Rectangle 19"/>
            <p:cNvSpPr/>
            <p:nvPr/>
          </p:nvSpPr>
          <p:spPr>
            <a:xfrm>
              <a:off x="2476500" y="1181100"/>
              <a:ext cx="7143750" cy="4400550"/>
            </a:xfrm>
            <a:prstGeom prst="roundRect">
              <a:avLst>
                <a:gd name="adj" fmla="val 5195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3019425" y="1362075"/>
              <a:ext cx="6057900" cy="4381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284410" y="1485900"/>
              <a:ext cx="55279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ja-JP" sz="15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集团集中监管｜集中监测・穿透分析・预警处置・督办考核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4543425" y="1905000"/>
              <a:ext cx="3009900" cy="3009900"/>
            </a:xfrm>
            <a:prstGeom prst="ellipse">
              <a:avLst/>
            </a:prstGeom>
            <a:solidFill>
              <a:srgbClr val="E9F3FF"/>
            </a:solidFill>
            <a:ln w="95250">
              <a:solidFill>
                <a:srgbClr val="9CC5F2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5324475" y="2686050"/>
              <a:ext cx="1447800" cy="1447800"/>
            </a:xfrm>
            <a:prstGeom prst="ellipse">
              <a:avLst/>
            </a:prstGeom>
            <a:solidFill>
              <a:schemeClr val="lt2"/>
            </a:solidFill>
            <a:ln w="28575">
              <a:solidFill>
                <a:schemeClr val="accent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456920" y="3127058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数字合规官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129555" y="3470910"/>
              <a:ext cx="18376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跨主体 × 跨文件 × 跨阶段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5705475" y="1752600"/>
              <a:ext cx="685800" cy="685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6838950" y="2409825"/>
              <a:ext cx="685800" cy="685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6838950" y="3724275"/>
              <a:ext cx="685800" cy="685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5705475" y="4381500"/>
              <a:ext cx="685800" cy="685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4572000" y="3724275"/>
              <a:ext cx="685800" cy="685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4572000" y="2409825"/>
              <a:ext cx="685800" cy="685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860969" y="2024539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识别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994444" y="2681764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预警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994444" y="3996214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核查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860969" y="4653439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取证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727494" y="3996214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处置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727494" y="2681764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反馈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3019425" y="5029200"/>
              <a:ext cx="6057900" cy="4000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431797" y="5142071"/>
              <a:ext cx="523315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ja-JP" sz="14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采购单位自查｜业务自查・风险复核・整改闭环・数据回写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9829800" y="1257300"/>
            <a:ext cx="2095500" cy="4095750"/>
            <a:chOff x="9829800" y="1257300"/>
            <a:chExt cx="2095500" cy="4095750"/>
          </a:xfrm>
        </p:grpSpPr>
        <p:sp>
          <p:nvSpPr>
            <p:cNvPr id="41" name="Rectangle 41"/>
            <p:cNvSpPr/>
            <p:nvPr/>
          </p:nvSpPr>
          <p:spPr>
            <a:xfrm>
              <a:off x="9829800" y="1257300"/>
              <a:ext cx="2095500" cy="4095750"/>
            </a:xfrm>
            <a:prstGeom prst="roundRect">
              <a:avLst>
                <a:gd name="adj" fmla="val 8182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233850" y="14382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分级动作输出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0058400" y="1847850"/>
              <a:ext cx="1638300" cy="514350"/>
            </a:xfrm>
            <a:prstGeom prst="roundRect">
              <a:avLst>
                <a:gd name="adj" fmla="val 25926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10058400" y="2476500"/>
              <a:ext cx="1638300" cy="514350"/>
            </a:xfrm>
            <a:prstGeom prst="roundRect">
              <a:avLst>
                <a:gd name="adj" fmla="val 25926"/>
              </a:avLst>
            </a:prstGeom>
            <a:solidFill>
              <a:srgbClr val="FFF4DE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10058400" y="3105150"/>
              <a:ext cx="1638300" cy="514350"/>
            </a:xfrm>
            <a:prstGeom prst="roundRect">
              <a:avLst>
                <a:gd name="adj" fmla="val 25926"/>
              </a:avLst>
            </a:prstGeom>
            <a:solidFill>
              <a:srgbClr val="FFE9E6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10058400" y="3733800"/>
              <a:ext cx="1638300" cy="514350"/>
            </a:xfrm>
            <a:prstGeom prst="roundRect">
              <a:avLst>
                <a:gd name="adj" fmla="val 25926"/>
              </a:avLst>
            </a:prstGeom>
            <a:solidFill>
              <a:srgbClr val="E8F7EF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10058400" y="4362450"/>
              <a:ext cx="1638300" cy="514350"/>
            </a:xfrm>
            <a:prstGeom prst="roundRect">
              <a:avLst>
                <a:gd name="adj" fmla="val 25926"/>
              </a:avLst>
            </a:prstGeom>
            <a:solidFill>
              <a:srgbClr val="F1ED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679868" y="202596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提示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679868" y="26546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C98700"/>
                  </a:solidFill>
                  <a:latin typeface="Microsoft YaHei"/>
                  <a:ea typeface="Microsoft YaHei"/>
                  <a:cs typeface="Microsoft YaHei"/>
                </a:rPr>
                <a:t>复核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679868" y="328326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D94F4F"/>
                  </a:solidFill>
                  <a:latin typeface="Microsoft YaHei"/>
                  <a:ea typeface="Microsoft YaHei"/>
                  <a:cs typeface="Microsoft YaHei"/>
                </a:rPr>
                <a:t>拦截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379321" y="3911918"/>
              <a:ext cx="9964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68A50"/>
                  </a:solidFill>
                  <a:latin typeface="Microsoft YaHei"/>
                  <a:ea typeface="Microsoft YaHei"/>
                  <a:cs typeface="Microsoft YaHei"/>
                </a:rPr>
                <a:t>整改 / 解除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584456" y="4540568"/>
              <a:ext cx="586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转审计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285750" y="5772150"/>
            <a:ext cx="11620500" cy="742950"/>
            <a:chOff x="285750" y="5772150"/>
            <a:chExt cx="11620500" cy="742950"/>
          </a:xfrm>
        </p:grpSpPr>
        <p:sp>
          <p:nvSpPr>
            <p:cNvPr id="54" name="Rectangle 54"/>
            <p:cNvSpPr/>
            <p:nvPr/>
          </p:nvSpPr>
          <p:spPr>
            <a:xfrm>
              <a:off x="285750" y="5772150"/>
              <a:ext cx="11620500" cy="742950"/>
            </a:xfrm>
            <a:prstGeom prst="roundRect">
              <a:avLst>
                <a:gd name="adj" fmla="val 23077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42172" y="6063139"/>
              <a:ext cx="16684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单点审查 → 全链穿透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690147" y="6063139"/>
              <a:ext cx="16684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人工经验 → 人机协同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595272" y="6063139"/>
              <a:ext cx="16684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2"/>
                  </a:solidFill>
                  <a:latin typeface="Microsoft YaHei"/>
                  <a:ea typeface="Microsoft YaHei"/>
                  <a:cs typeface="Microsoft YaHei"/>
                </a:rPr>
                <a:t>事后追责 → 实时防控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471822" y="6063139"/>
              <a:ext cx="16684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风险结论 → 证据闭环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83845"/>
            <a:ext cx="11556492" cy="716280"/>
            <a:chOff x="311658" y="283845"/>
            <a:chExt cx="11556492" cy="716280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83845"/>
              <a:ext cx="412921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05｜从多源数据到监管证据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691039"/>
              <a:ext cx="62162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具体接入、统一加工、要素形成、交叉核验和人工优化，构成可信的数据要素基座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71" name="Group 71"/>
          <p:cNvGrpSpPr/>
          <p:nvPr/>
        </p:nvGrpSpPr>
        <p:grpSpPr>
          <a:xfrm>
            <a:off x="209550" y="1181100"/>
            <a:ext cx="11772900" cy="4000500"/>
            <a:chOff x="209550" y="1181100"/>
            <a:chExt cx="11772900" cy="4000500"/>
          </a:xfrm>
        </p:grpSpPr>
        <p:sp>
          <p:nvSpPr>
            <p:cNvPr id="6" name="Rectangle 6"/>
            <p:cNvSpPr/>
            <p:nvPr/>
          </p:nvSpPr>
          <p:spPr>
            <a:xfrm>
              <a:off x="209550" y="1181100"/>
              <a:ext cx="2190750" cy="4000500"/>
            </a:xfrm>
            <a:prstGeom prst="roundRect">
              <a:avLst>
                <a:gd name="adj" fmla="val 6957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2543175" y="1181100"/>
              <a:ext cx="2095500" cy="4000500"/>
            </a:xfrm>
            <a:prstGeom prst="roundRect">
              <a:avLst>
                <a:gd name="adj" fmla="val 7273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4781550" y="1181100"/>
              <a:ext cx="2190750" cy="4000500"/>
            </a:xfrm>
            <a:prstGeom prst="roundRect">
              <a:avLst>
                <a:gd name="adj" fmla="val 6957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7115175" y="1181100"/>
              <a:ext cx="2809875" cy="4000500"/>
            </a:xfrm>
            <a:prstGeom prst="roundRect">
              <a:avLst>
                <a:gd name="adj" fmla="val 5424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10067925" y="1181100"/>
              <a:ext cx="1914525" cy="4000500"/>
            </a:xfrm>
            <a:prstGeom prst="roundRect">
              <a:avLst>
                <a:gd name="adj" fmla="val 796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209550" y="1181100"/>
              <a:ext cx="2190750" cy="457200"/>
            </a:xfrm>
            <a:prstGeom prst="roundRect">
              <a:avLst>
                <a:gd name="adj" fmla="val 3333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543175" y="1181100"/>
              <a:ext cx="2095500" cy="457200"/>
            </a:xfrm>
            <a:prstGeom prst="roundRect">
              <a:avLst>
                <a:gd name="adj" fmla="val 3333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4781550" y="1181100"/>
              <a:ext cx="2190750" cy="457200"/>
            </a:xfrm>
            <a:prstGeom prst="roundRect">
              <a:avLst>
                <a:gd name="adj" fmla="val 3333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115175" y="1181100"/>
              <a:ext cx="2809875" cy="457200"/>
            </a:xfrm>
            <a:prstGeom prst="roundRect">
              <a:avLst>
                <a:gd name="adj" fmla="val 3333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0067925" y="1181100"/>
              <a:ext cx="1914525" cy="457200"/>
            </a:xfrm>
            <a:prstGeom prst="roundRect">
              <a:avLst>
                <a:gd name="adj" fmla="val 3333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82843" y="1330642"/>
              <a:ext cx="10441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1. 数据来源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068843" y="1330642"/>
              <a:ext cx="10441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2. 对齐加工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354843" y="1330642"/>
              <a:ext cx="10441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3. 要素形成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93268" y="1330642"/>
              <a:ext cx="10441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4. 场景核验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498343" y="1330642"/>
              <a:ext cx="10441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5. 人工优化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81000" y="1809750"/>
              <a:ext cx="1847850" cy="914400"/>
            </a:xfrm>
            <a:prstGeom prst="roundRect">
              <a:avLst>
                <a:gd name="adj" fmla="val 12500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17398" y="1919764"/>
              <a:ext cx="10985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内部业务数据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8541" y="2220278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需求、公告、文件、报名附件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18541" y="2448878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评标结果、合同、历史文件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81000" y="2876550"/>
              <a:ext cx="1847850" cy="1066800"/>
            </a:xfrm>
            <a:prstGeom prst="roundRect">
              <a:avLst>
                <a:gd name="adj" fmla="val 10714"/>
              </a:avLst>
            </a:prstGeom>
            <a:solidFill>
              <a:srgbClr val="E8F7E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17398" y="2986564"/>
              <a:ext cx="10985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68A50"/>
                  </a:solidFill>
                  <a:latin typeface="Microsoft YaHei"/>
                  <a:ea typeface="Microsoft YaHei"/>
                  <a:cs typeface="Microsoft YaHei"/>
                </a:rPr>
                <a:t>外部三方信源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18541" y="3287078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大司空资质・失信名单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18541" y="351567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启信宝工商信息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18541" y="3744278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主体、关系、信用、有效期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81000" y="4095750"/>
              <a:ext cx="1847850" cy="895350"/>
            </a:xfrm>
            <a:prstGeom prst="roundRect">
              <a:avLst>
                <a:gd name="adj" fmla="val 12766"/>
              </a:avLst>
            </a:prstGeom>
            <a:solidFill>
              <a:srgbClr val="F1ED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17398" y="4205764"/>
              <a:ext cx="10985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合规要求来源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18541" y="4506278"/>
              <a:ext cx="14383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20余部法规与行业标准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18541" y="4734878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中建内部合规审计要求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3295650" y="1819275"/>
              <a:ext cx="590550" cy="590550"/>
            </a:xfrm>
            <a:prstGeom prst="ellipse">
              <a:avLst/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477810" y="2012632"/>
              <a:ext cx="2262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ID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202419" y="24641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主体对齐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020187" y="28013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统一社会信用代码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949512" y="303942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企业名称与关系映射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2781300" y="3371850"/>
              <a:ext cx="1619250" cy="9525"/>
            </a:xfrm>
            <a:custGeom>
              <a:avLst/>
              <a:gdLst/>
              <a:ahLst/>
              <a:cxnLst/>
              <a:rect l="l" t="t" r="r" b="b"/>
              <a:pathLst>
                <a:path w="1619250" h="9525">
                  <a:moveTo>
                    <a:pt x="0" y="0"/>
                  </a:moveTo>
                  <a:lnTo>
                    <a:pt x="1619250" y="0"/>
                  </a:lnTo>
                </a:path>
              </a:pathLst>
            </a:custGeom>
            <a:noFill/>
            <a:ln w="9525">
              <a:solidFill>
                <a:srgbClr val="D6E3F0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222589" y="3539014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文档解析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626004" y="3830002"/>
              <a:ext cx="19298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ja-JP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OCR・字段抽取・格式标准化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951196" y="4186714"/>
              <a:ext cx="12794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规则拆解与关联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797559" y="4477702"/>
              <a:ext cx="15867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法规条款 → 标签与核查项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975098" y="1843564"/>
              <a:ext cx="10985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企业主体档案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975860" y="218360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统一标识、基本信息、经营状态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975098" y="2586514"/>
              <a:ext cx="12794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工商关系与资质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975860" y="292655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股东人员、类型等级、有效状态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975098" y="3329464"/>
              <a:ext cx="12794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信用与历史行为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975860" y="366950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违法失信、历史文件、投标行为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975098" y="4072414"/>
              <a:ext cx="14603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文件特征与风险项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975860" y="441245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规则核查项、命中位置和风险等级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286625" y="1809750"/>
              <a:ext cx="2466975" cy="895350"/>
            </a:xfrm>
            <a:prstGeom prst="roundRect">
              <a:avLst>
                <a:gd name="adj" fmla="val 12766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461123" y="1948339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资质核验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461885" y="2269331"/>
              <a:ext cx="23182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公告要求 × 资质数据 × 供应商附件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286625" y="2867025"/>
              <a:ext cx="2466975" cy="895350"/>
            </a:xfrm>
            <a:prstGeom prst="roundRect">
              <a:avLst>
                <a:gd name="adj" fmla="val 12766"/>
              </a:avLst>
            </a:prstGeom>
            <a:solidFill>
              <a:srgbClr val="E8F7E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461123" y="3005614"/>
              <a:ext cx="9176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268A50"/>
                  </a:solidFill>
                  <a:latin typeface="Microsoft YaHei"/>
                  <a:ea typeface="Microsoft YaHei"/>
                  <a:cs typeface="Microsoft YaHei"/>
                </a:rPr>
                <a:t>供应商准入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461885" y="3326606"/>
              <a:ext cx="18659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主体 × 工商关系 × 失信信息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7286625" y="3924300"/>
              <a:ext cx="2466975" cy="1066800"/>
            </a:xfrm>
            <a:prstGeom prst="roundRect">
              <a:avLst>
                <a:gd name="adj" fmla="val 10714"/>
              </a:avLst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461123" y="4062889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Microsoft YaHei"/>
                  <a:ea typeface="Microsoft YaHei"/>
                  <a:cs typeface="Microsoft YaHei"/>
                </a:rPr>
                <a:t>文件合规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461885" y="4383881"/>
              <a:ext cx="21675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业务文件 × 法规 × 内部审计规则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462266" y="4639628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排斥条款、完整性、异常一致性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10706100" y="1838325"/>
              <a:ext cx="628650" cy="628650"/>
            </a:xfrm>
            <a:prstGeom prst="ellipse">
              <a:avLst/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0944803" y="2052161"/>
              <a:ext cx="15124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505465" y="257556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人员查看结果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562387" y="29265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提交问题反馈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475692" y="3269456"/>
              <a:ext cx="1089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产品 / 研发分析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185451" y="361235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修改规则、提示词或代码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487000" y="39552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测试验证后发布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10296525" y="4400550"/>
              <a:ext cx="1447800" cy="457200"/>
            </a:xfrm>
            <a:prstGeom prst="roundRect">
              <a:avLst>
                <a:gd name="adj" fmla="val 50000"/>
              </a:avLst>
            </a:prstGeom>
            <a:solidFill>
              <a:srgbClr val="FFF4DE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10302301" y="4574381"/>
              <a:ext cx="14362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98700"/>
                  </a:solidFill>
                  <a:latin typeface="Microsoft YaHei"/>
                  <a:ea typeface="Microsoft YaHei"/>
                  <a:cs typeface="Microsoft YaHei"/>
                </a:rPr>
                <a:t>当前非自动在线学习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209550" y="5429250"/>
            <a:ext cx="11772900" cy="971550"/>
            <a:chOff x="209550" y="5429250"/>
            <a:chExt cx="11772900" cy="971550"/>
          </a:xfrm>
        </p:grpSpPr>
        <p:sp>
          <p:nvSpPr>
            <p:cNvPr id="72" name="Rectangle 72"/>
            <p:cNvSpPr/>
            <p:nvPr/>
          </p:nvSpPr>
          <p:spPr>
            <a:xfrm>
              <a:off x="209550" y="5429250"/>
              <a:ext cx="11772900" cy="971550"/>
            </a:xfrm>
            <a:prstGeom prst="roundRect">
              <a:avLst>
                <a:gd name="adj" fmla="val 17647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449580" y="5619750"/>
              <a:ext cx="1711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数据安全横向底座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2565273" y="564403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授权调用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4470273" y="564403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权限控制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375273" y="564403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脱敏展示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280273" y="564403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操作留痕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185273" y="564403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字段与保存策略待补充</a:t>
              </a:r>
            </a:p>
          </p:txBody>
        </p:sp>
        <p:sp>
          <p:nvSpPr>
            <p:cNvPr id="79" name="Line 79"/>
            <p:cNvSpPr/>
            <p:nvPr/>
          </p:nvSpPr>
          <p:spPr>
            <a:xfrm>
              <a:off x="457200" y="6048375"/>
              <a:ext cx="11258550" cy="9525"/>
            </a:xfrm>
            <a:custGeom>
              <a:avLst/>
              <a:gdLst/>
              <a:ahLst/>
              <a:cxnLst/>
              <a:rect l="l" t="t" r="r" b="b"/>
              <a:pathLst>
                <a:path w="11258550" h="9525">
                  <a:moveTo>
                    <a:pt x="0" y="0"/>
                  </a:moveTo>
                  <a:lnTo>
                    <a:pt x="112585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452247" y="6190774"/>
              <a:ext cx="47593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数据来源：项目材料；外部信源授权方式、更新频率、字段范围及保存策略待补充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83845"/>
            <a:ext cx="11556492" cy="716280"/>
            <a:chOff x="311658" y="283845"/>
            <a:chExt cx="11556492" cy="716280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83845"/>
              <a:ext cx="412921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06｜业务上报驱动规则核查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691039"/>
              <a:ext cx="72501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关键节点按场景上报数据，经统一清洗、规则分发与判定后，将通过、复核或拦截结果返回业务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209550" y="1238250"/>
            <a:ext cx="1428750" cy="3619500"/>
            <a:chOff x="209550" y="1238250"/>
            <a:chExt cx="1428750" cy="3619500"/>
          </a:xfrm>
        </p:grpSpPr>
        <p:sp>
          <p:nvSpPr>
            <p:cNvPr id="6" name="Rectangle 6"/>
            <p:cNvSpPr/>
            <p:nvPr/>
          </p:nvSpPr>
          <p:spPr>
            <a:xfrm>
              <a:off x="209550" y="1238250"/>
              <a:ext cx="1428750" cy="3619500"/>
            </a:xfrm>
            <a:prstGeom prst="roundRect">
              <a:avLst>
                <a:gd name="adj" fmla="val 10667"/>
              </a:avLst>
            </a:prstGeom>
            <a:solidFill>
              <a:srgbClr val="F1EDFF"/>
            </a:solidFill>
            <a:ln w="9525">
              <a:solidFill>
                <a:srgbClr val="CFC5F0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24155" y="1394460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外部数据与依据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381000" y="1762125"/>
              <a:ext cx="1085850" cy="552450"/>
            </a:xfrm>
            <a:prstGeom prst="roundRect">
              <a:avLst>
                <a:gd name="adj" fmla="val 2069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381000" y="2447925"/>
              <a:ext cx="1085850" cy="552450"/>
            </a:xfrm>
            <a:prstGeom prst="roundRect">
              <a:avLst>
                <a:gd name="adj" fmla="val 2069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381000" y="3133725"/>
              <a:ext cx="1085850" cy="552450"/>
            </a:xfrm>
            <a:prstGeom prst="roundRect">
              <a:avLst>
                <a:gd name="adj" fmla="val 2069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381000" y="3819525"/>
              <a:ext cx="1085850" cy="781050"/>
            </a:xfrm>
            <a:prstGeom prst="roundRect">
              <a:avLst>
                <a:gd name="adj" fmla="val 1463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16661" y="19740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资质信息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16661" y="26598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工商信息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16661" y="33456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失信信息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16661" y="404098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法规标准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5889" y="427767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内部制度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790700" y="1238250"/>
            <a:ext cx="10191750" cy="2952750"/>
            <a:chOff x="1790700" y="1238250"/>
            <a:chExt cx="10191750" cy="2952750"/>
          </a:xfrm>
        </p:grpSpPr>
        <p:sp>
          <p:nvSpPr>
            <p:cNvPr id="18" name="Rectangle 18"/>
            <p:cNvSpPr/>
            <p:nvPr/>
          </p:nvSpPr>
          <p:spPr>
            <a:xfrm>
              <a:off x="1790700" y="1238250"/>
              <a:ext cx="1524000" cy="295275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476625" y="1238250"/>
              <a:ext cx="1524000" cy="295275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162550" y="1238250"/>
              <a:ext cx="1524000" cy="295275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848475" y="1238250"/>
              <a:ext cx="1524000" cy="295275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8534400" y="1238250"/>
              <a:ext cx="1809750" cy="2952750"/>
            </a:xfrm>
            <a:prstGeom prst="roundRect">
              <a:avLst>
                <a:gd name="adj" fmla="val 842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10506075" y="1238250"/>
              <a:ext cx="1476375" cy="2952750"/>
            </a:xfrm>
            <a:prstGeom prst="roundRect">
              <a:avLst>
                <a:gd name="adj" fmla="val 10323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790700" y="1238250"/>
              <a:ext cx="1524000" cy="457200"/>
            </a:xfrm>
            <a:prstGeom prst="roundRect">
              <a:avLst>
                <a:gd name="adj" fmla="val 3333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476625" y="1238250"/>
              <a:ext cx="1524000" cy="457200"/>
            </a:xfrm>
            <a:prstGeom prst="roundRect">
              <a:avLst>
                <a:gd name="adj" fmla="val 3333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162550" y="1238250"/>
              <a:ext cx="1524000" cy="457200"/>
            </a:xfrm>
            <a:prstGeom prst="roundRect">
              <a:avLst>
                <a:gd name="adj" fmla="val 3333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848475" y="1238250"/>
              <a:ext cx="1524000" cy="457200"/>
            </a:xfrm>
            <a:prstGeom prst="roundRect">
              <a:avLst>
                <a:gd name="adj" fmla="val 3333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8534400" y="1238250"/>
              <a:ext cx="1809750" cy="457200"/>
            </a:xfrm>
            <a:prstGeom prst="roundRect">
              <a:avLst>
                <a:gd name="adj" fmla="val 3333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0506075" y="1238250"/>
              <a:ext cx="1476375" cy="457200"/>
            </a:xfrm>
            <a:prstGeom prst="roundRect">
              <a:avLst>
                <a:gd name="adj" fmla="val 3333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965651" y="1394460"/>
              <a:ext cx="11740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1 业务节点触发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651576" y="1394460"/>
              <a:ext cx="11740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2 场景数据上报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337501" y="1394460"/>
              <a:ext cx="11740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3 风控统一接收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108237" y="1394460"/>
              <a:ext cx="10044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4 清洗结构化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852226" y="1394460"/>
              <a:ext cx="11740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5 规则分发判定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822073" y="1394460"/>
              <a:ext cx="834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6 结果返回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2238375" y="1809750"/>
              <a:ext cx="628650" cy="628650"/>
            </a:xfrm>
            <a:prstGeom prst="ellipse">
              <a:avLst/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503314" y="2016919"/>
              <a:ext cx="98772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!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3924300" y="1809750"/>
              <a:ext cx="628650" cy="628650"/>
            </a:xfrm>
            <a:prstGeom prst="ellipse">
              <a:avLst/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163003" y="2033111"/>
              <a:ext cx="15124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↑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5610225" y="1809750"/>
              <a:ext cx="628650" cy="628650"/>
            </a:xfrm>
            <a:prstGeom prst="ellipse">
              <a:avLst/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786762" y="2049304"/>
              <a:ext cx="27557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DB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7296150" y="1809750"/>
              <a:ext cx="628650" cy="628650"/>
            </a:xfrm>
            <a:prstGeom prst="ellipse">
              <a:avLst/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437276" y="2064068"/>
              <a:ext cx="3463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ETL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019275" y="260270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公告发布审批前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170049" y="28503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报名截止后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094662" y="30980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其他关键节点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705200" y="260270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项目与采购数据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855974" y="28503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公告与附件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629812" y="309800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供应商与交易数据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466512" y="26027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识别业务场景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466512" y="28503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关联核查对象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466512" y="30980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调用外部数据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303211" y="26027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内容提取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303211" y="28503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字段清洗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001662" y="309800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主体对齐与标准化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724900" y="1885950"/>
              <a:ext cx="1428750" cy="495300"/>
            </a:xfrm>
            <a:prstGeom prst="roundRect">
              <a:avLst>
                <a:gd name="adj" fmla="val 23077"/>
              </a:avLst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8724900" y="2505075"/>
              <a:ext cx="1428750" cy="495300"/>
            </a:xfrm>
            <a:prstGeom prst="roundRect">
              <a:avLst>
                <a:gd name="adj" fmla="val 23077"/>
              </a:avLst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8724900" y="3124200"/>
              <a:ext cx="1428750" cy="495300"/>
            </a:xfrm>
            <a:prstGeom prst="roundRect">
              <a:avLst>
                <a:gd name="adj" fmla="val 23077"/>
              </a:avLst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9116934" y="206930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Microsoft YaHei"/>
                  <a:ea typeface="Microsoft YaHei"/>
                  <a:cs typeface="Microsoft YaHei"/>
                </a:rPr>
                <a:t>代码规则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170103" y="2688431"/>
              <a:ext cx="5383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Microsoft YaHei"/>
                  <a:ea typeface="Microsoft YaHei"/>
                  <a:cs typeface="Microsoft YaHei"/>
                </a:rPr>
                <a:t>AI 识别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958621" y="3307556"/>
              <a:ext cx="9613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2"/>
                  </a:solidFill>
                  <a:latin typeface="Microsoft YaHei"/>
                  <a:ea typeface="Microsoft YaHei"/>
                  <a:cs typeface="Microsoft YaHei"/>
                </a:rPr>
                <a:t>外部数据核验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10677525" y="1876425"/>
              <a:ext cx="1133475" cy="514350"/>
            </a:xfrm>
            <a:prstGeom prst="roundRect">
              <a:avLst>
                <a:gd name="adj" fmla="val 22222"/>
              </a:avLst>
            </a:prstGeom>
            <a:solidFill>
              <a:srgbClr val="E8F7EF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10677525" y="2514600"/>
              <a:ext cx="1133475" cy="514350"/>
            </a:xfrm>
            <a:prstGeom prst="roundRect">
              <a:avLst>
                <a:gd name="adj" fmla="val 22222"/>
              </a:avLst>
            </a:prstGeom>
            <a:solidFill>
              <a:srgbClr val="FFF4DE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10677525" y="3152775"/>
              <a:ext cx="1133475" cy="609600"/>
            </a:xfrm>
            <a:prstGeom prst="roundRect">
              <a:avLst>
                <a:gd name="adj" fmla="val 18750"/>
              </a:avLst>
            </a:prstGeom>
            <a:solidFill>
              <a:srgbClr val="FFE9E6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1075472" y="2078831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68A50"/>
                  </a:solidFill>
                  <a:latin typeface="Microsoft YaHei"/>
                  <a:ea typeface="Microsoft YaHei"/>
                  <a:cs typeface="Microsoft YaHei"/>
                </a:rPr>
                <a:t>通过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826129" y="2717006"/>
              <a:ext cx="8267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98700"/>
                  </a:solidFill>
                  <a:latin typeface="Microsoft YaHei"/>
                  <a:ea typeface="Microsoft YaHei"/>
                  <a:cs typeface="Microsoft YaHei"/>
                </a:rPr>
                <a:t>提示 / 复核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826129" y="3364706"/>
              <a:ext cx="8267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D94F4F"/>
                  </a:solidFill>
                  <a:latin typeface="Microsoft YaHei"/>
                  <a:ea typeface="Microsoft YaHei"/>
                  <a:cs typeface="Microsoft YaHei"/>
                </a:rPr>
                <a:t>预警 / 拦截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810684" y="3579495"/>
              <a:ext cx="8576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D94F4F"/>
                  </a:solidFill>
                  <a:latin typeface="Microsoft YaHei"/>
                  <a:ea typeface="Microsoft YaHei"/>
                  <a:cs typeface="Microsoft YaHei"/>
                </a:rPr>
                <a:t>修改后再次核查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2217928" y="3895249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按场景触发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3771925" y="389524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仅上报所需数据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5523814" y="389524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统一风控入口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209739" y="389524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形成标准结构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972575" y="389524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一对多规则执行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209550" y="5067300"/>
            <a:ext cx="11772900" cy="1390650"/>
            <a:chOff x="209550" y="5067300"/>
            <a:chExt cx="11772900" cy="1390650"/>
          </a:xfrm>
        </p:grpSpPr>
        <p:sp>
          <p:nvSpPr>
            <p:cNvPr id="75" name="Rectangle 75"/>
            <p:cNvSpPr/>
            <p:nvPr/>
          </p:nvSpPr>
          <p:spPr>
            <a:xfrm>
              <a:off x="209550" y="5067300"/>
              <a:ext cx="5753100" cy="1390650"/>
            </a:xfrm>
            <a:prstGeom prst="roundRect">
              <a:avLst>
                <a:gd name="adj" fmla="val 10959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6115050" y="5067300"/>
              <a:ext cx="5867400" cy="1390650"/>
            </a:xfrm>
            <a:prstGeom prst="roundRect">
              <a:avLst>
                <a:gd name="adj" fmla="val 10959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209550" y="5067300"/>
              <a:ext cx="5753100" cy="400050"/>
            </a:xfrm>
            <a:prstGeom prst="roundRect">
              <a:avLst>
                <a:gd name="adj" fmla="val 3809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6115050" y="5067300"/>
              <a:ext cx="5867400" cy="400050"/>
            </a:xfrm>
            <a:prstGeom prst="roundRect">
              <a:avLst>
                <a:gd name="adj" fmla="val 3809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2029711" y="5178742"/>
              <a:ext cx="21127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场景一｜公告发布审批前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183185" y="5178742"/>
              <a:ext cx="1731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场景二｜报名截止后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489585" y="5641181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上报：公告、采购数据、附件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489585" y="5898356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规则：排斥条款、报价轮次、完整性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489585" y="6155531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输出：通过｜提示复核｜预警拦截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395085" y="5641181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上报：供应商主体、报名附件、公告要求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6395085" y="5898356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规则：附件、资质、工商关联、信息重叠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6395085" y="6155531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输出：供应商核查线索与分级动作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83845"/>
            <a:ext cx="11556492" cy="716280"/>
            <a:chOff x="311658" y="283845"/>
            <a:chExt cx="11556492" cy="716280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83845"/>
              <a:ext cx="416442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07｜规则与 AI 双引擎协同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691039"/>
              <a:ext cx="60484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确定性问题用规则，复杂性问题用 AI，结果统一汇总、分级并返回业务流程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304800" y="1238250"/>
            <a:ext cx="4857750" cy="4095750"/>
            <a:chOff x="304800" y="1238250"/>
            <a:chExt cx="4857750" cy="4095750"/>
          </a:xfrm>
        </p:grpSpPr>
        <p:sp>
          <p:nvSpPr>
            <p:cNvPr id="6" name="Rectangle 6"/>
            <p:cNvSpPr/>
            <p:nvPr/>
          </p:nvSpPr>
          <p:spPr>
            <a:xfrm>
              <a:off x="304800" y="1238250"/>
              <a:ext cx="4857750" cy="4095750"/>
            </a:xfrm>
            <a:prstGeom prst="roundRect">
              <a:avLst>
                <a:gd name="adj" fmla="val 4651"/>
              </a:avLst>
            </a:pr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304800" y="1238250"/>
              <a:ext cx="4857750" cy="590550"/>
            </a:xfrm>
            <a:prstGeom prst="roundRect">
              <a:avLst>
                <a:gd name="adj" fmla="val 3225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95743" y="1400651"/>
              <a:ext cx="287586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规则引擎｜确定性问题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84073" y="2072164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对标准结构化数据执行条件匹配、阈值判断和关系计算，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84073" y="233886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速度快、结果稳定、依据清晰。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2743200"/>
              <a:ext cx="1333500" cy="685800"/>
            </a:xfrm>
            <a:prstGeom prst="roundRect">
              <a:avLst>
                <a:gd name="adj" fmla="val 19444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066925" y="2743200"/>
              <a:ext cx="1333500" cy="685800"/>
            </a:xfrm>
            <a:prstGeom prst="roundRect">
              <a:avLst>
                <a:gd name="adj" fmla="val 19444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3581400" y="2743200"/>
              <a:ext cx="1333500" cy="685800"/>
            </a:xfrm>
            <a:prstGeom prst="roundRect">
              <a:avLst>
                <a:gd name="adj" fmla="val 19444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30694" y="302609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条件匹配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345169" y="302609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阈值判断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859644" y="302609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关系计算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46354" y="36518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代表场景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45973" y="398668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字段缺失　资质失效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45973" y="432958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工商关联　精确信息重叠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47116" y="4792028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适用于条件清晰、字段明确、结果可重复验证的问题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029450" y="1238250"/>
            <a:ext cx="4857750" cy="4095750"/>
            <a:chOff x="7029450" y="1238250"/>
            <a:chExt cx="4857750" cy="4095750"/>
          </a:xfrm>
        </p:grpSpPr>
        <p:sp>
          <p:nvSpPr>
            <p:cNvPr id="22" name="Rectangle 22"/>
            <p:cNvSpPr/>
            <p:nvPr/>
          </p:nvSpPr>
          <p:spPr>
            <a:xfrm>
              <a:off x="7029450" y="1238250"/>
              <a:ext cx="4857750" cy="4095750"/>
            </a:xfrm>
            <a:prstGeom prst="roundRect">
              <a:avLst>
                <a:gd name="adj" fmla="val 4651"/>
              </a:avLst>
            </a:prstGeom>
            <a:solidFill>
              <a:schemeClr val="lt2"/>
            </a:solidFill>
            <a:ln w="19050">
              <a:solidFill>
                <a:schemeClr val="accent5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7029450" y="1238250"/>
              <a:ext cx="4857750" cy="590550"/>
            </a:xfrm>
            <a:prstGeom prst="roundRect">
              <a:avLst>
                <a:gd name="adj" fmla="val 32258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067801" y="1400651"/>
              <a:ext cx="2781047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AI 引擎｜复杂性问题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08723" y="2072164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对公告、附件、清单和合同等非结构化材料进行语义理解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08723" y="2338864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Microsoft YaHei"/>
                  <a:ea typeface="Microsoft YaHei"/>
                  <a:cs typeface="Microsoft YaHei"/>
                </a:rPr>
                <a:t>与跨文件比对，覆盖规则难以穷举的复杂风险。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277100" y="2743200"/>
              <a:ext cx="1333500" cy="685800"/>
            </a:xfrm>
            <a:prstGeom prst="roundRect">
              <a:avLst>
                <a:gd name="adj" fmla="val 19444"/>
              </a:avLst>
            </a:prstGeom>
            <a:solidFill>
              <a:srgbClr val="F1EDFF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8791575" y="2743200"/>
              <a:ext cx="1333500" cy="685800"/>
            </a:xfrm>
            <a:prstGeom prst="roundRect">
              <a:avLst>
                <a:gd name="adj" fmla="val 19444"/>
              </a:avLst>
            </a:prstGeom>
            <a:solidFill>
              <a:srgbClr val="F1EDFF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0306050" y="2743200"/>
              <a:ext cx="1333500" cy="685800"/>
            </a:xfrm>
            <a:prstGeom prst="roundRect">
              <a:avLst>
                <a:gd name="adj" fmla="val 19444"/>
              </a:avLst>
            </a:prstGeom>
            <a:solidFill>
              <a:srgbClr val="F1ED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555344" y="302609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语义理解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69819" y="302609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知识检索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488882" y="3026092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跨文件比对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271004" y="36518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代表场景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270623" y="398668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排斥性条款　附件符合性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270623" y="432958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异常相似　合同条款偏离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71766" y="4792028"/>
              <a:ext cx="34030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适用于需要上下文理解、模糊相似和跨附件关联的问题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162550" y="2362200"/>
            <a:ext cx="1866900" cy="1505045"/>
            <a:chOff x="5162550" y="2362200"/>
            <a:chExt cx="1866900" cy="1505045"/>
          </a:xfrm>
        </p:grpSpPr>
        <p:sp>
          <p:nvSpPr>
            <p:cNvPr id="38" name="Ellipse 38"/>
            <p:cNvSpPr/>
            <p:nvPr/>
          </p:nvSpPr>
          <p:spPr>
            <a:xfrm>
              <a:off x="5353050" y="2362200"/>
              <a:ext cx="1485900" cy="1485900"/>
            </a:xfrm>
            <a:prstGeom prst="ellipse">
              <a:avLst/>
            </a:prstGeom>
            <a:solidFill>
              <a:schemeClr val="lt2"/>
            </a:solidFill>
            <a:ln w="28575">
              <a:solidFill>
                <a:schemeClr val="accent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776806" y="2737009"/>
              <a:ext cx="638388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8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规则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000211" y="3089434"/>
              <a:ext cx="191578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+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946576" y="3441859"/>
              <a:ext cx="298847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8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AI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5162550" y="310515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47625">
              <a:solidFill>
                <a:schemeClr val="accent6"/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6838950" y="3105150"/>
              <a:ext cx="190500" cy="9525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47625">
              <a:solidFill>
                <a:schemeClr val="accent6"/>
              </a:solidFill>
            </a:ln>
          </p:spPr>
        </p:sp>
      </p:grpSp>
      <p:grpSp>
        <p:nvGrpSpPr>
          <p:cNvPr id="54" name="Group 54"/>
          <p:cNvGrpSpPr/>
          <p:nvPr/>
        </p:nvGrpSpPr>
        <p:grpSpPr>
          <a:xfrm>
            <a:off x="304800" y="5581650"/>
            <a:ext cx="11582400" cy="895350"/>
            <a:chOff x="304800" y="5581650"/>
            <a:chExt cx="11582400" cy="895350"/>
          </a:xfrm>
        </p:grpSpPr>
        <p:sp>
          <p:nvSpPr>
            <p:cNvPr id="45" name="Rectangle 45"/>
            <p:cNvSpPr/>
            <p:nvPr/>
          </p:nvSpPr>
          <p:spPr>
            <a:xfrm>
              <a:off x="304800" y="5581650"/>
              <a:ext cx="11582400" cy="895350"/>
            </a:xfrm>
            <a:prstGeom prst="roundRect">
              <a:avLst>
                <a:gd name="adj" fmla="val 19149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44068" y="57464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统一输出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088642" y="5778818"/>
              <a:ext cx="26125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风险结论 + 命中证据 + 判断依据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686550" y="5772150"/>
              <a:ext cx="1409700" cy="457200"/>
            </a:xfrm>
            <a:prstGeom prst="roundRect">
              <a:avLst>
                <a:gd name="adj" fmla="val 50000"/>
              </a:avLst>
            </a:prstGeom>
            <a:solidFill>
              <a:srgbClr val="E8F7EF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8267700" y="5772150"/>
              <a:ext cx="1581150" cy="457200"/>
            </a:xfrm>
            <a:prstGeom prst="roundRect">
              <a:avLst>
                <a:gd name="adj" fmla="val 50000"/>
              </a:avLst>
            </a:prstGeom>
            <a:solidFill>
              <a:srgbClr val="FFF4DE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10020300" y="5772150"/>
              <a:ext cx="1581150" cy="457200"/>
            </a:xfrm>
            <a:prstGeom prst="roundRect">
              <a:avLst>
                <a:gd name="adj" fmla="val 50000"/>
              </a:avLst>
            </a:prstGeom>
            <a:solidFill>
              <a:srgbClr val="FFE9E6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203994" y="5929789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268A50"/>
                  </a:solidFill>
                  <a:latin typeface="Microsoft YaHei"/>
                  <a:ea typeface="Microsoft YaHei"/>
                  <a:cs typeface="Microsoft YaHei"/>
                </a:rPr>
                <a:t>通过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585905" y="5929789"/>
              <a:ext cx="9447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C98700"/>
                  </a:solidFill>
                  <a:latin typeface="Microsoft YaHei"/>
                  <a:ea typeface="Microsoft YaHei"/>
                  <a:cs typeface="Microsoft YaHei"/>
                </a:rPr>
                <a:t>提示 / 复核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338505" y="5929789"/>
              <a:ext cx="9447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D94F4F"/>
                  </a:solidFill>
                  <a:latin typeface="Microsoft YaHei"/>
                  <a:ea typeface="Microsoft YaHei"/>
                  <a:cs typeface="Microsoft YaHei"/>
                </a:rPr>
                <a:t>预警 / 拦截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83845"/>
            <a:ext cx="11556492" cy="716280"/>
            <a:chOff x="311658" y="283845"/>
            <a:chExt cx="11556492" cy="716280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83845"/>
              <a:ext cx="446845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08｜结构化数据驱动精准判定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691039"/>
              <a:ext cx="62162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条件清晰、字段明确、结果可重复验证的风险，通过规则条件和关系计算稳定识别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209550" y="1181100"/>
            <a:ext cx="11772900" cy="742950"/>
            <a:chOff x="209550" y="1181100"/>
            <a:chExt cx="11772900" cy="742950"/>
          </a:xfrm>
        </p:grpSpPr>
        <p:sp>
          <p:nvSpPr>
            <p:cNvPr id="6" name="Rectangle 6"/>
            <p:cNvSpPr/>
            <p:nvPr/>
          </p:nvSpPr>
          <p:spPr>
            <a:xfrm>
              <a:off x="209550" y="1181100"/>
              <a:ext cx="11772900" cy="742950"/>
            </a:xfrm>
            <a:prstGeom prst="roundRect">
              <a:avLst>
                <a:gd name="adj" fmla="val 20513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428625" y="1362075"/>
              <a:ext cx="1809750" cy="381000"/>
            </a:xfrm>
            <a:prstGeom prst="roundRect">
              <a:avLst>
                <a:gd name="adj" fmla="val 50000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2714625" y="1362075"/>
              <a:ext cx="2095500" cy="381000"/>
            </a:xfrm>
            <a:prstGeom prst="roundRect">
              <a:avLst>
                <a:gd name="adj" fmla="val 50000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286375" y="1362075"/>
              <a:ext cx="1809750" cy="381000"/>
            </a:xfrm>
            <a:prstGeom prst="roundRect">
              <a:avLst>
                <a:gd name="adj" fmla="val 50000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572375" y="1362075"/>
              <a:ext cx="1809750" cy="381000"/>
            </a:xfrm>
            <a:prstGeom prst="roundRect">
              <a:avLst>
                <a:gd name="adj" fmla="val 50000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9858375" y="1362075"/>
              <a:ext cx="1809750" cy="381000"/>
            </a:xfrm>
            <a:prstGeom prst="roundRect">
              <a:avLst>
                <a:gd name="adj" fmla="val 50000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03351" y="1480185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结构化数据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980262" y="1480185"/>
              <a:ext cx="1564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条件匹配 / 关系计算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845912" y="14801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规则命中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31912" y="14801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风险分级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33101" y="1480185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提示或拦截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209550" y="2114550"/>
            <a:ext cx="8858250" cy="1885950"/>
            <a:chOff x="209550" y="2114550"/>
            <a:chExt cx="8858250" cy="1885950"/>
          </a:xfrm>
        </p:grpSpPr>
        <p:sp>
          <p:nvSpPr>
            <p:cNvPr id="18" name="Rectangle 18"/>
            <p:cNvSpPr/>
            <p:nvPr/>
          </p:nvSpPr>
          <p:spPr>
            <a:xfrm>
              <a:off x="209550" y="2114550"/>
              <a:ext cx="2095500" cy="1885950"/>
            </a:xfrm>
            <a:prstGeom prst="roundRect">
              <a:avLst>
                <a:gd name="adj" fmla="val 808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2457450" y="2114550"/>
              <a:ext cx="2095500" cy="1885950"/>
            </a:xfrm>
            <a:prstGeom prst="roundRect">
              <a:avLst>
                <a:gd name="adj" fmla="val 808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705350" y="2114550"/>
              <a:ext cx="2095500" cy="1885950"/>
            </a:xfrm>
            <a:prstGeom prst="roundRect">
              <a:avLst>
                <a:gd name="adj" fmla="val 808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6953250" y="2114550"/>
              <a:ext cx="2114550" cy="1885950"/>
            </a:xfrm>
            <a:prstGeom prst="roundRect">
              <a:avLst>
                <a:gd name="adj" fmla="val 808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21005" y="228600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3811" y="2294096"/>
              <a:ext cx="12187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完整性与配置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94335" y="271700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报价轮次是否明确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94335" y="30122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字段与附件是否齐全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94335" y="330755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时间、流程和评标配置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668905" y="228600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021711" y="2294096"/>
              <a:ext cx="10180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主体与资质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642235" y="271700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主体信息是否一致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642235" y="3012281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资质类型等级与有效期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642235" y="33075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失信与经营异常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916805" y="228600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269611" y="2294096"/>
              <a:ext cx="10180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关联与重叠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890135" y="271700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共同股东、法定代表人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890135" y="3012281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电话、邮箱、地址、联系人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890135" y="33075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证照编号精确重叠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164705" y="228600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17511" y="2294096"/>
              <a:ext cx="12187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一致性与阈值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138035" y="271700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公告要求与结构化配置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138035" y="301228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报名信息与证照字段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138035" y="330755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金额、比例、时间阈值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9239250" y="2114550"/>
            <a:ext cx="2743200" cy="4343400"/>
            <a:chOff x="9239250" y="2114550"/>
            <a:chExt cx="2743200" cy="4343400"/>
          </a:xfrm>
        </p:grpSpPr>
        <p:sp>
          <p:nvSpPr>
            <p:cNvPr id="43" name="Rectangle 43"/>
            <p:cNvSpPr/>
            <p:nvPr/>
          </p:nvSpPr>
          <p:spPr>
            <a:xfrm>
              <a:off x="9239250" y="2114550"/>
              <a:ext cx="2743200" cy="4343400"/>
            </a:xfrm>
            <a:prstGeom prst="roundRect">
              <a:avLst>
                <a:gd name="adj" fmla="val 555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9239250" y="2114550"/>
              <a:ext cx="2743200" cy="495300"/>
            </a:xfrm>
            <a:prstGeom prst="roundRect">
              <a:avLst>
                <a:gd name="adj" fmla="val 3076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600019" y="2275046"/>
              <a:ext cx="202166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规则命中明细（示例）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424797" y="2799874"/>
              <a:ext cx="2869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规则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072497" y="2799874"/>
              <a:ext cx="2869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对象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605897" y="2799874"/>
              <a:ext cx="4254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命中值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425047" y="2799874"/>
              <a:ext cx="2869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等级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9410700" y="3028950"/>
              <a:ext cx="2400300" cy="9525"/>
            </a:xfrm>
            <a:custGeom>
              <a:avLst/>
              <a:gdLst/>
              <a:ahLst/>
              <a:cxnLst/>
              <a:rect l="l" t="t" r="r" b="b"/>
              <a:pathLst>
                <a:path w="2400300" h="9525">
                  <a:moveTo>
                    <a:pt x="0" y="0"/>
                  </a:moveTo>
                  <a:lnTo>
                    <a:pt x="2400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424797" y="322849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工商关联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072497" y="3228499"/>
              <a:ext cx="2399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A/B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605897" y="322849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共同股东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11372850" y="3143250"/>
              <a:ext cx="409575" cy="285750"/>
            </a:xfrm>
            <a:prstGeom prst="roundRect">
              <a:avLst>
                <a:gd name="adj" fmla="val 26667"/>
              </a:avLst>
            </a:prstGeom>
            <a:solidFill>
              <a:srgbClr val="FFE9E6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1498660" y="3228499"/>
              <a:ext cx="1484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D94F4F"/>
                  </a:solidFill>
                  <a:latin typeface="Microsoft YaHei"/>
                  <a:ea typeface="Microsoft YaHei"/>
                  <a:cs typeface="Microsoft YaHei"/>
                </a:rPr>
                <a:t>高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9410700" y="3552825"/>
              <a:ext cx="2400300" cy="9525"/>
            </a:xfrm>
            <a:custGeom>
              <a:avLst/>
              <a:gdLst/>
              <a:ahLst/>
              <a:cxnLst/>
              <a:rect l="l" t="t" r="r" b="b"/>
              <a:pathLst>
                <a:path w="2400300" h="9525">
                  <a:moveTo>
                    <a:pt x="0" y="0"/>
                  </a:moveTo>
                  <a:lnTo>
                    <a:pt x="2400300" y="0"/>
                  </a:lnTo>
                </a:path>
              </a:pathLst>
            </a:custGeom>
            <a:noFill/>
            <a:ln w="9525">
              <a:solidFill>
                <a:srgbClr val="D6E3F0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424797" y="375237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信息重叠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072497" y="3752374"/>
              <a:ext cx="2399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A/C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605897" y="375237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电话相同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11372850" y="3667125"/>
              <a:ext cx="409575" cy="285750"/>
            </a:xfrm>
            <a:prstGeom prst="roundRect">
              <a:avLst>
                <a:gd name="adj" fmla="val 26667"/>
              </a:avLst>
            </a:prstGeom>
            <a:solidFill>
              <a:srgbClr val="FFF4DE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1498660" y="3752374"/>
              <a:ext cx="1484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98700"/>
                  </a:solidFill>
                  <a:latin typeface="Microsoft YaHei"/>
                  <a:ea typeface="Microsoft YaHei"/>
                  <a:cs typeface="Microsoft YaHei"/>
                </a:rPr>
                <a:t>中</a:t>
              </a:r>
            </a:p>
          </p:txBody>
        </p:sp>
        <p:sp>
          <p:nvSpPr>
            <p:cNvPr id="62" name="Line 62"/>
            <p:cNvSpPr/>
            <p:nvPr/>
          </p:nvSpPr>
          <p:spPr>
            <a:xfrm>
              <a:off x="9410700" y="4076700"/>
              <a:ext cx="2400300" cy="9525"/>
            </a:xfrm>
            <a:custGeom>
              <a:avLst/>
              <a:gdLst/>
              <a:ahLst/>
              <a:cxnLst/>
              <a:rect l="l" t="t" r="r" b="b"/>
              <a:pathLst>
                <a:path w="2400300" h="9525">
                  <a:moveTo>
                    <a:pt x="0" y="0"/>
                  </a:moveTo>
                  <a:lnTo>
                    <a:pt x="2400300" y="0"/>
                  </a:lnTo>
                </a:path>
              </a:pathLst>
            </a:custGeom>
            <a:noFill/>
            <a:ln w="9525">
              <a:solidFill>
                <a:srgbClr val="D6E3F0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424797" y="42762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主体一致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072497" y="4276249"/>
              <a:ext cx="865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A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605897" y="427624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证照名称不一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11372850" y="4191000"/>
              <a:ext cx="409575" cy="285750"/>
            </a:xfrm>
            <a:prstGeom prst="roundRect">
              <a:avLst>
                <a:gd name="adj" fmla="val 26667"/>
              </a:avLst>
            </a:prstGeom>
            <a:solidFill>
              <a:srgbClr val="FFE9E6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1498660" y="4276249"/>
              <a:ext cx="1484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D94F4F"/>
                  </a:solidFill>
                  <a:latin typeface="Microsoft YaHei"/>
                  <a:ea typeface="Microsoft YaHei"/>
                  <a:cs typeface="Microsoft YaHei"/>
                </a:rPr>
                <a:t>高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424416" y="476345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输出字段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424416" y="5068252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规则名称・命中字段・标准值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424416" y="5315902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关联主体・数据来源・建议动作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9429750" y="5734050"/>
              <a:ext cx="2362200" cy="438150"/>
            </a:xfrm>
            <a:prstGeom prst="roundRect">
              <a:avLst>
                <a:gd name="adj" fmla="val 26087"/>
              </a:avLst>
            </a:prstGeom>
            <a:solidFill>
              <a:srgbClr val="FFF4DE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9715005" y="5896928"/>
              <a:ext cx="17916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98700"/>
                  </a:solidFill>
                  <a:latin typeface="Microsoft YaHei"/>
                  <a:ea typeface="Microsoft YaHei"/>
                  <a:cs typeface="Microsoft YaHei"/>
                </a:rPr>
                <a:t>命中仅用于预警和辅助核查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209550" y="4248150"/>
            <a:ext cx="8858250" cy="2209800"/>
            <a:chOff x="209550" y="4248150"/>
            <a:chExt cx="8858250" cy="2209800"/>
          </a:xfrm>
        </p:grpSpPr>
        <p:sp>
          <p:nvSpPr>
            <p:cNvPr id="74" name="Rectangle 74"/>
            <p:cNvSpPr/>
            <p:nvPr/>
          </p:nvSpPr>
          <p:spPr>
            <a:xfrm>
              <a:off x="209550" y="4248150"/>
              <a:ext cx="8858250" cy="2209800"/>
            </a:xfrm>
            <a:prstGeom prst="roundRect">
              <a:avLst>
                <a:gd name="adj" fmla="val 6897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412242" y="4426268"/>
              <a:ext cx="21127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规则示例｜工商关联识别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457200" y="4857750"/>
              <a:ext cx="1333500" cy="838200"/>
            </a:xfrm>
            <a:prstGeom prst="roundRect">
              <a:avLst>
                <a:gd name="adj" fmla="val 15909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2114550" y="4857750"/>
              <a:ext cx="1333500" cy="838200"/>
            </a:xfrm>
            <a:prstGeom prst="roundRect">
              <a:avLst>
                <a:gd name="adj" fmla="val 15909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28963" y="5045392"/>
              <a:ext cx="7899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分供商 A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591287" y="537162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统一社会信用代码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2386313" y="5045392"/>
              <a:ext cx="7899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分供商 B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2248637" y="537162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统一社会信用代码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3886200" y="4857750"/>
              <a:ext cx="1638300" cy="838200"/>
            </a:xfrm>
            <a:prstGeom prst="roundRect">
              <a:avLst>
                <a:gd name="adj" fmla="val 15909"/>
              </a:avLst>
            </a:prstGeom>
            <a:solidFill>
              <a:srgbClr val="E8F7EF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4065621" y="5053489"/>
              <a:ext cx="12794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268A50"/>
                  </a:solidFill>
                  <a:latin typeface="Microsoft YaHei"/>
                  <a:ea typeface="Microsoft YaHei"/>
                  <a:cs typeface="Microsoft YaHei"/>
                </a:rPr>
                <a:t>启信宝工商数据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4106723" y="537162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股东与主要人员关系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5962650" y="4857750"/>
              <a:ext cx="1409700" cy="838200"/>
            </a:xfrm>
            <a:prstGeom prst="roundRect">
              <a:avLst>
                <a:gd name="adj" fmla="val 15909"/>
              </a:avLst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118235" y="5053489"/>
              <a:ext cx="10985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2"/>
                  </a:solidFill>
                  <a:latin typeface="Microsoft YaHei"/>
                  <a:ea typeface="Microsoft YaHei"/>
                  <a:cs typeface="Microsoft YaHei"/>
                </a:rPr>
                <a:t>命中关联规则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068873" y="537162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关系类型与数据来源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7810500" y="4857750"/>
              <a:ext cx="1028700" cy="838200"/>
            </a:xfrm>
            <a:prstGeom prst="roundRect">
              <a:avLst>
                <a:gd name="adj" fmla="val 15909"/>
              </a:avLst>
            </a:prstGeom>
            <a:solidFill>
              <a:srgbClr val="F1EDFF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7956514" y="5053489"/>
              <a:ext cx="7366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人工核查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8056042" y="53716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记录结论</a:t>
              </a:r>
            </a:p>
          </p:txBody>
        </p:sp>
        <p:sp>
          <p:nvSpPr>
            <p:cNvPr id="91" name="Line 91"/>
            <p:cNvSpPr/>
            <p:nvPr/>
          </p:nvSpPr>
          <p:spPr>
            <a:xfrm>
              <a:off x="1790700" y="527685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92" name="Line 92"/>
            <p:cNvSpPr/>
            <p:nvPr/>
          </p:nvSpPr>
          <p:spPr>
            <a:xfrm>
              <a:off x="3448050" y="5276850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93" name="Line 93"/>
            <p:cNvSpPr/>
            <p:nvPr/>
          </p:nvSpPr>
          <p:spPr>
            <a:xfrm>
              <a:off x="5524500" y="5276850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94" name="Line 94"/>
            <p:cNvSpPr/>
            <p:nvPr/>
          </p:nvSpPr>
          <p:spPr>
            <a:xfrm>
              <a:off x="7372350" y="5276850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414147" y="6047899"/>
              <a:ext cx="33080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待补充：已上线规则清单、真实脱敏命中案例和结果页面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83845"/>
            <a:ext cx="11556492" cy="716280"/>
            <a:chOff x="311658" y="283845"/>
            <a:chExt cx="11556492" cy="716280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83845"/>
              <a:ext cx="541897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09｜多模态、RAG 与多智能体协同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691039"/>
              <a:ext cx="69054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复杂问题通过多模态解析、知识增强、工具协同、语义推理和结果复核形成可验证核查报告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209550" y="1181100"/>
            <a:ext cx="11772900" cy="495300"/>
            <a:chOff x="209550" y="1181100"/>
            <a:chExt cx="11772900" cy="495300"/>
          </a:xfrm>
        </p:grpSpPr>
        <p:sp>
          <p:nvSpPr>
            <p:cNvPr id="6" name="Rectangle 6"/>
            <p:cNvSpPr/>
            <p:nvPr/>
          </p:nvSpPr>
          <p:spPr>
            <a:xfrm>
              <a:off x="209550" y="1181100"/>
              <a:ext cx="11772900" cy="495300"/>
            </a:xfrm>
            <a:prstGeom prst="roundRect">
              <a:avLst>
                <a:gd name="adj" fmla="val 30769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4954" y="1365885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多模态解析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298954" y="1365885"/>
              <a:ext cx="834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→ 任务拆解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727704" y="1365885"/>
              <a:ext cx="17954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→ RAG 检索 / 工具调用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94654" y="1365885"/>
              <a:ext cx="834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→ 模型推理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8654" y="1365885"/>
              <a:ext cx="834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→ 结果复核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42654" y="1365885"/>
              <a:ext cx="13437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→ 结构化核查报告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09550" y="1885950"/>
            <a:ext cx="1524000" cy="3105150"/>
            <a:chOff x="209550" y="1885950"/>
            <a:chExt cx="1524000" cy="3105150"/>
          </a:xfrm>
        </p:grpSpPr>
        <p:sp>
          <p:nvSpPr>
            <p:cNvPr id="14" name="Rectangle 14"/>
            <p:cNvSpPr/>
            <p:nvPr/>
          </p:nvSpPr>
          <p:spPr>
            <a:xfrm>
              <a:off x="209550" y="1885950"/>
              <a:ext cx="1524000" cy="310515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87632" y="204501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多模态材料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19100" y="2381250"/>
              <a:ext cx="1104900" cy="457200"/>
            </a:xfrm>
            <a:prstGeom prst="roundRect">
              <a:avLst>
                <a:gd name="adj" fmla="val 20833"/>
              </a:avLst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19100" y="2952750"/>
              <a:ext cx="1104900" cy="457200"/>
            </a:xfrm>
            <a:prstGeom prst="roundRect">
              <a:avLst>
                <a:gd name="adj" fmla="val 20833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419100" y="3524250"/>
              <a:ext cx="1104900" cy="457200"/>
            </a:xfrm>
            <a:prstGeom prst="roundRect">
              <a:avLst>
                <a:gd name="adj" fmla="val 20833"/>
              </a:avLst>
            </a:prstGeom>
            <a:solidFill>
              <a:srgbClr val="E8F7EF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19100" y="4095750"/>
              <a:ext cx="1104900" cy="457200"/>
            </a:xfrm>
            <a:prstGeom prst="roundRect">
              <a:avLst>
                <a:gd name="adj" fmla="val 20833"/>
              </a:avLst>
            </a:prstGeom>
            <a:solidFill>
              <a:srgbClr val="F1ED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11490" y="2546985"/>
              <a:ext cx="7201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Microsoft YaHei"/>
                  <a:ea typeface="Microsoft YaHei"/>
                  <a:cs typeface="Microsoft YaHei"/>
                </a:rPr>
                <a:t>PDF 文件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61203" y="3118485"/>
              <a:ext cx="8206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Word 文档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53755" y="3689985"/>
              <a:ext cx="8355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68A50"/>
                  </a:solidFill>
                  <a:latin typeface="Microsoft YaHei"/>
                  <a:ea typeface="Microsoft YaHei"/>
                  <a:cs typeface="Microsoft YaHei"/>
                </a:rPr>
                <a:t>Excel 表格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3869" y="4261485"/>
              <a:ext cx="10553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图片 / 扫描件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885950" y="1885950"/>
            <a:ext cx="4476750" cy="3105150"/>
            <a:chOff x="1885950" y="1885950"/>
            <a:chExt cx="4476750" cy="3105150"/>
          </a:xfrm>
        </p:grpSpPr>
        <p:sp>
          <p:nvSpPr>
            <p:cNvPr id="25" name="Rectangle 25"/>
            <p:cNvSpPr/>
            <p:nvPr/>
          </p:nvSpPr>
          <p:spPr>
            <a:xfrm>
              <a:off x="1885950" y="1885950"/>
              <a:ext cx="4476750" cy="3105150"/>
            </a:xfrm>
            <a:prstGeom prst="roundRect">
              <a:avLst>
                <a:gd name="adj" fmla="val 4908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500235" y="2045018"/>
              <a:ext cx="32481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多智能体协同网络（20+ 模型智能体）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076450" y="2400300"/>
              <a:ext cx="1352550" cy="1219200"/>
            </a:xfrm>
            <a:prstGeom prst="roundRect">
              <a:avLst>
                <a:gd name="adj" fmla="val 10938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141945" y="2556510"/>
              <a:ext cx="12215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任务规划 Agent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242566" y="29156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理解审查目标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242566" y="31632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拆解核查任务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242566" y="34109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形成执行计划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3714750" y="2486025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4419600" y="2486025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5124450" y="2486025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4067175" y="3038475"/>
              <a:ext cx="457200" cy="457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4772025" y="3038475"/>
              <a:ext cx="457200" cy="457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7" name="Line 37"/>
            <p:cNvSpPr/>
            <p:nvPr/>
          </p:nvSpPr>
          <p:spPr>
            <a:xfrm>
              <a:off x="4171950" y="2714625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9525">
              <a:solidFill>
                <a:srgbClr val="9ABCE3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4876800" y="2714625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9525">
              <a:solidFill>
                <a:srgbClr val="9ABCE3"/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3943350" y="2943225"/>
              <a:ext cx="352425" cy="95250"/>
            </a:xfrm>
            <a:custGeom>
              <a:avLst/>
              <a:gdLst/>
              <a:ahLst/>
              <a:cxnLst/>
              <a:rect l="l" t="t" r="r" b="b"/>
              <a:pathLst>
                <a:path w="352425" h="95250">
                  <a:moveTo>
                    <a:pt x="0" y="0"/>
                  </a:moveTo>
                  <a:lnTo>
                    <a:pt x="352425" y="95250"/>
                  </a:lnTo>
                </a:path>
              </a:pathLst>
            </a:custGeom>
            <a:noFill/>
            <a:ln w="9525">
              <a:solidFill>
                <a:srgbClr val="9ABCE3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4295775" y="2943225"/>
              <a:ext cx="352425" cy="95250"/>
            </a:xfrm>
            <a:custGeom>
              <a:avLst/>
              <a:gdLst/>
              <a:ahLst/>
              <a:cxnLst/>
              <a:rect l="l" t="t" r="r" b="b"/>
              <a:pathLst>
                <a:path w="352425" h="95250">
                  <a:moveTo>
                    <a:pt x="352425" y="0"/>
                  </a:moveTo>
                  <a:lnTo>
                    <a:pt x="0" y="95250"/>
                  </a:lnTo>
                </a:path>
              </a:pathLst>
            </a:custGeom>
            <a:noFill/>
            <a:ln w="9525">
              <a:solidFill>
                <a:srgbClr val="9ABCE3"/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4648200" y="2943225"/>
              <a:ext cx="352425" cy="95250"/>
            </a:xfrm>
            <a:custGeom>
              <a:avLst/>
              <a:gdLst/>
              <a:ahLst/>
              <a:cxnLst/>
              <a:rect l="l" t="t" r="r" b="b"/>
              <a:pathLst>
                <a:path w="352425" h="95250">
                  <a:moveTo>
                    <a:pt x="0" y="0"/>
                  </a:moveTo>
                  <a:lnTo>
                    <a:pt x="352425" y="95250"/>
                  </a:lnTo>
                </a:path>
              </a:pathLst>
            </a:custGeom>
            <a:noFill/>
            <a:ln w="9525">
              <a:solidFill>
                <a:srgbClr val="9ABCE3"/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5000625" y="2943225"/>
              <a:ext cx="352425" cy="95250"/>
            </a:xfrm>
            <a:custGeom>
              <a:avLst/>
              <a:gdLst/>
              <a:ahLst/>
              <a:cxnLst/>
              <a:rect l="l" t="t" r="r" b="b"/>
              <a:pathLst>
                <a:path w="352425" h="95250">
                  <a:moveTo>
                    <a:pt x="352425" y="0"/>
                  </a:moveTo>
                  <a:lnTo>
                    <a:pt x="0" y="95250"/>
                  </a:lnTo>
                </a:path>
              </a:pathLst>
            </a:custGeom>
            <a:noFill/>
            <a:ln w="9525">
              <a:solidFill>
                <a:srgbClr val="9ABCE3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3650220" y="3613785"/>
              <a:ext cx="19959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Tool-Agent 调用专业工具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2095500" y="3905250"/>
              <a:ext cx="4076700" cy="838200"/>
            </a:xfrm>
            <a:prstGeom prst="roundRect">
              <a:avLst>
                <a:gd name="adj" fmla="val 15909"/>
              </a:avLst>
            </a:prstGeom>
            <a:solidFill>
              <a:srgbClr val="F1ED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2318766" y="4106228"/>
              <a:ext cx="10561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OCR / 表格解析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576066" y="410622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知识库检索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833366" y="410622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规则库检索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318766" y="44015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资质查询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576066" y="44015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工商关系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833366" y="44015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文本比对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515100" y="1885950"/>
            <a:ext cx="1924050" cy="3105150"/>
            <a:chOff x="6515100" y="1885950"/>
            <a:chExt cx="1924050" cy="3105150"/>
          </a:xfrm>
        </p:grpSpPr>
        <p:sp>
          <p:nvSpPr>
            <p:cNvPr id="52" name="Rectangle 52"/>
            <p:cNvSpPr/>
            <p:nvPr/>
          </p:nvSpPr>
          <p:spPr>
            <a:xfrm>
              <a:off x="6515100" y="1885950"/>
              <a:ext cx="1924050" cy="3105150"/>
            </a:xfrm>
            <a:prstGeom prst="roundRect">
              <a:avLst>
                <a:gd name="adj" fmla="val 792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897795" y="204501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模型语义推理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718935" y="25265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结合业务材料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718935" y="283130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检索知识与规则要求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718935" y="313610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识别排斥性条款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718935" y="344090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附件符合性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718935" y="374570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异常相似性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718935" y="40505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合同条款偏离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718935" y="435530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跨文件关系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8591550" y="1885950"/>
            <a:ext cx="3390900" cy="3105150"/>
            <a:chOff x="8591550" y="1885950"/>
            <a:chExt cx="3390900" cy="3105150"/>
          </a:xfrm>
        </p:grpSpPr>
        <p:sp>
          <p:nvSpPr>
            <p:cNvPr id="62" name="Rectangle 62"/>
            <p:cNvSpPr/>
            <p:nvPr/>
          </p:nvSpPr>
          <p:spPr>
            <a:xfrm>
              <a:off x="8591550" y="1885950"/>
              <a:ext cx="3390900" cy="3105150"/>
            </a:xfrm>
            <a:prstGeom prst="roundRect">
              <a:avLst>
                <a:gd name="adj" fmla="val 4908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612259" y="204501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结构化核查报告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8801100" y="2400300"/>
              <a:ext cx="2971800" cy="495300"/>
            </a:xfrm>
            <a:prstGeom prst="roundRect">
              <a:avLst>
                <a:gd name="adj" fmla="val 23077"/>
              </a:avLst>
            </a:prstGeom>
            <a:solidFill>
              <a:srgbClr val="FFE9E6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8801100" y="3009900"/>
              <a:ext cx="2971800" cy="495300"/>
            </a:xfrm>
            <a:prstGeom prst="roundRect">
              <a:avLst>
                <a:gd name="adj" fmla="val 23077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8801100" y="3619500"/>
              <a:ext cx="2971800" cy="495300"/>
            </a:xfrm>
            <a:prstGeom prst="roundRect">
              <a:avLst>
                <a:gd name="adj" fmla="val 23077"/>
              </a:avLst>
            </a:prstGeom>
            <a:solidFill>
              <a:srgbClr val="E8F7EF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8801100" y="4229100"/>
              <a:ext cx="2971800" cy="495300"/>
            </a:xfrm>
            <a:prstGeom prst="roundRect">
              <a:avLst>
                <a:gd name="adj" fmla="val 23077"/>
              </a:avLst>
            </a:prstGeom>
            <a:solidFill>
              <a:srgbClr val="F1EDFF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023604" y="2575560"/>
              <a:ext cx="2556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D94F4F"/>
                  </a:solidFill>
                  <a:latin typeface="Microsoft YaHei"/>
                  <a:ea typeface="Microsoft YaHei"/>
                  <a:cs typeface="Microsoft YaHei"/>
                </a:rPr>
                <a:t>风险结论｜风险类型、等级与描述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023604" y="3185160"/>
              <a:ext cx="2556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原文证据｜页次、片段与位置定位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023604" y="3794760"/>
              <a:ext cx="2556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68A50"/>
                  </a:solidFill>
                  <a:latin typeface="Microsoft YaHei"/>
                  <a:ea typeface="Microsoft YaHei"/>
                  <a:cs typeface="Microsoft YaHei"/>
                </a:rPr>
                <a:t>引用依据｜法规、制度、历史文件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023604" y="4404360"/>
              <a:ext cx="27261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建议动作｜提示、复核、修改、升级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885950" y="5162550"/>
            <a:ext cx="6553200" cy="1295400"/>
            <a:chOff x="1885950" y="5162550"/>
            <a:chExt cx="6553200" cy="1295400"/>
          </a:xfrm>
        </p:grpSpPr>
        <p:sp>
          <p:nvSpPr>
            <p:cNvPr id="73" name="Rectangle 73"/>
            <p:cNvSpPr/>
            <p:nvPr/>
          </p:nvSpPr>
          <p:spPr>
            <a:xfrm>
              <a:off x="1885950" y="5162550"/>
              <a:ext cx="6553200" cy="1295400"/>
            </a:xfrm>
            <a:prstGeom prst="roundRect">
              <a:avLst>
                <a:gd name="adj" fmla="val 11765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2089023" y="5348764"/>
              <a:ext cx="134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RAG 知识支撑层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2095500" y="5657850"/>
              <a:ext cx="1333500" cy="514350"/>
            </a:xfrm>
            <a:prstGeom prst="roundRect">
              <a:avLst>
                <a:gd name="adj" fmla="val 22222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3562350" y="5657850"/>
              <a:ext cx="1333500" cy="514350"/>
            </a:xfrm>
            <a:prstGeom prst="roundRect">
              <a:avLst>
                <a:gd name="adj" fmla="val 22222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5029200" y="5657850"/>
              <a:ext cx="1333500" cy="514350"/>
            </a:xfrm>
            <a:prstGeom prst="roundRect">
              <a:avLst>
                <a:gd name="adj" fmla="val 22222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6496050" y="5657850"/>
              <a:ext cx="1657350" cy="514350"/>
            </a:xfrm>
            <a:prstGeom prst="roundRect">
              <a:avLst>
                <a:gd name="adj" fmla="val 22222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2360752" y="5860256"/>
              <a:ext cx="802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法规标准库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3827602" y="5860256"/>
              <a:ext cx="802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内部制度库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5294452" y="5860256"/>
              <a:ext cx="802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历史文件库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436414" y="5860256"/>
              <a:ext cx="17766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场景知识库 → 上下文组装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8591550" y="5162550"/>
            <a:ext cx="3458108" cy="1295400"/>
            <a:chOff x="8591550" y="5162550"/>
            <a:chExt cx="3458108" cy="1295400"/>
          </a:xfrm>
        </p:grpSpPr>
        <p:sp>
          <p:nvSpPr>
            <p:cNvPr id="84" name="Rectangle 84"/>
            <p:cNvSpPr/>
            <p:nvPr/>
          </p:nvSpPr>
          <p:spPr>
            <a:xfrm>
              <a:off x="8591550" y="5162550"/>
              <a:ext cx="3390900" cy="1295400"/>
            </a:xfrm>
            <a:prstGeom prst="roundRect">
              <a:avLst>
                <a:gd name="adj" fmla="val 1176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9855327" y="53625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价值体现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871204" y="5737860"/>
              <a:ext cx="25322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✓ 知识依据充分　✓ 原文定位精准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8871204" y="6023610"/>
              <a:ext cx="31784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✓ 结果可解释复核　✓ 降低幻觉与审计风险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83845"/>
            <a:ext cx="11556492" cy="716280"/>
            <a:chOff x="311658" y="283845"/>
            <a:chExt cx="11556492" cy="716280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83845"/>
              <a:ext cx="480770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10｜两类规则覆盖招采关键节点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691039"/>
              <a:ext cx="64035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70+项风控规则将 AI 审查与结构化数据比对嵌入从清单公告到合同后续的全流程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304800" y="1181100"/>
            <a:ext cx="11582400" cy="1157287"/>
            <a:chOff x="304800" y="1181100"/>
            <a:chExt cx="11582400" cy="1157287"/>
          </a:xfrm>
        </p:grpSpPr>
        <p:sp>
          <p:nvSpPr>
            <p:cNvPr id="6" name="Rectangle 6"/>
            <p:cNvSpPr/>
            <p:nvPr/>
          </p:nvSpPr>
          <p:spPr>
            <a:xfrm>
              <a:off x="304800" y="1181100"/>
              <a:ext cx="11582400" cy="1047750"/>
            </a:xfrm>
            <a:prstGeom prst="roundRect">
              <a:avLst>
                <a:gd name="adj" fmla="val 16364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304800" y="1181100"/>
              <a:ext cx="4857750" cy="1047750"/>
            </a:xfrm>
            <a:prstGeom prst="roundRect">
              <a:avLst>
                <a:gd name="adj" fmla="val 1636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47700" y="1319212"/>
              <a:ext cx="1262553" cy="10191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70+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333625" y="1683544"/>
              <a:ext cx="134774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项风控规则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506593" y="1422082"/>
              <a:ext cx="7930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AI 审查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540246" y="1324928"/>
              <a:ext cx="42239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13067" y="145446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506593" y="1803082"/>
              <a:ext cx="18476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Microsoft YaHei"/>
                  <a:ea typeface="Microsoft YaHei"/>
                  <a:cs typeface="Microsoft YaHei"/>
                </a:rPr>
                <a:t>+ 结构化数据比对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852154" y="143256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覆盖清单公告、采购文件、报名资审、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852154" y="16992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开评标定标和合同后续关键节点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304800" y="2457450"/>
            <a:ext cx="11582400" cy="2914650"/>
            <a:chOff x="304800" y="2457450"/>
            <a:chExt cx="11582400" cy="2914650"/>
          </a:xfrm>
        </p:grpSpPr>
        <p:sp>
          <p:nvSpPr>
            <p:cNvPr id="17" name="Rectangle 17"/>
            <p:cNvSpPr/>
            <p:nvPr/>
          </p:nvSpPr>
          <p:spPr>
            <a:xfrm>
              <a:off x="304800" y="2457450"/>
              <a:ext cx="2190750" cy="2914650"/>
            </a:xfrm>
            <a:prstGeom prst="roundRect">
              <a:avLst>
                <a:gd name="adj" fmla="val 6957"/>
              </a:avLst>
            </a:prstGeom>
            <a:solidFill>
              <a:schemeClr val="lt2"/>
            </a:solidFill>
            <a:ln w="19050">
              <a:solidFill>
                <a:srgbClr val="FF8A3D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2647950" y="2457450"/>
              <a:ext cx="2190750" cy="2914650"/>
            </a:xfrm>
            <a:prstGeom prst="roundRect">
              <a:avLst>
                <a:gd name="adj" fmla="val 6957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991100" y="2457450"/>
              <a:ext cx="2190750" cy="2914650"/>
            </a:xfrm>
            <a:prstGeom prst="roundRect">
              <a:avLst>
                <a:gd name="adj" fmla="val 6957"/>
              </a:avLst>
            </a:prstGeom>
            <a:solidFill>
              <a:schemeClr val="lt2"/>
            </a:solidFill>
            <a:ln w="19050">
              <a:solidFill>
                <a:srgbClr val="FF8A3D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7334250" y="2457450"/>
              <a:ext cx="2190750" cy="2914650"/>
            </a:xfrm>
            <a:prstGeom prst="roundRect">
              <a:avLst>
                <a:gd name="adj" fmla="val 6957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9677400" y="2457450"/>
              <a:ext cx="2209800" cy="2914650"/>
            </a:xfrm>
            <a:prstGeom prst="roundRect">
              <a:avLst>
                <a:gd name="adj" fmla="val 6897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60753" y="2649379"/>
              <a:ext cx="147884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01 清单 / 公告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132321" y="2649379"/>
              <a:ext cx="122200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02 采购文件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347053" y="2649379"/>
              <a:ext cx="147884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03 报名 / 资审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78536" y="2649379"/>
              <a:ext cx="170217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04 开评标 / 定标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042878" y="2649379"/>
              <a:ext cx="147884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05 合同 / 后续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95300" y="3067050"/>
              <a:ext cx="1809750" cy="438150"/>
            </a:xfrm>
            <a:prstGeom prst="roundRect">
              <a:avLst>
                <a:gd name="adj" fmla="val 21739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95300" y="3600450"/>
              <a:ext cx="1809750" cy="438150"/>
            </a:xfrm>
            <a:prstGeom prst="roundRect">
              <a:avLst>
                <a:gd name="adj" fmla="val 21739"/>
              </a:avLst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495300" y="4133850"/>
              <a:ext cx="1809750" cy="438150"/>
            </a:xfrm>
            <a:prstGeom prst="roundRect">
              <a:avLst>
                <a:gd name="adj" fmla="val 21739"/>
              </a:avLst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667250"/>
              <a:ext cx="1809750" cy="438150"/>
            </a:xfrm>
            <a:prstGeom prst="roundRect">
              <a:avLst>
                <a:gd name="adj" fmla="val 21739"/>
              </a:avLst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87528" y="3229928"/>
              <a:ext cx="18252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AI｜主材 / 周材 / 设备检查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70788" y="37633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2"/>
                  </a:solidFill>
                  <a:latin typeface="Microsoft YaHei"/>
                  <a:ea typeface="Microsoft YaHei"/>
                  <a:cs typeface="Microsoft YaHei"/>
                </a:rPr>
                <a:t>资质标准识别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9437" y="42967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2"/>
                  </a:solidFill>
                  <a:latin typeface="Microsoft YaHei"/>
                  <a:ea typeface="Microsoft YaHei"/>
                  <a:cs typeface="Microsoft YaHei"/>
                </a:rPr>
                <a:t>排斥性与特定条件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29437" y="48301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2"/>
                  </a:solidFill>
                  <a:latin typeface="Microsoft YaHei"/>
                  <a:ea typeface="Microsoft YaHei"/>
                  <a:cs typeface="Microsoft YaHei"/>
                </a:rPr>
                <a:t>报名投标时间核验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838450" y="3067050"/>
              <a:ext cx="1809750" cy="438150"/>
            </a:xfrm>
            <a:prstGeom prst="roundRect">
              <a:avLst>
                <a:gd name="adj" fmla="val 21739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2838450" y="3600450"/>
              <a:ext cx="1809750" cy="438150"/>
            </a:xfrm>
            <a:prstGeom prst="roundRect">
              <a:avLst>
                <a:gd name="adj" fmla="val 21739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2838450" y="4133850"/>
              <a:ext cx="1809750" cy="438150"/>
            </a:xfrm>
            <a:prstGeom prst="roundRect">
              <a:avLst>
                <a:gd name="adj" fmla="val 21739"/>
              </a:avLst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2838450" y="4667250"/>
              <a:ext cx="1809750" cy="438150"/>
            </a:xfrm>
            <a:prstGeom prst="roundRect">
              <a:avLst>
                <a:gd name="adj" fmla="val 21739"/>
              </a:avLst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151784" y="3229928"/>
              <a:ext cx="11830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AI｜报价轮次核查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151784" y="3763328"/>
              <a:ext cx="11830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AI｜评标办法核查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172587" y="42967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2"/>
                  </a:solidFill>
                  <a:latin typeface="Microsoft YaHei"/>
                  <a:ea typeface="Microsoft YaHei"/>
                  <a:cs typeface="Microsoft YaHei"/>
                </a:rPr>
                <a:t>中标单位数量核查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243262" y="483012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2"/>
                  </a:solidFill>
                  <a:latin typeface="Microsoft YaHei"/>
                  <a:ea typeface="Microsoft YaHei"/>
                  <a:cs typeface="Microsoft YaHei"/>
                </a:rPr>
                <a:t>标段与兼投兼中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181600" y="3067050"/>
              <a:ext cx="1809750" cy="438150"/>
            </a:xfrm>
            <a:prstGeom prst="roundRect">
              <a:avLst>
                <a:gd name="adj" fmla="val 21739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181600" y="3600450"/>
              <a:ext cx="1809750" cy="438150"/>
            </a:xfrm>
            <a:prstGeom prst="roundRect">
              <a:avLst>
                <a:gd name="adj" fmla="val 21739"/>
              </a:avLst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181600" y="4133850"/>
              <a:ext cx="1809750" cy="438150"/>
            </a:xfrm>
            <a:prstGeom prst="roundRect">
              <a:avLst>
                <a:gd name="adj" fmla="val 21739"/>
              </a:avLst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181600" y="4667250"/>
              <a:ext cx="1809750" cy="438150"/>
            </a:xfrm>
            <a:prstGeom prst="roundRect">
              <a:avLst>
                <a:gd name="adj" fmla="val 21739"/>
              </a:avLst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345582" y="3229928"/>
              <a:ext cx="14817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AI｜附件满足公告要求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445062" y="376332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2"/>
                  </a:solidFill>
                  <a:latin typeface="Microsoft YaHei"/>
                  <a:ea typeface="Microsoft YaHei"/>
                  <a:cs typeface="Microsoft YaHei"/>
                </a:rPr>
                <a:t>资审与通过名单比对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586412" y="429672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2"/>
                  </a:solidFill>
                  <a:latin typeface="Microsoft YaHei"/>
                  <a:ea typeface="Microsoft YaHei"/>
                  <a:cs typeface="Microsoft YaHei"/>
                </a:rPr>
                <a:t>禁用分供商识别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434460" y="4830128"/>
              <a:ext cx="13040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2"/>
                  </a:solidFill>
                  <a:latin typeface="Microsoft YaHei"/>
                  <a:ea typeface="Microsoft YaHei"/>
                  <a:cs typeface="Microsoft YaHei"/>
                </a:rPr>
                <a:t>信息重叠 / 工商关联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524750" y="3067050"/>
              <a:ext cx="1809750" cy="438150"/>
            </a:xfrm>
            <a:prstGeom prst="roundRect">
              <a:avLst>
                <a:gd name="adj" fmla="val 21739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7524750" y="3600450"/>
              <a:ext cx="1809750" cy="438150"/>
            </a:xfrm>
            <a:prstGeom prst="roundRect">
              <a:avLst>
                <a:gd name="adj" fmla="val 21739"/>
              </a:avLst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524750" y="4133850"/>
              <a:ext cx="1809750" cy="438150"/>
            </a:xfrm>
            <a:prstGeom prst="roundRect">
              <a:avLst>
                <a:gd name="adj" fmla="val 21739"/>
              </a:avLst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7524750" y="4667250"/>
              <a:ext cx="1809750" cy="438150"/>
            </a:xfrm>
            <a:prstGeom prst="roundRect">
              <a:avLst>
                <a:gd name="adj" fmla="val 21739"/>
              </a:avLst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688732" y="3229928"/>
              <a:ext cx="14817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AI｜开标评审人数核查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929562" y="376332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2"/>
                  </a:solidFill>
                  <a:latin typeface="Microsoft YaHei"/>
                  <a:ea typeface="Microsoft YaHei"/>
                  <a:cs typeface="Microsoft YaHei"/>
                </a:rPr>
                <a:t>报价分供商数量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706935" y="4296728"/>
              <a:ext cx="14453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2"/>
                  </a:solidFill>
                  <a:latin typeface="Microsoft YaHei"/>
                  <a:ea typeface="Microsoft YaHei"/>
                  <a:cs typeface="Microsoft YaHei"/>
                </a:rPr>
                <a:t>规律性报价 / 调价轮次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788212" y="483012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2"/>
                  </a:solidFill>
                  <a:latin typeface="Microsoft YaHei"/>
                  <a:ea typeface="Microsoft YaHei"/>
                  <a:cs typeface="Microsoft YaHei"/>
                </a:rPr>
                <a:t>拟中标与推荐一致性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9867900" y="3067050"/>
              <a:ext cx="1828800" cy="438150"/>
            </a:xfrm>
            <a:prstGeom prst="roundRect">
              <a:avLst>
                <a:gd name="adj" fmla="val 21739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9867900" y="3600450"/>
              <a:ext cx="1828800" cy="438150"/>
            </a:xfrm>
            <a:prstGeom prst="roundRect">
              <a:avLst>
                <a:gd name="adj" fmla="val 21739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9867900" y="4133850"/>
              <a:ext cx="1828800" cy="438150"/>
            </a:xfrm>
            <a:prstGeom prst="roundRect">
              <a:avLst>
                <a:gd name="adj" fmla="val 21739"/>
              </a:avLst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9867900" y="4667250"/>
              <a:ext cx="1828800" cy="438150"/>
            </a:xfrm>
            <a:prstGeom prst="roundRect">
              <a:avLst>
                <a:gd name="adj" fmla="val 21739"/>
              </a:avLst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966731" y="3229928"/>
              <a:ext cx="16311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AI｜付款条款与合同比对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041407" y="3763328"/>
              <a:ext cx="14817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AI｜合同评审记录核查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211562" y="42967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2"/>
                  </a:solidFill>
                  <a:latin typeface="Microsoft YaHei"/>
                  <a:ea typeface="Microsoft YaHei"/>
                  <a:cs typeface="Microsoft YaHei"/>
                </a:rPr>
                <a:t>成交报告发布时间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352913" y="48301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2"/>
                  </a:solidFill>
                  <a:latin typeface="Microsoft YaHei"/>
                  <a:ea typeface="Microsoft YaHei"/>
                  <a:cs typeface="Microsoft YaHei"/>
                </a:rPr>
                <a:t>合同交底时限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304800" y="5619750"/>
            <a:ext cx="11582400" cy="879157"/>
            <a:chOff x="304800" y="5619750"/>
            <a:chExt cx="11582400" cy="879157"/>
          </a:xfrm>
        </p:grpSpPr>
        <p:sp>
          <p:nvSpPr>
            <p:cNvPr id="68" name="Rectangle 68"/>
            <p:cNvSpPr/>
            <p:nvPr/>
          </p:nvSpPr>
          <p:spPr>
            <a:xfrm>
              <a:off x="304800" y="5619750"/>
              <a:ext cx="11582400" cy="857250"/>
            </a:xfrm>
            <a:prstGeom prst="roundRect">
              <a:avLst>
                <a:gd name="adj" fmla="val 200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45592" y="5816918"/>
              <a:ext cx="1731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检测方式（可配置）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2476500" y="5791200"/>
              <a:ext cx="4000500" cy="457200"/>
            </a:xfrm>
            <a:prstGeom prst="roundRect">
              <a:avLst>
                <a:gd name="adj" fmla="val 50000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6705600" y="5791200"/>
              <a:ext cx="4857750" cy="457200"/>
            </a:xfrm>
            <a:prstGeom prst="roundRect">
              <a:avLst>
                <a:gd name="adj" fmla="val 50000"/>
              </a:avLst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2751445" y="5939314"/>
              <a:ext cx="34506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合规自查｜经办人实时提示，辅助规范操作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047311" y="5939314"/>
              <a:ext cx="41743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2"/>
                  </a:solidFill>
                  <a:latin typeface="Microsoft YaHei"/>
                  <a:ea typeface="Microsoft YaHei"/>
                  <a:cs typeface="Microsoft YaHei"/>
                </a:rPr>
                <a:t>风控预警｜形成风险记录，持续跟踪整改与解除状态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547688" y="6322695"/>
              <a:ext cx="31596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备注：完整规则名称、校验场景与配置状态放入答辩备份页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83845"/>
            <a:ext cx="11556492" cy="716280"/>
            <a:chOff x="311658" y="283845"/>
            <a:chExt cx="11556492" cy="716280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83845"/>
              <a:ext cx="412921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11｜供应商资质与准入核验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691039"/>
              <a:ext cx="53546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公告要求、主体附件、资质和失信数据共同形成可复核的准入核验结论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304800" y="1257300"/>
            <a:ext cx="6953250" cy="4343400"/>
            <a:chOff x="304800" y="1257300"/>
            <a:chExt cx="6953250" cy="4343400"/>
          </a:xfrm>
        </p:grpSpPr>
        <p:sp>
          <p:nvSpPr>
            <p:cNvPr id="6" name="Rectangle 6"/>
            <p:cNvSpPr/>
            <p:nvPr/>
          </p:nvSpPr>
          <p:spPr>
            <a:xfrm>
              <a:off x="304800" y="1257300"/>
              <a:ext cx="6953250" cy="4343400"/>
            </a:xfrm>
            <a:prstGeom prst="roundRect">
              <a:avLst>
                <a:gd name="adj" fmla="val 3947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25780" y="1457325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真实脱敏证据区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847850"/>
              <a:ext cx="6496050" cy="1543050"/>
            </a:xfrm>
            <a:prstGeom prst="roundRect">
              <a:avLst>
                <a:gd name="adj" fmla="val 8642"/>
              </a:avLst>
            </a:prstGeom>
            <a:solidFill>
              <a:srgbClr val="EAF2FB"/>
            </a:solidFill>
            <a:ln w="9525">
              <a:solidFill>
                <a:srgbClr val="9EB7D2"/>
              </a:solidFill>
              <a:custDash>
                <a:ds d="800000" sp="600000"/>
              </a:custDash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773103" y="2279332"/>
              <a:ext cx="40166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待补充：公告资质要求 / 报名要求截图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192579" y="2678906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保留原文、页码、要求类型、资质等级与有效期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3581400"/>
              <a:ext cx="3124200" cy="1752600"/>
            </a:xfrm>
            <a:prstGeom prst="roundRect">
              <a:avLst>
                <a:gd name="adj" fmla="val 7609"/>
              </a:avLst>
            </a:prstGeom>
            <a:solidFill>
              <a:srgbClr val="EAF2FB"/>
            </a:solidFill>
            <a:ln w="9525">
              <a:solidFill>
                <a:srgbClr val="9EB7D2"/>
              </a:solidFill>
              <a:custDash>
                <a:ds d="800000" sp="600000"/>
              </a:custDash>
            </a:ln>
          </p:spPr>
        </p:sp>
        <p:sp>
          <p:nvSpPr>
            <p:cNvPr id="12" name="Rectangle 12"/>
            <p:cNvSpPr/>
            <p:nvPr/>
          </p:nvSpPr>
          <p:spPr>
            <a:xfrm>
              <a:off x="3905250" y="3581400"/>
              <a:ext cx="3124200" cy="1752600"/>
            </a:xfrm>
            <a:prstGeom prst="roundRect">
              <a:avLst>
                <a:gd name="adj" fmla="val 7609"/>
              </a:avLst>
            </a:prstGeom>
            <a:solidFill>
              <a:srgbClr val="EAF2FB"/>
            </a:solidFill>
            <a:ln w="9525">
              <a:solidFill>
                <a:srgbClr val="9EB7D2"/>
              </a:solidFill>
              <a:custDash>
                <a:ds d="800000" sp="600000"/>
              </a:custDash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68178" y="4208621"/>
              <a:ext cx="28546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待补充：供应商证书 / 报名附件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140387" y="4208621"/>
              <a:ext cx="26539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待补充：三方资质 / 失信查询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59358" y="4592002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主体、证书编号、类型等级、有效期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72559" y="4592002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数据来源、查询时间与授权范围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486650" y="1257300"/>
            <a:ext cx="4400550" cy="4343400"/>
            <a:chOff x="7486650" y="1257300"/>
            <a:chExt cx="4400550" cy="4343400"/>
          </a:xfrm>
        </p:grpSpPr>
        <p:sp>
          <p:nvSpPr>
            <p:cNvPr id="18" name="Rectangle 18"/>
            <p:cNvSpPr/>
            <p:nvPr/>
          </p:nvSpPr>
          <p:spPr>
            <a:xfrm>
              <a:off x="7486650" y="1257300"/>
              <a:ext cx="4400550" cy="4343400"/>
            </a:xfrm>
            <a:prstGeom prst="roundRect">
              <a:avLst>
                <a:gd name="adj" fmla="val 3947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707630" y="1457325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结构化核验结果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715250" y="1847850"/>
              <a:ext cx="3943350" cy="1809750"/>
            </a:xfrm>
            <a:prstGeom prst="roundRect">
              <a:avLst>
                <a:gd name="adj" fmla="val 7368"/>
              </a:avLst>
            </a:prstGeom>
            <a:solidFill>
              <a:srgbClr val="F7FAFE"/>
            </a:solidFill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900035" y="2069306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核验项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52535" y="206930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公告要求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976485" y="206930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实际信息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018322" y="206930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结果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7905750" y="2343150"/>
              <a:ext cx="3562350" cy="9525"/>
            </a:xfrm>
            <a:custGeom>
              <a:avLst/>
              <a:gdLst/>
              <a:ahLst/>
              <a:cxnLst/>
              <a:rect l="l" t="t" r="r" b="b"/>
              <a:pathLst>
                <a:path w="3562350" h="9525">
                  <a:moveTo>
                    <a:pt x="0" y="0"/>
                  </a:moveTo>
                  <a:lnTo>
                    <a:pt x="35623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900416" y="25536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资质类型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852916" y="25536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待补充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976866" y="25536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待补充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964990" y="25536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98700"/>
                  </a:solidFill>
                  <a:latin typeface="Microsoft YaHei"/>
                  <a:ea typeface="Microsoft YaHei"/>
                  <a:cs typeface="Microsoft YaHei"/>
                </a:rPr>
                <a:t>待核验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900416" y="2953702"/>
              <a:ext cx="8799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等级 / 有效期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852916" y="295370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待补充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976866" y="295370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待补充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964990" y="295370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98700"/>
                  </a:solidFill>
                  <a:latin typeface="Microsoft YaHei"/>
                  <a:ea typeface="Microsoft YaHei"/>
                  <a:cs typeface="Microsoft YaHei"/>
                </a:rPr>
                <a:t>待核验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00416" y="3353752"/>
              <a:ext cx="1021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失信 / 主体状态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852916" y="33537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准入要求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976866" y="33537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待补充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964990" y="335375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C98700"/>
                  </a:solidFill>
                  <a:latin typeface="Microsoft YaHei"/>
                  <a:ea typeface="Microsoft YaHei"/>
                  <a:cs typeface="Microsoft YaHei"/>
                </a:rPr>
                <a:t>待核验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715250" y="3867150"/>
              <a:ext cx="3943350" cy="647700"/>
            </a:xfrm>
            <a:prstGeom prst="roundRect">
              <a:avLst>
                <a:gd name="adj" fmla="val 20588"/>
              </a:avLst>
            </a:prstGeom>
            <a:solidFill>
              <a:srgbClr val="FFF4D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899654" y="4032885"/>
              <a:ext cx="1564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98700"/>
                  </a:solidFill>
                  <a:latin typeface="Microsoft YaHei"/>
                  <a:ea typeface="Microsoft YaHei"/>
                  <a:cs typeface="Microsoft YaHei"/>
                </a:rPr>
                <a:t>风险等级 / 处理动作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900416" y="4287202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待补充真实规则命中页面、人工复核和最终处理结果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7715250" y="4705350"/>
              <a:ext cx="3943350" cy="628650"/>
            </a:xfrm>
            <a:prstGeom prst="roundRect">
              <a:avLst>
                <a:gd name="adj" fmla="val 21212"/>
              </a:avLst>
            </a:prstGeom>
            <a:solidFill>
              <a:srgbClr val="E8F7E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341587" y="48329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68A50"/>
                  </a:solidFill>
                  <a:latin typeface="Microsoft YaHei"/>
                  <a:ea typeface="Microsoft YaHei"/>
                  <a:cs typeface="Microsoft YaHei"/>
                </a:rPr>
                <a:t>核验链路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780420" y="5106352"/>
              <a:ext cx="38130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公告要求 → 主体 / 附件 / 资质 / 失信 → 规则命中 → 处理结果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304800" y="5810250"/>
            <a:ext cx="11582400" cy="628650"/>
            <a:chOff x="304800" y="5810250"/>
            <a:chExt cx="11582400" cy="628650"/>
          </a:xfrm>
        </p:grpSpPr>
        <p:sp>
          <p:nvSpPr>
            <p:cNvPr id="45" name="Rectangle 45"/>
            <p:cNvSpPr/>
            <p:nvPr/>
          </p:nvSpPr>
          <p:spPr>
            <a:xfrm>
              <a:off x="304800" y="5810250"/>
              <a:ext cx="11582400" cy="628650"/>
            </a:xfrm>
            <a:prstGeom prst="roundRect">
              <a:avLst>
                <a:gd name="adj" fmla="val 2424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845137" y="6055042"/>
              <a:ext cx="65017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本页不生成虚构案例截图；待项目组补充真实脱敏材料后，可直接替换证据框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83845"/>
            <a:ext cx="11556492" cy="716280"/>
            <a:chOff x="311658" y="283845"/>
            <a:chExt cx="11556492" cy="716280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83845"/>
              <a:ext cx="480770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12｜排斥性条款在发布前被识别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691039"/>
              <a:ext cx="58664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AI 结合条款上下文和制度依据输出风险线索，推动修改、复核和重新提交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304800" y="1257300"/>
            <a:ext cx="4953000" cy="4476750"/>
            <a:chOff x="304800" y="1257300"/>
            <a:chExt cx="4953000" cy="4476750"/>
          </a:xfrm>
        </p:grpSpPr>
        <p:sp>
          <p:nvSpPr>
            <p:cNvPr id="6" name="Rectangle 6"/>
            <p:cNvSpPr/>
            <p:nvPr/>
          </p:nvSpPr>
          <p:spPr>
            <a:xfrm>
              <a:off x="304800" y="1257300"/>
              <a:ext cx="4953000" cy="4476750"/>
            </a:xfrm>
            <a:prstGeom prst="roundRect">
              <a:avLst>
                <a:gd name="adj" fmla="val 383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830" y="1466850"/>
              <a:ext cx="19552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公告 / 采购文件原文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52450" y="1847850"/>
              <a:ext cx="4457700" cy="3562350"/>
            </a:xfrm>
            <a:prstGeom prst="roundRect">
              <a:avLst>
                <a:gd name="adj" fmla="val 3743"/>
              </a:avLst>
            </a:prstGeom>
            <a:solidFill>
              <a:srgbClr val="EAF2FB"/>
            </a:solidFill>
            <a:ln w="9525">
              <a:solidFill>
                <a:srgbClr val="9EB7D2"/>
              </a:solidFill>
              <a:custDash>
                <a:ds d="800000" sp="600000"/>
              </a:custDash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73543" y="3022282"/>
              <a:ext cx="28155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待补充：真实脱敏公告原文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52500" y="3524250"/>
              <a:ext cx="3657600" cy="552450"/>
            </a:xfrm>
            <a:prstGeom prst="roundRect">
              <a:avLst>
                <a:gd name="adj" fmla="val 17241"/>
              </a:avLst>
            </a:prstGeom>
            <a:solidFill>
              <a:srgbClr val="FFE9E6"/>
            </a:solidFill>
            <a:ln w="9525">
              <a:solidFill>
                <a:srgbClr val="FF8A3D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333424" y="3728085"/>
              <a:ext cx="28957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D94F4F"/>
                  </a:solidFill>
                  <a:latin typeface="Microsoft YaHei"/>
                  <a:ea typeface="Microsoft YaHei"/>
                  <a:cs typeface="Microsoft YaHei"/>
                </a:rPr>
                <a:t>命中条款高亮区域｜保留上下文与页码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91780" y="4363402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需展示原始措辞、所在章节、前后文和文件版本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429250" y="1257300"/>
            <a:ext cx="3333750" cy="4476750"/>
            <a:chOff x="5429250" y="1257300"/>
            <a:chExt cx="3333750" cy="4476750"/>
          </a:xfrm>
        </p:grpSpPr>
        <p:sp>
          <p:nvSpPr>
            <p:cNvPr id="14" name="Rectangle 14"/>
            <p:cNvSpPr/>
            <p:nvPr/>
          </p:nvSpPr>
          <p:spPr>
            <a:xfrm>
              <a:off x="5429250" y="1257300"/>
              <a:ext cx="3333750" cy="4476750"/>
            </a:xfrm>
            <a:prstGeom prst="roundRect">
              <a:avLst>
                <a:gd name="adj" fmla="val 5143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659755" y="1466850"/>
              <a:ext cx="18410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AI 识别与引用依据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667375" y="1847850"/>
              <a:ext cx="2857500" cy="1200150"/>
            </a:xfrm>
            <a:prstGeom prst="roundRect">
              <a:avLst>
                <a:gd name="adj" fmla="val 11111"/>
              </a:avLst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51779" y="20421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Microsoft YaHei"/>
                  <a:ea typeface="Microsoft YaHei"/>
                  <a:cs typeface="Microsoft YaHei"/>
                </a:rPr>
                <a:t>风险说明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852541" y="2363152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待补充：疑似限制性或倾向性表述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852541" y="261080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说明为何需要人工复核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667375" y="3219450"/>
              <a:ext cx="2857500" cy="1200150"/>
            </a:xfrm>
            <a:prstGeom prst="roundRect">
              <a:avLst>
                <a:gd name="adj" fmla="val 11111"/>
              </a:avLst>
            </a:prstGeom>
            <a:solidFill>
              <a:srgbClr val="F1ED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851779" y="34137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引用依据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852541" y="3734752"/>
              <a:ext cx="21521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待补充：法律法规 / 内部制度条款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852541" y="398240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引用内容、来源和版本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667375" y="4591050"/>
              <a:ext cx="2857500" cy="819150"/>
            </a:xfrm>
            <a:prstGeom prst="roundRect">
              <a:avLst>
                <a:gd name="adj" fmla="val 16279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14012" y="4794885"/>
              <a:ext cx="1564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原文定位 + 判断依据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172010" y="5068252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供业务、合规和审计人员复核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934450" y="1257300"/>
            <a:ext cx="2952750" cy="4476750"/>
            <a:chOff x="8934450" y="1257300"/>
            <a:chExt cx="2952750" cy="4476750"/>
          </a:xfrm>
        </p:grpSpPr>
        <p:sp>
          <p:nvSpPr>
            <p:cNvPr id="28" name="Rectangle 28"/>
            <p:cNvSpPr/>
            <p:nvPr/>
          </p:nvSpPr>
          <p:spPr>
            <a:xfrm>
              <a:off x="8934450" y="1257300"/>
              <a:ext cx="2952750" cy="4476750"/>
            </a:xfrm>
            <a:prstGeom prst="roundRect">
              <a:avLst>
                <a:gd name="adj" fmla="val 580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164955" y="1466850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处置与重新提交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9172575" y="1847850"/>
              <a:ext cx="2476500" cy="1047750"/>
            </a:xfrm>
            <a:prstGeom prst="roundRect">
              <a:avLst>
                <a:gd name="adj" fmla="val 12727"/>
              </a:avLst>
            </a:prstGeom>
            <a:solidFill>
              <a:srgbClr val="FFE9E6"/>
            </a:solidFill>
            <a:ln w="9525">
              <a:solidFill>
                <a:srgbClr val="9EB7D2"/>
              </a:solidFill>
              <a:custDash>
                <a:ds d="800000" sp="600000"/>
              </a:custDash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340124" y="2178368"/>
              <a:ext cx="21414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D94F4F"/>
                  </a:solidFill>
                  <a:latin typeface="Microsoft YaHei"/>
                  <a:ea typeface="Microsoft YaHei"/>
                  <a:cs typeface="Microsoft YaHei"/>
                </a:rPr>
                <a:t>待补充：预警 / 拦截页面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812198" y="248554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风险等级与建议动作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9172575" y="3105150"/>
              <a:ext cx="2476500" cy="1047750"/>
            </a:xfrm>
            <a:prstGeom prst="roundRect">
              <a:avLst>
                <a:gd name="adj" fmla="val 12727"/>
              </a:avLst>
            </a:prstGeom>
            <a:solidFill>
              <a:srgbClr val="E8F7EF"/>
            </a:solidFill>
            <a:ln w="9525">
              <a:solidFill>
                <a:srgbClr val="9EB7D2"/>
              </a:solidFill>
              <a:custDash>
                <a:ds d="800000" sp="600000"/>
              </a:custDash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545260" y="3435668"/>
              <a:ext cx="1731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68A50"/>
                  </a:solidFill>
                  <a:latin typeface="Microsoft YaHei"/>
                  <a:ea typeface="Microsoft YaHei"/>
                  <a:cs typeface="Microsoft YaHei"/>
                </a:rPr>
                <a:t>待补充：修改后条款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812198" y="374284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前后对比与复核结果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172575" y="4362450"/>
              <a:ext cx="2476500" cy="1047750"/>
            </a:xfrm>
            <a:prstGeom prst="roundRect">
              <a:avLst>
                <a:gd name="adj" fmla="val 12727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065487" y="45758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处置闭环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677533" y="4858702"/>
              <a:ext cx="14665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修改 → 复核 → 重新提交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769412" y="510635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通过后继续业务流程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304800" y="5905500"/>
            <a:ext cx="11582400" cy="590550"/>
            <a:chOff x="304800" y="5905500"/>
            <a:chExt cx="11582400" cy="590550"/>
          </a:xfrm>
        </p:grpSpPr>
        <p:sp>
          <p:nvSpPr>
            <p:cNvPr id="41" name="Rectangle 41"/>
            <p:cNvSpPr/>
            <p:nvPr/>
          </p:nvSpPr>
          <p:spPr>
            <a:xfrm>
              <a:off x="304800" y="5905500"/>
              <a:ext cx="11582400" cy="590550"/>
            </a:xfrm>
            <a:prstGeom prst="roundRect">
              <a:avLst>
                <a:gd name="adj" fmla="val 2580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276470" y="6131242"/>
              <a:ext cx="56390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公告上报 → AI 识别 → 原文定位与依据 → 修改 / 复核 → 重新提交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83845"/>
            <a:ext cx="11556492" cy="716280"/>
            <a:chOff x="311658" y="283845"/>
            <a:chExt cx="11556492" cy="716280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83845"/>
              <a:ext cx="514694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13｜异常一致性形成辅助核查线索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691039"/>
              <a:ext cx="65608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精确重叠、主体关联和模糊相似共同呈现风险线索，最终结论由授权人员依法依规作出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304800" y="1257300"/>
            <a:ext cx="7524750" cy="4286250"/>
            <a:chOff x="304800" y="1257300"/>
            <a:chExt cx="7524750" cy="4286250"/>
          </a:xfrm>
        </p:grpSpPr>
        <p:sp>
          <p:nvSpPr>
            <p:cNvPr id="6" name="Rectangle 6"/>
            <p:cNvSpPr/>
            <p:nvPr/>
          </p:nvSpPr>
          <p:spPr>
            <a:xfrm>
              <a:off x="304800" y="1257300"/>
              <a:ext cx="7524750" cy="4286250"/>
            </a:xfrm>
            <a:prstGeom prst="roundRect">
              <a:avLst>
                <a:gd name="adj" fmla="val 40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25780" y="1466850"/>
              <a:ext cx="28033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响应文件 / 报名材料对比证据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1885950"/>
              <a:ext cx="2133600" cy="3200400"/>
            </a:xfrm>
            <a:prstGeom prst="roundRect">
              <a:avLst>
                <a:gd name="adj" fmla="val 6250"/>
              </a:avLst>
            </a:prstGeom>
            <a:solidFill>
              <a:srgbClr val="EAF2FB"/>
            </a:solidFill>
            <a:ln w="9525">
              <a:solidFill>
                <a:srgbClr val="9EB7D2"/>
              </a:solidFill>
              <a:custDash>
                <a:ds d="800000" sp="600000"/>
              </a:custDash>
            </a:ln>
          </p:spPr>
        </p:sp>
        <p:sp>
          <p:nvSpPr>
            <p:cNvPr id="9" name="Rectangle 9"/>
            <p:cNvSpPr/>
            <p:nvPr/>
          </p:nvSpPr>
          <p:spPr>
            <a:xfrm>
              <a:off x="2819400" y="1885950"/>
              <a:ext cx="2133600" cy="3200400"/>
            </a:xfrm>
            <a:prstGeom prst="roundRect">
              <a:avLst>
                <a:gd name="adj" fmla="val 6250"/>
              </a:avLst>
            </a:prstGeom>
            <a:solidFill>
              <a:srgbClr val="EAF2FB"/>
            </a:solidFill>
            <a:ln w="9525">
              <a:solidFill>
                <a:srgbClr val="9EB7D2"/>
              </a:solidFill>
              <a:custDash>
                <a:ds d="800000" sp="600000"/>
              </a:custDash>
            </a:ln>
          </p:spPr>
        </p:sp>
        <p:sp>
          <p:nvSpPr>
            <p:cNvPr id="10" name="Rectangle 10"/>
            <p:cNvSpPr/>
            <p:nvPr/>
          </p:nvSpPr>
          <p:spPr>
            <a:xfrm>
              <a:off x="5105400" y="1885950"/>
              <a:ext cx="2495550" cy="3200400"/>
            </a:xfrm>
            <a:prstGeom prst="roundRect">
              <a:avLst>
                <a:gd name="adj" fmla="val 5344"/>
              </a:avLst>
            </a:prstGeom>
            <a:solidFill>
              <a:srgbClr val="EAF2FB"/>
            </a:solidFill>
            <a:ln w="9525">
              <a:solidFill>
                <a:srgbClr val="9EB7D2"/>
              </a:solidFill>
              <a:custDash>
                <a:ds d="800000" sp="600000"/>
              </a:custDash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2776" y="2197418"/>
              <a:ext cx="13948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待补充：文件 A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188776" y="2197418"/>
              <a:ext cx="13948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待补充：文件 B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136566" y="2197418"/>
              <a:ext cx="24332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待补充：文件 C / 主体关系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81050" y="2876550"/>
              <a:ext cx="1638300" cy="457200"/>
            </a:xfrm>
            <a:prstGeom prst="roundRect">
              <a:avLst>
                <a:gd name="adj" fmla="val 16667"/>
              </a:avLst>
            </a:prstGeom>
            <a:solidFill>
              <a:srgbClr val="FFE9E6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3067050" y="2876550"/>
              <a:ext cx="1638300" cy="457200"/>
            </a:xfrm>
            <a:prstGeom prst="roundRect">
              <a:avLst>
                <a:gd name="adj" fmla="val 16667"/>
              </a:avLst>
            </a:prstGeom>
            <a:solidFill>
              <a:srgbClr val="FFE9E6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53050" y="2876550"/>
              <a:ext cx="2000250" cy="457200"/>
            </a:xfrm>
            <a:prstGeom prst="roundRect">
              <a:avLst>
                <a:gd name="adj" fmla="val 16667"/>
              </a:avLst>
            </a:prstGeom>
            <a:solidFill>
              <a:srgbClr val="FFE9E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7433" y="3048952"/>
              <a:ext cx="16655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D94F4F"/>
                  </a:solidFill>
                  <a:latin typeface="Microsoft YaHei"/>
                  <a:ea typeface="Microsoft YaHei"/>
                  <a:cs typeface="Microsoft YaHei"/>
                </a:rPr>
                <a:t>同色高亮相同 / 相似内容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053433" y="3048952"/>
              <a:ext cx="16655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D94F4F"/>
                  </a:solidFill>
                  <a:latin typeface="Microsoft YaHei"/>
                  <a:ea typeface="Microsoft YaHei"/>
                  <a:cs typeface="Microsoft YaHei"/>
                </a:rPr>
                <a:t>同色高亮相同 / 相似内容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349726" y="3048952"/>
              <a:ext cx="2006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D94F4F"/>
                  </a:solidFill>
                  <a:latin typeface="Microsoft YaHei"/>
                  <a:ea typeface="Microsoft YaHei"/>
                  <a:cs typeface="Microsoft YaHei"/>
                </a:rPr>
                <a:t>电话 / 邮箱 / 地址 / 人员关系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88111" y="367760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文本结构、措辞、排版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244787" y="367760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错误模式、附件特征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337181" y="3677602"/>
              <a:ext cx="20319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共同股东 / 主要人员 / 精确重叠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026006" y="4564856"/>
              <a:ext cx="40823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需保留原始文件、版本、主体信息、命中位置和人工核查记录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058150" y="1257300"/>
            <a:ext cx="3829050" cy="4286250"/>
            <a:chOff x="8058150" y="1257300"/>
            <a:chExt cx="3829050" cy="4286250"/>
          </a:xfrm>
        </p:grpSpPr>
        <p:sp>
          <p:nvSpPr>
            <p:cNvPr id="25" name="Rectangle 25"/>
            <p:cNvSpPr/>
            <p:nvPr/>
          </p:nvSpPr>
          <p:spPr>
            <a:xfrm>
              <a:off x="8058150" y="1257300"/>
              <a:ext cx="3829050" cy="4286250"/>
            </a:xfrm>
            <a:prstGeom prst="roundRect">
              <a:avLst>
                <a:gd name="adj" fmla="val 4478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279130" y="1466850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综合风险线索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286750" y="1885950"/>
              <a:ext cx="3371850" cy="990600"/>
            </a:xfrm>
            <a:prstGeom prst="roundRect">
              <a:avLst>
                <a:gd name="adj" fmla="val 13462"/>
              </a:avLst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89823" y="2062639"/>
              <a:ext cx="9176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2"/>
                  </a:solidFill>
                  <a:latin typeface="Microsoft YaHei"/>
                  <a:ea typeface="Microsoft YaHei"/>
                  <a:cs typeface="Microsoft YaHei"/>
                </a:rPr>
                <a:t>确定性特征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90585" y="2383631"/>
              <a:ext cx="23182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工商关联、电话 / 邮箱 / 地址重叠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90966" y="261080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待补充真实规则命中结果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286750" y="3048000"/>
              <a:ext cx="3371850" cy="990600"/>
            </a:xfrm>
            <a:prstGeom prst="roundRect">
              <a:avLst>
                <a:gd name="adj" fmla="val 13462"/>
              </a:avLst>
            </a:prstGeom>
            <a:solidFill>
              <a:srgbClr val="F1ED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489823" y="3224689"/>
              <a:ext cx="9974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AI 相似特征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90585" y="3545681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文本结构、措辞、排版、异常错误模式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490966" y="377285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待补充相似性分析结果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8286750" y="4210050"/>
              <a:ext cx="3371850" cy="1066800"/>
            </a:xfrm>
            <a:prstGeom prst="roundRect">
              <a:avLst>
                <a:gd name="adj" fmla="val 12500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489823" y="4386739"/>
              <a:ext cx="16413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综合线索与人工核查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90585" y="4707731"/>
              <a:ext cx="16762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规则与 AI 结果合并展示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90966" y="49539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待补充核查结论和处置记录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304800" y="5791200"/>
            <a:ext cx="11582400" cy="647700"/>
            <a:chOff x="304800" y="5791200"/>
            <a:chExt cx="11582400" cy="647700"/>
          </a:xfrm>
        </p:grpSpPr>
        <p:sp>
          <p:nvSpPr>
            <p:cNvPr id="40" name="Rectangle 40"/>
            <p:cNvSpPr/>
            <p:nvPr/>
          </p:nvSpPr>
          <p:spPr>
            <a:xfrm>
              <a:off x="304800" y="5791200"/>
              <a:ext cx="11582400" cy="647700"/>
            </a:xfrm>
            <a:prstGeom prst="roundRect">
              <a:avLst>
                <a:gd name="adj" fmla="val 2352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558901" y="6045518"/>
              <a:ext cx="70741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系统提供风险线索和辅助核查证据，不直接替代授权人员对违法违规行为的最终认定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83845"/>
            <a:ext cx="11556492" cy="716280"/>
            <a:chOff x="311658" y="283845"/>
            <a:chExt cx="11556492" cy="716280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83845"/>
              <a:ext cx="548618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14｜每条风险都转化为闭环监管任务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691039"/>
              <a:ext cx="62162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风险分级、人机核查、证据固化和处置反馈，使识别结果可核查、可处置、可追溯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8" name="Group 28"/>
          <p:cNvGrpSpPr/>
          <p:nvPr/>
        </p:nvGrpSpPr>
        <p:grpSpPr>
          <a:xfrm>
            <a:off x="2257425" y="1123950"/>
            <a:ext cx="4057650" cy="4533900"/>
            <a:chOff x="2257425" y="1123950"/>
            <a:chExt cx="4057650" cy="4533900"/>
          </a:xfrm>
        </p:grpSpPr>
        <p:sp>
          <p:nvSpPr>
            <p:cNvPr id="6" name="Ellipse 6"/>
            <p:cNvSpPr/>
            <p:nvPr/>
          </p:nvSpPr>
          <p:spPr>
            <a:xfrm>
              <a:off x="2476500" y="1581150"/>
              <a:ext cx="3619500" cy="3619500"/>
            </a:xfrm>
            <a:prstGeom prst="ellipse">
              <a:avLst/>
            </a:prstGeom>
            <a:solidFill>
              <a:schemeClr val="lt2"/>
            </a:solidFill>
            <a:ln w="76200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3429000" y="2533650"/>
              <a:ext cx="1714500" cy="1714500"/>
            </a:xfrm>
            <a:prstGeom prst="ellipse">
              <a:avLst/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745245" y="3093244"/>
              <a:ext cx="108201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监管闭环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388309" y="3489960"/>
              <a:ext cx="17958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风险事件 ID 贯穿全过程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3829050" y="1123950"/>
              <a:ext cx="914400" cy="914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5400675" y="2028825"/>
              <a:ext cx="914400" cy="914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5400675" y="3838575"/>
              <a:ext cx="914400" cy="914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3829050" y="4743450"/>
              <a:ext cx="914400" cy="914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2257425" y="3838575"/>
              <a:ext cx="914400" cy="914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2257425" y="2028825"/>
              <a:ext cx="914400" cy="914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220323" y="13620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940912" y="16230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风险触发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791948" y="22669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512537" y="252793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风险分级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791948" y="40767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512537" y="43376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预警拦截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20323" y="49815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940912" y="52425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人工核查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648698" y="40767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369287" y="43376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证据固化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648698" y="22669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369287" y="252793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处置反馈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001000" y="1257300"/>
            <a:ext cx="3886200" cy="4476750"/>
            <a:chOff x="8001000" y="1257300"/>
            <a:chExt cx="3886200" cy="4476750"/>
          </a:xfrm>
        </p:grpSpPr>
        <p:sp>
          <p:nvSpPr>
            <p:cNvPr id="29" name="Rectangle 29"/>
            <p:cNvSpPr/>
            <p:nvPr/>
          </p:nvSpPr>
          <p:spPr>
            <a:xfrm>
              <a:off x="8001000" y="1257300"/>
              <a:ext cx="3886200" cy="4476750"/>
            </a:xfrm>
            <a:prstGeom prst="roundRect">
              <a:avLst>
                <a:gd name="adj" fmla="val 4412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221980" y="1457325"/>
              <a:ext cx="21355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输入、输出与责任角色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229600" y="1847850"/>
              <a:ext cx="3429000" cy="742950"/>
            </a:xfrm>
            <a:prstGeom prst="roundRect">
              <a:avLst>
                <a:gd name="adj" fmla="val 17949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414004" y="20135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系统自动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14766" y="2286952"/>
              <a:ext cx="31415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规则 / 模型检测、风险分级、原文定位、日志留痕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229600" y="2762250"/>
              <a:ext cx="3429000" cy="876300"/>
            </a:xfrm>
            <a:prstGeom prst="roundRect">
              <a:avLst>
                <a:gd name="adj" fmla="val 15217"/>
              </a:avLst>
            </a:prstGeom>
            <a:solidFill>
              <a:srgbClr val="FFF4DE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14004" y="29279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98700"/>
                  </a:solidFill>
                  <a:latin typeface="Microsoft YaHei"/>
                  <a:ea typeface="Microsoft YaHei"/>
                  <a:cs typeface="Microsoft YaHei"/>
                </a:rPr>
                <a:t>业务人员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414766" y="3201352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查看提示、修改材料、重新提交、执行整改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15147" y="3418999"/>
              <a:ext cx="29123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一般风险提示｜中风险复核｜高风险关键节点拦截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229600" y="3810000"/>
              <a:ext cx="3429000" cy="876300"/>
            </a:xfrm>
            <a:prstGeom prst="roundRect">
              <a:avLst>
                <a:gd name="adj" fmla="val 15217"/>
              </a:avLst>
            </a:prstGeom>
            <a:solidFill>
              <a:srgbClr val="F1ED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414004" y="3975735"/>
              <a:ext cx="1224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合规 / 审计人员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414766" y="4249102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核查原文、关联文件、主体信息和法规依据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15147" y="4466749"/>
              <a:ext cx="18568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解除、驳回、升级调查或转审计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229600" y="4857750"/>
              <a:ext cx="3429000" cy="647700"/>
            </a:xfrm>
            <a:prstGeom prst="roundRect">
              <a:avLst>
                <a:gd name="adj" fmla="val 20588"/>
              </a:avLst>
            </a:prstGeom>
            <a:solidFill>
              <a:srgbClr val="E8F7E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598762" y="49949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68A50"/>
                  </a:solidFill>
                  <a:latin typeface="Microsoft YaHei"/>
                  <a:ea typeface="Microsoft YaHei"/>
                  <a:cs typeface="Microsoft YaHei"/>
                </a:rPr>
                <a:t>反馈优化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666607" y="5249228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核查、整改和误判反馈进入后续人工迭代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304800" y="5905500"/>
            <a:ext cx="11582400" cy="590550"/>
            <a:chOff x="304800" y="5905500"/>
            <a:chExt cx="11582400" cy="590550"/>
          </a:xfrm>
        </p:grpSpPr>
        <p:sp>
          <p:nvSpPr>
            <p:cNvPr id="46" name="Rectangle 46"/>
            <p:cNvSpPr/>
            <p:nvPr/>
          </p:nvSpPr>
          <p:spPr>
            <a:xfrm>
              <a:off x="304800" y="5905500"/>
              <a:ext cx="11582400" cy="590550"/>
            </a:xfrm>
            <a:prstGeom prst="roundRect">
              <a:avLst>
                <a:gd name="adj" fmla="val 2580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27685" y="6146006"/>
              <a:ext cx="48362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待补充：实际风险等级划分、处置时限、责任角色、升级规则和解除条件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83845"/>
            <a:ext cx="11556492" cy="716280"/>
            <a:chOff x="311658" y="283845"/>
            <a:chExt cx="11556492" cy="716280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83845"/>
              <a:ext cx="514694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15｜全过程留痕形成可验证证据链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691039"/>
              <a:ext cx="71955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原始文件、识别结果、规则版本、人工核查和处置结果以风险事件 ID 串联，支撑审计追溯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304800" y="1257300"/>
            <a:ext cx="7067550" cy="4095750"/>
            <a:chOff x="304800" y="1257300"/>
            <a:chExt cx="7067550" cy="4095750"/>
          </a:xfrm>
        </p:grpSpPr>
        <p:sp>
          <p:nvSpPr>
            <p:cNvPr id="6" name="Rectangle 6"/>
            <p:cNvSpPr/>
            <p:nvPr/>
          </p:nvSpPr>
          <p:spPr>
            <a:xfrm>
              <a:off x="304800" y="1257300"/>
              <a:ext cx="7067550" cy="4095750"/>
            </a:xfrm>
            <a:prstGeom prst="roundRect">
              <a:avLst>
                <a:gd name="adj" fmla="val 418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44830" y="145732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证据链时间轴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857250" y="2781300"/>
              <a:ext cx="5962650" cy="9525"/>
            </a:xfrm>
            <a:custGeom>
              <a:avLst/>
              <a:gdLst/>
              <a:ahLst/>
              <a:cxnLst/>
              <a:rect l="l" t="t" r="r" b="b"/>
              <a:pathLst>
                <a:path w="5962650" h="9525">
                  <a:moveTo>
                    <a:pt x="0" y="0"/>
                  </a:moveTo>
                  <a:lnTo>
                    <a:pt x="5962650" y="0"/>
                  </a:lnTo>
                </a:path>
              </a:pathLst>
            </a:custGeom>
            <a:noFill/>
            <a:ln w="47625">
              <a:solidFill>
                <a:schemeClr val="accent5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857250" y="2590800"/>
              <a:ext cx="381000" cy="381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2000250" y="2590800"/>
              <a:ext cx="381000" cy="381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3143250" y="2590800"/>
              <a:ext cx="381000" cy="381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4286250" y="2590800"/>
              <a:ext cx="381000" cy="38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5429250" y="2590800"/>
              <a:ext cx="381000" cy="381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6572250" y="2590800"/>
              <a:ext cx="381000" cy="381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02412" y="21755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原始文件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46987" y="2175510"/>
              <a:ext cx="10875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AI / 规则命中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988412" y="21755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人工复核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131412" y="21755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Microsoft YaHei"/>
                  <a:ea typeface="Microsoft YaHei"/>
                  <a:cs typeface="Microsoft YaHei"/>
                </a:rPr>
                <a:t>业务整改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176879" y="2175510"/>
              <a:ext cx="8857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68A50"/>
                  </a:solidFill>
                  <a:latin typeface="Microsoft YaHei"/>
                  <a:ea typeface="Microsoft YaHei"/>
                  <a:cs typeface="Microsoft YaHei"/>
                </a:rPr>
                <a:t>解除 / 升级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17412" y="21755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审计归档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09600" y="3257550"/>
              <a:ext cx="6515100" cy="1562100"/>
            </a:xfrm>
            <a:prstGeom prst="roundRect">
              <a:avLst>
                <a:gd name="adj" fmla="val 8537"/>
              </a:avLst>
            </a:prstGeom>
            <a:solidFill>
              <a:srgbClr val="F7FAF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13054" y="34518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存证对象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3435" y="3783806"/>
              <a:ext cx="50322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原始文件摘要・风险命中项・证据位置・法规 / 规则版本・模型 / 服务版本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3435" y="4088606"/>
              <a:ext cx="4383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12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时间戳・操作主体・访问修改复核导出记录・接口调用・处置结果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13435" y="4431506"/>
              <a:ext cx="4101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以风险事件 ID 串联识别、核查、整改、解除和归档记录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600950" y="1257300"/>
            <a:ext cx="4286250" cy="4095750"/>
            <a:chOff x="7600950" y="1257300"/>
            <a:chExt cx="4286250" cy="4095750"/>
          </a:xfrm>
        </p:grpSpPr>
        <p:sp>
          <p:nvSpPr>
            <p:cNvPr id="27" name="Rectangle 27"/>
            <p:cNvSpPr/>
            <p:nvPr/>
          </p:nvSpPr>
          <p:spPr>
            <a:xfrm>
              <a:off x="7600950" y="1257300"/>
              <a:ext cx="4286250" cy="4095750"/>
            </a:xfrm>
            <a:prstGeom prst="roundRect">
              <a:avLst>
                <a:gd name="adj" fmla="val 4186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840980" y="145732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三层可信机制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848600" y="1885950"/>
              <a:ext cx="3790950" cy="876300"/>
            </a:xfrm>
            <a:prstGeom prst="roundRect">
              <a:avLst>
                <a:gd name="adj" fmla="val 15217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051292" y="2054542"/>
              <a:ext cx="24944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日志审计｜已具备全流程留痕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052816" y="2382202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记录访问、修改、复核、导出和接口调用等关键操作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848600" y="2933700"/>
              <a:ext cx="3790950" cy="876300"/>
            </a:xfrm>
            <a:prstGeom prst="roundRect">
              <a:avLst>
                <a:gd name="adj" fmla="val 15217"/>
              </a:avLst>
            </a:prstGeom>
            <a:solidFill>
              <a:srgbClr val="F1ED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051292" y="3102292"/>
              <a:ext cx="23036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电子见证｜能力状态待确认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52816" y="3429952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对关键交易节点和处置动作形成可查询、可验证记录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848600" y="3981450"/>
              <a:ext cx="3790950" cy="1085850"/>
            </a:xfrm>
            <a:prstGeom prst="roundRect">
              <a:avLst>
                <a:gd name="adj" fmla="val 12281"/>
              </a:avLst>
            </a:prstGeom>
            <a:solidFill>
              <a:srgbClr val="FFF4DE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051292" y="4150042"/>
              <a:ext cx="30955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98700"/>
                  </a:solidFill>
                  <a:latin typeface="Microsoft YaHei"/>
                  <a:ea typeface="Microsoft YaHei"/>
                  <a:cs typeface="Microsoft YaHei"/>
                </a:rPr>
                <a:t>区块链存证｜规划 / 上线状态待确认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052816" y="4477702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关键摘要、时间戳和处置状态可采用不可篡改存证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053197" y="473344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不得在材料未确认前表述为全面上线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304800" y="5562600"/>
            <a:ext cx="11582400" cy="895350"/>
            <a:chOff x="304800" y="5562600"/>
            <a:chExt cx="11582400" cy="895350"/>
          </a:xfrm>
        </p:grpSpPr>
        <p:sp>
          <p:nvSpPr>
            <p:cNvPr id="40" name="Rectangle 40"/>
            <p:cNvSpPr/>
            <p:nvPr/>
          </p:nvSpPr>
          <p:spPr>
            <a:xfrm>
              <a:off x="304800" y="5562600"/>
              <a:ext cx="11582400" cy="895350"/>
            </a:xfrm>
            <a:prstGeom prst="roundRect">
              <a:avLst>
                <a:gd name="adj" fmla="val 19149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45592" y="576929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审计输出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746504" y="5785485"/>
              <a:ext cx="45354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按项目、主体、风险类型、时间和处置状态检索并导出审计材料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47497" y="6114574"/>
              <a:ext cx="68701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待补充：实际日志字段、存证字段、保留周期、查询界面、导出格式与权限；是否对接区块链、电子签章或可信时间戳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83845"/>
            <a:ext cx="11556492" cy="716280"/>
            <a:chOff x="311658" y="283845"/>
            <a:chExt cx="11556492" cy="716280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83845"/>
              <a:ext cx="548618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16｜项目已进入规模化真实业务运行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691039"/>
              <a:ext cx="58716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已支撑高频文件审查和实时风险处置，覆盖范围和统计口径仍需补充证明材料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304800" y="1276350"/>
            <a:ext cx="11582400" cy="1619250"/>
            <a:chOff x="304800" y="1276350"/>
            <a:chExt cx="11582400" cy="1619250"/>
          </a:xfrm>
        </p:grpSpPr>
        <p:sp>
          <p:nvSpPr>
            <p:cNvPr id="6" name="Rectangle 6"/>
            <p:cNvSpPr/>
            <p:nvPr/>
          </p:nvSpPr>
          <p:spPr>
            <a:xfrm>
              <a:off x="304800" y="1276350"/>
              <a:ext cx="2724150" cy="1619250"/>
            </a:xfrm>
            <a:prstGeom prst="roundRect">
              <a:avLst>
                <a:gd name="adj" fmla="val 1294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3181350" y="1276350"/>
              <a:ext cx="2724150" cy="1619250"/>
            </a:xfrm>
            <a:prstGeom prst="roundRect">
              <a:avLst>
                <a:gd name="adj" fmla="val 1294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6057900" y="1276350"/>
              <a:ext cx="2724150" cy="1619250"/>
            </a:xfrm>
            <a:prstGeom prst="roundRect">
              <a:avLst>
                <a:gd name="adj" fmla="val 1294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8934450" y="1276350"/>
              <a:ext cx="2952750" cy="1619250"/>
            </a:xfrm>
            <a:prstGeom prst="roundRect">
              <a:avLst>
                <a:gd name="adj" fmla="val 1294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3113" y="1644968"/>
              <a:ext cx="1667524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20万+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01310" y="2359342"/>
              <a:ext cx="1731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年均可审查采购文件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09663" y="1644968"/>
              <a:ext cx="1667524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100万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773272" y="2359342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累计服务用户人次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55304" y="1644968"/>
              <a:ext cx="1329341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9万+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49822" y="2359342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累计预警处置次数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32787" y="1611630"/>
              <a:ext cx="115607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99702" y="2205514"/>
              <a:ext cx="18222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智能化采购率考核指标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944125" y="249507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证明材料待补充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304800" y="3257550"/>
            <a:ext cx="11582400" cy="2476500"/>
            <a:chOff x="304800" y="3257550"/>
            <a:chExt cx="11582400" cy="2476500"/>
          </a:xfrm>
        </p:grpSpPr>
        <p:sp>
          <p:nvSpPr>
            <p:cNvPr id="20" name="Rectangle 20"/>
            <p:cNvSpPr/>
            <p:nvPr/>
          </p:nvSpPr>
          <p:spPr>
            <a:xfrm>
              <a:off x="304800" y="3257550"/>
              <a:ext cx="11582400" cy="2476500"/>
            </a:xfrm>
            <a:prstGeom prst="roundRect">
              <a:avLst>
                <a:gd name="adj" fmla="val 7692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63880" y="34766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应用范围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3190875" y="3790950"/>
              <a:ext cx="9525" cy="1638300"/>
            </a:xfrm>
            <a:custGeom>
              <a:avLst/>
              <a:gdLst/>
              <a:ahLst/>
              <a:cxnLst/>
              <a:rect l="l" t="t" r="r" b="b"/>
              <a:pathLst>
                <a:path w="9525" h="1638300">
                  <a:moveTo>
                    <a:pt x="0" y="0"/>
                  </a:moveTo>
                  <a:lnTo>
                    <a:pt x="0" y="1638300"/>
                  </a:lnTo>
                </a:path>
              </a:pathLst>
            </a:custGeom>
            <a:noFill/>
            <a:ln w="9525">
              <a:solidFill>
                <a:srgbClr val="D6E3F0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6048375" y="3790950"/>
              <a:ext cx="9525" cy="1638300"/>
            </a:xfrm>
            <a:custGeom>
              <a:avLst/>
              <a:gdLst/>
              <a:ahLst/>
              <a:cxnLst/>
              <a:rect l="l" t="t" r="r" b="b"/>
              <a:pathLst>
                <a:path w="9525" h="1638300">
                  <a:moveTo>
                    <a:pt x="0" y="0"/>
                  </a:moveTo>
                  <a:lnTo>
                    <a:pt x="0" y="1638300"/>
                  </a:lnTo>
                </a:path>
              </a:pathLst>
            </a:custGeom>
            <a:noFill/>
            <a:ln w="9525">
              <a:solidFill>
                <a:srgbClr val="D6E3F0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8905875" y="3790950"/>
              <a:ext cx="9525" cy="1638300"/>
            </a:xfrm>
            <a:custGeom>
              <a:avLst/>
              <a:gdLst/>
              <a:ahLst/>
              <a:cxnLst/>
              <a:rect l="l" t="t" r="r" b="b"/>
              <a:pathLst>
                <a:path w="9525" h="1638300">
                  <a:moveTo>
                    <a:pt x="0" y="0"/>
                  </a:moveTo>
                  <a:lnTo>
                    <a:pt x="0" y="1638300"/>
                  </a:lnTo>
                </a:path>
              </a:pathLst>
            </a:custGeom>
            <a:noFill/>
            <a:ln w="9525">
              <a:solidFill>
                <a:srgbClr val="D6E3F0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305824" y="3941921"/>
              <a:ext cx="8173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应用对象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210949" y="3941921"/>
              <a:ext cx="8173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业务环节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68449" y="3941921"/>
              <a:ext cx="8173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使用角色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973574" y="3941921"/>
              <a:ext cx="8173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运行方式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2228" y="44043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中建内部招采业务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81456" y="47091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采购方与供应商主体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88568" y="5013960"/>
              <a:ext cx="16518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覆盖单位 / 区域待补充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967353" y="44043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公告、报名、资审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967353" y="47091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评标、定标、合同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886581" y="50139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实际节点清单待补充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63309" y="44043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业务经办、合规、风控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82537" y="47091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内控、法务、审计、监管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744081" y="50139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活跃用户口径待补充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729978" y="44043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关键节点实时核查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649206" y="47091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合规自查与风控预警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810750" y="50139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上线时间待补充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299847" y="6200299"/>
            <a:ext cx="5155082" cy="190690"/>
            <a:chOff x="299847" y="6200299"/>
            <a:chExt cx="5155082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299847" y="6200299"/>
              <a:ext cx="51550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数据来源：项目申报材料；统计周期、覆盖单位、区域、项目数量和活跃用户口径待补充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83845"/>
            <a:ext cx="11556492" cy="716280"/>
            <a:chOff x="311658" y="283845"/>
            <a:chExt cx="11556492" cy="716280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83845"/>
              <a:ext cx="58254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17｜高风险业务在关键节点被实时阻断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691039"/>
              <a:ext cx="63885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系统从辅助审查走向实时防控，形成预警、核查、整改、解除或升级调查的处置机制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304800" y="1257300"/>
            <a:ext cx="4095750" cy="3943350"/>
            <a:chOff x="304800" y="1257300"/>
            <a:chExt cx="4095750" cy="3943350"/>
          </a:xfrm>
        </p:grpSpPr>
        <p:sp>
          <p:nvSpPr>
            <p:cNvPr id="6" name="Rectangle 6"/>
            <p:cNvSpPr/>
            <p:nvPr/>
          </p:nvSpPr>
          <p:spPr>
            <a:xfrm>
              <a:off x="304800" y="1257300"/>
              <a:ext cx="4095750" cy="3943350"/>
            </a:xfrm>
            <a:prstGeom prst="roundRect">
              <a:avLst>
                <a:gd name="adj" fmla="val 579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309537" y="1969770"/>
              <a:ext cx="2086276" cy="1333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9万+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811670" y="3017044"/>
              <a:ext cx="108201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预警处置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76300" y="3581400"/>
              <a:ext cx="2952750" cy="9525"/>
            </a:xfrm>
            <a:custGeom>
              <a:avLst/>
              <a:gdLst/>
              <a:ahLst/>
              <a:cxnLst/>
              <a:rect l="l" t="t" r="r" b="b"/>
              <a:pathLst>
                <a:path w="2952750" h="9525">
                  <a:moveTo>
                    <a:pt x="0" y="0"/>
                  </a:moveTo>
                  <a:lnTo>
                    <a:pt x="2952750" y="0"/>
                  </a:lnTo>
                </a:path>
              </a:pathLst>
            </a:custGeom>
            <a:noFill/>
            <a:ln w="9525">
              <a:solidFill>
                <a:srgbClr val="9CCAF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19315" y="385476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D8EBFF"/>
                  </a:solidFill>
                  <a:latin typeface="Microsoft YaHei"/>
                  <a:ea typeface="Microsoft YaHei"/>
                  <a:cs typeface="Microsoft YaHei"/>
                </a:rPr>
                <a:t>风险在业务关键节点被发现并进入处置流程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17701" y="435530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D8EBFF"/>
                  </a:solidFill>
                  <a:latin typeface="Microsoft YaHei"/>
                  <a:ea typeface="Microsoft YaHei"/>
                  <a:cs typeface="Microsoft YaHei"/>
                </a:rPr>
                <a:t>数据来源：项目申报材料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629150" y="1257300"/>
            <a:ext cx="7258050" cy="2209800"/>
            <a:chOff x="4629150" y="1257300"/>
            <a:chExt cx="7258050" cy="2209800"/>
          </a:xfrm>
        </p:grpSpPr>
        <p:sp>
          <p:nvSpPr>
            <p:cNvPr id="13" name="Rectangle 13"/>
            <p:cNvSpPr/>
            <p:nvPr/>
          </p:nvSpPr>
          <p:spPr>
            <a:xfrm>
              <a:off x="4629150" y="1257300"/>
              <a:ext cx="2266950" cy="2209800"/>
            </a:xfrm>
            <a:prstGeom prst="roundRect">
              <a:avLst>
                <a:gd name="adj" fmla="val 862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7124700" y="1257300"/>
              <a:ext cx="2266950" cy="2209800"/>
            </a:xfrm>
            <a:prstGeom prst="roundRect">
              <a:avLst>
                <a:gd name="adj" fmla="val 862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9620250" y="1257300"/>
              <a:ext cx="2266950" cy="2209800"/>
            </a:xfrm>
            <a:prstGeom prst="roundRect">
              <a:avLst>
                <a:gd name="adj" fmla="val 862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815959" y="1738312"/>
              <a:ext cx="1893332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7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98.35%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253590" y="2417921"/>
              <a:ext cx="10180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预警解除率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032070" y="2847499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定义、分母与周期待确认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311509" y="1738312"/>
              <a:ext cx="1893332" cy="733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7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57.75%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47703" y="2417921"/>
              <a:ext cx="18209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高风险直接拦截占比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27620" y="2847499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定义、分母与周期待确认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305487" y="1653540"/>
              <a:ext cx="89647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30%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674601" y="2169319"/>
              <a:ext cx="158247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dirty="0">
                  <a:solidFill>
                    <a:srgbClr val="52677F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967305" y="2396490"/>
              <a:ext cx="157284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6%以下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113996" y="2986564"/>
              <a:ext cx="12794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审计漏检率下降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629150" y="3771900"/>
            <a:ext cx="7258050" cy="1428750"/>
            <a:chOff x="4629150" y="3771900"/>
            <a:chExt cx="7258050" cy="1428750"/>
          </a:xfrm>
        </p:grpSpPr>
        <p:sp>
          <p:nvSpPr>
            <p:cNvPr id="27" name="Rectangle 27"/>
            <p:cNvSpPr/>
            <p:nvPr/>
          </p:nvSpPr>
          <p:spPr>
            <a:xfrm>
              <a:off x="4629150" y="3771900"/>
              <a:ext cx="7258050" cy="1428750"/>
            </a:xfrm>
            <a:prstGeom prst="roundRect">
              <a:avLst>
                <a:gd name="adj" fmla="val 13333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69180" y="397192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风险分级机制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876800" y="4362450"/>
              <a:ext cx="2038350" cy="571500"/>
            </a:xfrm>
            <a:prstGeom prst="roundRect">
              <a:avLst>
                <a:gd name="adj" fmla="val 26667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239000" y="4362450"/>
              <a:ext cx="2038350" cy="571500"/>
            </a:xfrm>
            <a:prstGeom prst="roundRect">
              <a:avLst>
                <a:gd name="adj" fmla="val 26667"/>
              </a:avLst>
            </a:prstGeom>
            <a:solidFill>
              <a:srgbClr val="FFF4DE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9601200" y="4362450"/>
              <a:ext cx="2038350" cy="571500"/>
            </a:xfrm>
            <a:prstGeom prst="roundRect">
              <a:avLst>
                <a:gd name="adj" fmla="val 26667"/>
              </a:avLst>
            </a:prstGeom>
            <a:solidFill>
              <a:srgbClr val="FFE9E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075316" y="4577239"/>
              <a:ext cx="16413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一般风险｜实时提示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27981" y="4577239"/>
              <a:ext cx="14603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C98700"/>
                  </a:solidFill>
                  <a:latin typeface="Microsoft YaHei"/>
                  <a:ea typeface="Microsoft YaHei"/>
                  <a:cs typeface="Microsoft YaHei"/>
                </a:rPr>
                <a:t>中风险｜人工复核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890181" y="4577239"/>
              <a:ext cx="14603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D94F4F"/>
                  </a:solidFill>
                  <a:latin typeface="Microsoft YaHei"/>
                  <a:ea typeface="Microsoft YaHei"/>
                  <a:cs typeface="Microsoft YaHei"/>
                </a:rPr>
                <a:t>高风险｜强制拦截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304800" y="5486400"/>
            <a:ext cx="11582400" cy="971550"/>
            <a:chOff x="304800" y="5486400"/>
            <a:chExt cx="11582400" cy="971550"/>
          </a:xfrm>
        </p:grpSpPr>
        <p:sp>
          <p:nvSpPr>
            <p:cNvPr id="36" name="Rectangle 36"/>
            <p:cNvSpPr/>
            <p:nvPr/>
          </p:nvSpPr>
          <p:spPr>
            <a:xfrm>
              <a:off x="304800" y="5486400"/>
              <a:ext cx="11582400" cy="971550"/>
            </a:xfrm>
            <a:prstGeom prst="roundRect">
              <a:avLst>
                <a:gd name="adj" fmla="val 19608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45592" y="57026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处置闭环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955673" y="5710714"/>
              <a:ext cx="37349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预警 → 核查 → 整改 → 解除或升级调查 → 全程留痕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47497" y="6085999"/>
              <a:ext cx="48912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预警解除率、直接拦截占比及漏检率指标的定义、分母、统计周期和数据来源待补充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83845"/>
            <a:ext cx="11556492" cy="716280"/>
            <a:chOff x="311658" y="283845"/>
            <a:chExt cx="11556492" cy="716280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83845"/>
              <a:ext cx="480770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18｜效率、成本与风险同步改善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691039"/>
              <a:ext cx="64126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AI 替代重复审查工作，专业判断仍由授权人员完成，实现规模化降本和风险减损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304800" y="1257300"/>
            <a:ext cx="11582400" cy="1790700"/>
            <a:chOff x="304800" y="1257300"/>
            <a:chExt cx="11582400" cy="1790700"/>
          </a:xfrm>
        </p:grpSpPr>
        <p:sp>
          <p:nvSpPr>
            <p:cNvPr id="6" name="Rectangle 6"/>
            <p:cNvSpPr/>
            <p:nvPr/>
          </p:nvSpPr>
          <p:spPr>
            <a:xfrm>
              <a:off x="304800" y="1257300"/>
              <a:ext cx="11582400" cy="1790700"/>
            </a:xfrm>
            <a:prstGeom prst="roundRect">
              <a:avLst>
                <a:gd name="adj" fmla="val 1276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06332" y="1792605"/>
              <a:ext cx="2092637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 小时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07859" y="1854518"/>
              <a:ext cx="376282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350" b="1" dirty="0">
                  <a:solidFill>
                    <a:srgbClr val="9ED0FF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973982" y="1792605"/>
              <a:ext cx="2092637" cy="990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 分钟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935592" y="2595086"/>
              <a:ext cx="432081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D8EBFF"/>
                  </a:solidFill>
                  <a:latin typeface="Microsoft YaHei"/>
                  <a:ea typeface="Microsoft YaHei"/>
                  <a:cs typeface="Microsoft YaHei"/>
                </a:rPr>
                <a:t>单份采购文件审查时间｜效率提升 60 倍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04800" y="3333750"/>
            <a:ext cx="11582400" cy="2057400"/>
            <a:chOff x="304800" y="3333750"/>
            <a:chExt cx="11582400" cy="2057400"/>
          </a:xfrm>
        </p:grpSpPr>
        <p:sp>
          <p:nvSpPr>
            <p:cNvPr id="12" name="Rectangle 12"/>
            <p:cNvSpPr/>
            <p:nvPr/>
          </p:nvSpPr>
          <p:spPr>
            <a:xfrm>
              <a:off x="304800" y="3333750"/>
              <a:ext cx="3657600" cy="2057400"/>
            </a:xfrm>
            <a:prstGeom prst="roundRect">
              <a:avLst>
                <a:gd name="adj" fmla="val 9259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4267200" y="3333750"/>
              <a:ext cx="3657600" cy="2057400"/>
            </a:xfrm>
            <a:prstGeom prst="roundRect">
              <a:avLst>
                <a:gd name="adj" fmla="val 9259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8229600" y="3333750"/>
              <a:ext cx="3657600" cy="2057400"/>
            </a:xfrm>
            <a:prstGeom prst="roundRect">
              <a:avLst>
                <a:gd name="adj" fmla="val 9259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658760" y="35747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效率价值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44613" y="3973830"/>
              <a:ext cx="97797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90%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51712" y="455818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重复审查工作替代率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90325" y="4910614"/>
              <a:ext cx="16865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累计节省 10 万+小时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21160" y="35747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3"/>
                  </a:solidFill>
                  <a:latin typeface="Microsoft YaHei"/>
                  <a:ea typeface="Microsoft YaHei"/>
                  <a:cs typeface="Microsoft YaHei"/>
                </a:rPr>
                <a:t>成本价值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123593" y="3973830"/>
              <a:ext cx="1944815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2000万+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486425" y="4558189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年节约人力成本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185639" y="492680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测算公式与统计周期待补充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583560" y="35747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2"/>
                  </a:solidFill>
                  <a:latin typeface="Microsoft YaHei"/>
                  <a:ea typeface="Microsoft YaHei"/>
                  <a:cs typeface="Microsoft YaHei"/>
                </a:rPr>
                <a:t>风险价值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85993" y="3973830"/>
              <a:ext cx="1944815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5000万+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104198" y="455818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每年避免直接及间接损失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148039" y="492680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证明材料和减损口径待补充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304800" y="5676900"/>
            <a:ext cx="11582400" cy="781050"/>
            <a:chOff x="304800" y="5676900"/>
            <a:chExt cx="11582400" cy="781050"/>
          </a:xfrm>
        </p:grpSpPr>
        <p:sp>
          <p:nvSpPr>
            <p:cNvPr id="28" name="Rectangle 28"/>
            <p:cNvSpPr/>
            <p:nvPr/>
          </p:nvSpPr>
          <p:spPr>
            <a:xfrm>
              <a:off x="304800" y="5676900"/>
              <a:ext cx="11582400" cy="781050"/>
            </a:xfrm>
            <a:prstGeom prst="roundRect">
              <a:avLst>
                <a:gd name="adj" fmla="val 2195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45592" y="5864542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人机协同边界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184273" y="5872639"/>
              <a:ext cx="65946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AI 负责高频重复核查、原文定位与线索呈现；专业人员负责复核、认定和授权处置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47497" y="6209824"/>
              <a:ext cx="51550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数据来源：项目申报材料；人力成本与避免损失的测算公式、统计周期和证明材料待补充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311658" y="283845"/>
            <a:ext cx="11556492" cy="716280"/>
            <a:chOff x="311658" y="283845"/>
            <a:chExt cx="11556492" cy="716280"/>
          </a:xfrm>
        </p:grpSpPr>
        <p:sp>
          <p:nvSpPr>
            <p:cNvPr id="2" name="TextBox 2"/>
            <p:cNvSpPr txBox="1"/>
            <p:nvPr/>
          </p:nvSpPr>
          <p:spPr>
            <a:xfrm>
              <a:off x="311658" y="283845"/>
              <a:ext cx="480770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19｜打通交易、监管与信用数据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17373" y="691039"/>
              <a:ext cx="79393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A6C82"/>
                  </a:solidFill>
                  <a:latin typeface="Microsoft YaHei"/>
                  <a:ea typeface="Microsoft YaHei"/>
                  <a:cs typeface="Microsoft YaHei"/>
                </a:rPr>
                <a:t>标准接口与事件协同使数字合规官嵌入交易流程，并向监管、信用、资质和审计体系输出风险与处置数据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323850" y="990600"/>
              <a:ext cx="11544300" cy="9525"/>
            </a:xfrm>
            <a:custGeom>
              <a:avLst/>
              <a:gdLst/>
              <a:ahLst/>
              <a:cxnLst/>
              <a:rect l="l" t="t" r="r" b="b"/>
              <a:pathLst>
                <a:path w="11544300" h="9525">
                  <a:moveTo>
                    <a:pt x="0" y="0"/>
                  </a:moveTo>
                  <a:lnTo>
                    <a:pt x="115443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304800" y="1352550"/>
            <a:ext cx="2667000" cy="3714750"/>
            <a:chOff x="304800" y="1352550"/>
            <a:chExt cx="2667000" cy="3714750"/>
          </a:xfrm>
        </p:grpSpPr>
        <p:sp>
          <p:nvSpPr>
            <p:cNvPr id="6" name="Rectangle 6"/>
            <p:cNvSpPr/>
            <p:nvPr/>
          </p:nvSpPr>
          <p:spPr>
            <a:xfrm>
              <a:off x="304800" y="1352550"/>
              <a:ext cx="2667000" cy="3714750"/>
            </a:xfrm>
            <a:prstGeom prst="roundRect">
              <a:avLst>
                <a:gd name="adj" fmla="val 6429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88587" y="1552575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交易与业务系统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52450" y="1962150"/>
              <a:ext cx="2171700" cy="628650"/>
            </a:xfrm>
            <a:prstGeom prst="roundRect">
              <a:avLst>
                <a:gd name="adj" fmla="val 21212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52450" y="2743200"/>
              <a:ext cx="2171700" cy="628650"/>
            </a:xfrm>
            <a:prstGeom prst="roundRect">
              <a:avLst>
                <a:gd name="adj" fmla="val 21212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524250"/>
              <a:ext cx="2171700" cy="628650"/>
            </a:xfrm>
            <a:prstGeom prst="roundRect">
              <a:avLst>
                <a:gd name="adj" fmla="val 21212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52450" y="4305300"/>
              <a:ext cx="2171700" cy="514350"/>
            </a:xfrm>
            <a:prstGeom prst="roundRect">
              <a:avLst>
                <a:gd name="adj" fmla="val 25926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14477" y="2213610"/>
              <a:ext cx="20476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ja-JP" sz="120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采购项目・公告・响应文件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38530" y="2994660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ja-JP" sz="120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评标结果・合同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23340" y="377571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业务节点事件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89034" y="4490085"/>
              <a:ext cx="20985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接收预警 / 拦截 / 核验结果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971800" y="1714500"/>
            <a:ext cx="6248400" cy="2971800"/>
            <a:chOff x="2971800" y="1714500"/>
            <a:chExt cx="6248400" cy="2971800"/>
          </a:xfrm>
        </p:grpSpPr>
        <p:sp>
          <p:nvSpPr>
            <p:cNvPr id="17" name="Ellipse 17"/>
            <p:cNvSpPr/>
            <p:nvPr/>
          </p:nvSpPr>
          <p:spPr>
            <a:xfrm>
              <a:off x="4610100" y="1714500"/>
              <a:ext cx="2971800" cy="2971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4953000" y="2057400"/>
              <a:ext cx="2286000" cy="2286000"/>
            </a:xfrm>
            <a:prstGeom prst="ellipse">
              <a:avLst/>
            </a:prstGeom>
            <a:solidFill>
              <a:schemeClr val="lt2">
                <a:alpha val="13000"/>
              </a:schemeClr>
            </a:solidFill>
            <a:ln w="19050">
              <a:solidFill>
                <a:srgbClr val="9CCAF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343239" y="2802255"/>
              <a:ext cx="15055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数字合规官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577992" y="31965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监管中台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55236" y="3651885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ja-JP" sz="1200" dirty="0">
                  <a:solidFill>
                    <a:srgbClr val="D8EBFF"/>
                  </a:solidFill>
                  <a:latin typeface="Microsoft YaHei"/>
                  <a:ea typeface="Microsoft YaHei"/>
                  <a:cs typeface="Microsoft YaHei"/>
                </a:rPr>
                <a:t>风险识别・证据汇聚・分级处置・结果反馈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2971800" y="2619375"/>
              <a:ext cx="1638300" cy="295275"/>
            </a:xfrm>
            <a:custGeom>
              <a:avLst/>
              <a:gdLst/>
              <a:ahLst/>
              <a:cxnLst/>
              <a:rect l="l" t="t" r="r" b="b"/>
              <a:pathLst>
                <a:path w="1638300" h="295275">
                  <a:moveTo>
                    <a:pt x="0" y="0"/>
                  </a:moveTo>
                  <a:lnTo>
                    <a:pt x="1638300" y="295275"/>
                  </a:lnTo>
                </a:path>
              </a:pathLst>
            </a:custGeom>
            <a:noFill/>
            <a:ln w="47625">
              <a:solidFill>
                <a:schemeClr val="accent1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2971800" y="3543300"/>
              <a:ext cx="1638300" cy="361950"/>
            </a:xfrm>
            <a:custGeom>
              <a:avLst/>
              <a:gdLst/>
              <a:ahLst/>
              <a:cxnLst/>
              <a:rect l="l" t="t" r="r" b="b"/>
              <a:pathLst>
                <a:path w="1638300" h="361950">
                  <a:moveTo>
                    <a:pt x="1638300" y="0"/>
                  </a:moveTo>
                  <a:lnTo>
                    <a:pt x="0" y="361950"/>
                  </a:lnTo>
                </a:path>
              </a:pathLst>
            </a:custGeom>
            <a:noFill/>
            <a:ln w="47625">
              <a:solidFill>
                <a:schemeClr val="accent3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7581900" y="2333625"/>
              <a:ext cx="1638300" cy="390525"/>
            </a:xfrm>
            <a:custGeom>
              <a:avLst/>
              <a:gdLst/>
              <a:ahLst/>
              <a:cxnLst/>
              <a:rect l="l" t="t" r="r" b="b"/>
              <a:pathLst>
                <a:path w="1638300" h="390525">
                  <a:moveTo>
                    <a:pt x="0" y="390525"/>
                  </a:moveTo>
                  <a:lnTo>
                    <a:pt x="1638300" y="0"/>
                  </a:lnTo>
                </a:path>
              </a:pathLst>
            </a:custGeom>
            <a:noFill/>
            <a:ln w="47625">
              <a:solidFill>
                <a:schemeClr val="accent2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7581900" y="3695700"/>
              <a:ext cx="1638300" cy="400050"/>
            </a:xfrm>
            <a:custGeom>
              <a:avLst/>
              <a:gdLst/>
              <a:ahLst/>
              <a:cxnLst/>
              <a:rect l="l" t="t" r="r" b="b"/>
              <a:pathLst>
                <a:path w="1638300" h="400050">
                  <a:moveTo>
                    <a:pt x="1638300" y="400050"/>
                  </a:moveTo>
                  <a:lnTo>
                    <a:pt x="0" y="0"/>
                  </a:lnTo>
                </a:path>
              </a:pathLst>
            </a:custGeom>
            <a:noFill/>
            <a:ln w="47625">
              <a:solidFill>
                <a:schemeClr val="accent5"/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9220200" y="1352550"/>
            <a:ext cx="2667000" cy="3714750"/>
            <a:chOff x="9220200" y="1352550"/>
            <a:chExt cx="2667000" cy="3714750"/>
          </a:xfrm>
        </p:grpSpPr>
        <p:sp>
          <p:nvSpPr>
            <p:cNvPr id="27" name="Rectangle 27"/>
            <p:cNvSpPr/>
            <p:nvPr/>
          </p:nvSpPr>
          <p:spPr>
            <a:xfrm>
              <a:off x="9220200" y="1352550"/>
              <a:ext cx="2667000" cy="3714750"/>
            </a:xfrm>
            <a:prstGeom prst="roundRect">
              <a:avLst>
                <a:gd name="adj" fmla="val 6429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910000" y="15525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外部协同平台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467850" y="1962150"/>
              <a:ext cx="2171700" cy="552450"/>
            </a:xfrm>
            <a:prstGeom prst="roundRect">
              <a:avLst>
                <a:gd name="adj" fmla="val 24138"/>
              </a:avLst>
            </a:prstGeom>
            <a:solidFill>
              <a:srgbClr val="FFF0E7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9467850" y="2667000"/>
              <a:ext cx="2171700" cy="552450"/>
            </a:xfrm>
            <a:prstGeom prst="roundRect">
              <a:avLst>
                <a:gd name="adj" fmla="val 24138"/>
              </a:avLst>
            </a:prstGeom>
            <a:solidFill>
              <a:srgbClr val="E8F7EF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9467850" y="3371850"/>
              <a:ext cx="2171700" cy="552450"/>
            </a:xfrm>
            <a:prstGeom prst="roundRect">
              <a:avLst>
                <a:gd name="adj" fmla="val 24138"/>
              </a:avLst>
            </a:prstGeom>
            <a:solidFill>
              <a:srgbClr val="F1EDFF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9467850" y="4076700"/>
              <a:ext cx="2171700" cy="552450"/>
            </a:xfrm>
            <a:prstGeom prst="roundRect">
              <a:avLst>
                <a:gd name="adj" fmla="val 24138"/>
              </a:avLst>
            </a:prstGeom>
            <a:solidFill>
              <a:srgbClr val="E8F3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529877" y="2175510"/>
              <a:ext cx="20476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Microsoft YaHei"/>
                  <a:ea typeface="Microsoft YaHei"/>
                  <a:cs typeface="Microsoft YaHei"/>
                </a:rPr>
                <a:t>监管平台｜线索与处置状态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445066" y="2880360"/>
              <a:ext cx="22172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68A50"/>
                  </a:solidFill>
                  <a:latin typeface="Microsoft YaHei"/>
                  <a:ea typeface="Microsoft YaHei"/>
                  <a:cs typeface="Microsoft YaHei"/>
                </a:rPr>
                <a:t>信用平台｜信用处罚失信信息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445066" y="3585210"/>
              <a:ext cx="22172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5"/>
                  </a:solidFill>
                  <a:latin typeface="Microsoft YaHei"/>
                  <a:ea typeface="Microsoft YaHei"/>
                  <a:cs typeface="Microsoft YaHei"/>
                </a:rPr>
                <a:t>资质平台｜主体证书有效状态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360256" y="4290060"/>
              <a:ext cx="23868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Microsoft YaHei"/>
                  <a:ea typeface="Microsoft YaHei"/>
                  <a:cs typeface="Microsoft YaHei"/>
                </a:rPr>
                <a:t>审计平台｜日志证据与处置记录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3714750" y="4857750"/>
            <a:ext cx="4953000" cy="419100"/>
            <a:chOff x="3714750" y="4857750"/>
            <a:chExt cx="4953000" cy="419100"/>
          </a:xfrm>
        </p:grpSpPr>
        <p:sp>
          <p:nvSpPr>
            <p:cNvPr id="38" name="Rectangle 38"/>
            <p:cNvSpPr/>
            <p:nvPr/>
          </p:nvSpPr>
          <p:spPr>
            <a:xfrm>
              <a:off x="3714750" y="4857750"/>
              <a:ext cx="4953000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4019550" y="499110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261866" y="50111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数据输入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5353050" y="49911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595366" y="50111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风险输出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686550" y="49911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928866" y="50111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处置反馈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734300" y="4991100"/>
              <a:ext cx="152400" cy="152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976616" y="50111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审计交换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304800" y="5524500"/>
            <a:ext cx="11582400" cy="933450"/>
            <a:chOff x="304800" y="5524500"/>
            <a:chExt cx="11582400" cy="933450"/>
          </a:xfrm>
        </p:grpSpPr>
        <p:sp>
          <p:nvSpPr>
            <p:cNvPr id="48" name="Rectangle 48"/>
            <p:cNvSpPr/>
            <p:nvPr/>
          </p:nvSpPr>
          <p:spPr>
            <a:xfrm>
              <a:off x="304800" y="5524500"/>
              <a:ext cx="11582400" cy="933450"/>
            </a:xfrm>
            <a:prstGeom prst="roundRect">
              <a:avLst>
                <a:gd name="adj" fmla="val 18367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45592" y="5731192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83F91"/>
                  </a:solidFill>
                  <a:latin typeface="Microsoft YaHei"/>
                  <a:ea typeface="Microsoft YaHei"/>
                  <a:cs typeface="Microsoft YaHei"/>
                </a:rPr>
                <a:t>接口治理底座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184654" y="5747385"/>
              <a:ext cx="46969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2677F"/>
                  </a:solidFill>
                  <a:latin typeface="Microsoft YaHei"/>
                  <a:ea typeface="Microsoft YaHei"/>
                  <a:cs typeface="Microsoft YaHei"/>
                </a:rPr>
                <a:t>身份认证｜权限控制｜数据脱敏｜调用日志｜失败重试｜版本管理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47497" y="6095524"/>
              <a:ext cx="62105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F7F94"/>
                  </a:solidFill>
                  <a:latin typeface="Microsoft YaHei"/>
                  <a:ea typeface="Microsoft YaHei"/>
                  <a:cs typeface="Microsoft YaHei"/>
                </a:rPr>
                <a:t>实际对接的平台名称、接口数量、交换数据、调用规模和运行截图待补充；需区分已上线、试点和规划对接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32E70"/>
            </a:gs>
            <a:gs pos="58000">
              <a:schemeClr val="accent1"/>
            </a:gs>
            <a:gs pos="100000">
              <a:srgbClr val="0A78D4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5048250"/>
            <a:ext cx="12192000" cy="1905000"/>
          </a:xfrm>
          <a:custGeom>
            <a:avLst/>
            <a:gdLst/>
            <a:ahLst/>
            <a:cxnLst/>
            <a:rect l="l" t="t" r="r" b="b"/>
            <a:pathLst>
              <a:path w="12192000" h="1905000">
                <a:moveTo>
                  <a:pt x="0" y="523875"/>
                </a:moveTo>
                <a:cubicBezTo>
                  <a:pt x="2333625" y="0"/>
                  <a:pt x="3905250" y="1619250"/>
                  <a:pt x="6191250" y="857250"/>
                </a:cubicBezTo>
                <a:cubicBezTo>
                  <a:pt x="8286750" y="161925"/>
                  <a:pt x="9906000" y="904875"/>
                  <a:pt x="12192000" y="333375"/>
                </a:cubicBezTo>
                <a:moveTo>
                  <a:pt x="0" y="952500"/>
                </a:moveTo>
                <a:cubicBezTo>
                  <a:pt x="2476500" y="428625"/>
                  <a:pt x="4095750" y="1905000"/>
                  <a:pt x="6572250" y="1190625"/>
                </a:cubicBezTo>
                <a:cubicBezTo>
                  <a:pt x="8572500" y="571500"/>
                  <a:pt x="10287000" y="1285875"/>
                  <a:pt x="12192000" y="762000"/>
                </a:cubicBezTo>
              </a:path>
            </a:pathLst>
          </a:custGeom>
          <a:noFill/>
          <a:ln w="19050">
            <a:solidFill>
              <a:srgbClr val="74B7FF">
                <a:alpha val="22000"/>
              </a:srgbClr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2733294" y="684371"/>
            <a:ext cx="6725412" cy="828199"/>
            <a:chOff x="2733294" y="684371"/>
            <a:chExt cx="6725412" cy="828199"/>
          </a:xfrm>
        </p:grpSpPr>
        <p:sp>
          <p:nvSpPr>
            <p:cNvPr id="3" name="TextBox 3"/>
            <p:cNvSpPr txBox="1"/>
            <p:nvPr/>
          </p:nvSpPr>
          <p:spPr>
            <a:xfrm>
              <a:off x="2779182" y="684371"/>
              <a:ext cx="6633637" cy="572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9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让招采监管可识别、可阻断、可追溯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733294" y="1219200"/>
              <a:ext cx="67254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D8EBFF"/>
                  </a:solidFill>
                  <a:latin typeface="Microsoft YaHei"/>
                  <a:ea typeface="Microsoft YaHei"/>
                  <a:cs typeface="Microsoft YaHei"/>
                </a:rPr>
                <a:t>数据要素为基座、规则与 AI 为引擎、监管闭环为核心、可信证据为保障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2333625" y="1981200"/>
            <a:ext cx="7524750" cy="2933700"/>
            <a:chOff x="2333625" y="1981200"/>
            <a:chExt cx="7524750" cy="2933700"/>
          </a:xfrm>
        </p:grpSpPr>
        <p:sp>
          <p:nvSpPr>
            <p:cNvPr id="6" name="Ellipse 6"/>
            <p:cNvSpPr/>
            <p:nvPr/>
          </p:nvSpPr>
          <p:spPr>
            <a:xfrm>
              <a:off x="4972050" y="1981200"/>
              <a:ext cx="2247900" cy="2247900"/>
            </a:xfrm>
            <a:prstGeom prst="ellipse">
              <a:avLst/>
            </a:prstGeom>
            <a:solidFill>
              <a:schemeClr val="lt2">
                <a:alpha val="12000"/>
              </a:schemeClr>
            </a:solidFill>
            <a:ln w="28575">
              <a:solidFill>
                <a:srgbClr val="9CCAFF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5343525" y="2352675"/>
              <a:ext cx="1504950" cy="1504950"/>
            </a:xfrm>
            <a:prstGeom prst="ellipse">
              <a:avLst/>
            </a:prstGeom>
            <a:solidFill>
              <a:schemeClr val="lt2">
                <a:alpha val="16000"/>
              </a:scheme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371890" y="2781776"/>
              <a:ext cx="144821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数字合规官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879113" y="3150394"/>
              <a:ext cx="2433773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D8EBFF"/>
                  </a:solidFill>
                  <a:latin typeface="+mn-lt"/>
                  <a:ea typeface="+mn-ea"/>
                  <a:cs typeface="+mn-cs"/>
                </a:rPr>
                <a:t>AI DIGITAL OFFICER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952750" y="2000250"/>
              <a:ext cx="1428750" cy="514350"/>
            </a:xfrm>
            <a:prstGeom prst="roundRect">
              <a:avLst>
                <a:gd name="adj" fmla="val 50000"/>
              </a:avLst>
            </a:prstGeom>
            <a:solidFill>
              <a:schemeClr val="lt2">
                <a:alpha val="14000"/>
              </a:schemeClr>
            </a:solidFill>
            <a:ln w="9525">
              <a:solidFill>
                <a:srgbClr val="9CCAFF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0" y="2000250"/>
              <a:ext cx="1428750" cy="514350"/>
            </a:xfrm>
            <a:prstGeom prst="roundRect">
              <a:avLst>
                <a:gd name="adj" fmla="val 50000"/>
              </a:avLst>
            </a:prstGeom>
            <a:solidFill>
              <a:schemeClr val="lt2">
                <a:alpha val="14000"/>
              </a:schemeClr>
            </a:solidFill>
            <a:ln w="9525">
              <a:solidFill>
                <a:srgbClr val="9CCAFF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333625" y="3352800"/>
              <a:ext cx="1428750" cy="514350"/>
            </a:xfrm>
            <a:prstGeom prst="roundRect">
              <a:avLst>
                <a:gd name="adj" fmla="val 50000"/>
              </a:avLst>
            </a:prstGeom>
            <a:solidFill>
              <a:schemeClr val="lt2">
                <a:alpha val="14000"/>
              </a:schemeClr>
            </a:solidFill>
            <a:ln w="9525">
              <a:solidFill>
                <a:srgbClr val="9CCAFF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8429625" y="3352800"/>
              <a:ext cx="1428750" cy="514350"/>
            </a:xfrm>
            <a:prstGeom prst="roundRect">
              <a:avLst>
                <a:gd name="adj" fmla="val 50000"/>
              </a:avLst>
            </a:prstGeom>
            <a:solidFill>
              <a:schemeClr val="lt2">
                <a:alpha val="14000"/>
              </a:schemeClr>
            </a:solidFill>
            <a:ln w="9525">
              <a:solidFill>
                <a:srgbClr val="9CCAFF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381625" y="4400550"/>
              <a:ext cx="1428750" cy="514350"/>
            </a:xfrm>
            <a:prstGeom prst="roundRect">
              <a:avLst>
                <a:gd name="adj" fmla="val 50000"/>
              </a:avLst>
            </a:prstGeom>
            <a:solidFill>
              <a:schemeClr val="lt2">
                <a:alpha val="14000"/>
              </a:schemeClr>
            </a:solidFill>
            <a:ln w="9525">
              <a:solidFill>
                <a:srgbClr val="9CCAF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435789" y="2154079"/>
              <a:ext cx="46267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识别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93539" y="2154079"/>
              <a:ext cx="46267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阻断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816664" y="3506629"/>
              <a:ext cx="46267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取证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912664" y="3506629"/>
              <a:ext cx="46267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追溯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864664" y="4554379"/>
              <a:ext cx="46267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协同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4381500" y="2333625"/>
              <a:ext cx="762000" cy="390525"/>
            </a:xfrm>
            <a:custGeom>
              <a:avLst/>
              <a:gdLst/>
              <a:ahLst/>
              <a:cxnLst/>
              <a:rect l="l" t="t" r="r" b="b"/>
              <a:pathLst>
                <a:path w="762000" h="390525">
                  <a:moveTo>
                    <a:pt x="0" y="0"/>
                  </a:moveTo>
                  <a:lnTo>
                    <a:pt x="762000" y="390525"/>
                  </a:lnTo>
                </a:path>
              </a:pathLst>
            </a:custGeom>
            <a:noFill/>
            <a:ln w="19050">
              <a:solidFill>
                <a:srgbClr val="9CCAFF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7048500" y="2333625"/>
              <a:ext cx="762000" cy="390525"/>
            </a:xfrm>
            <a:custGeom>
              <a:avLst/>
              <a:gdLst/>
              <a:ahLst/>
              <a:cxnLst/>
              <a:rect l="l" t="t" r="r" b="b"/>
              <a:pathLst>
                <a:path w="762000" h="390525">
                  <a:moveTo>
                    <a:pt x="762000" y="0"/>
                  </a:moveTo>
                  <a:lnTo>
                    <a:pt x="0" y="390525"/>
                  </a:lnTo>
                </a:path>
              </a:pathLst>
            </a:custGeom>
            <a:noFill/>
            <a:ln w="19050">
              <a:solidFill>
                <a:srgbClr val="9CCAFF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3762375" y="3324225"/>
              <a:ext cx="1209675" cy="285750"/>
            </a:xfrm>
            <a:custGeom>
              <a:avLst/>
              <a:gdLst/>
              <a:ahLst/>
              <a:cxnLst/>
              <a:rect l="l" t="t" r="r" b="b"/>
              <a:pathLst>
                <a:path w="1209675" h="285750">
                  <a:moveTo>
                    <a:pt x="0" y="285750"/>
                  </a:moveTo>
                  <a:lnTo>
                    <a:pt x="1209675" y="0"/>
                  </a:lnTo>
                </a:path>
              </a:pathLst>
            </a:custGeom>
            <a:noFill/>
            <a:ln w="19050">
              <a:solidFill>
                <a:srgbClr val="9CCAFF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7219950" y="3324225"/>
              <a:ext cx="1209675" cy="285750"/>
            </a:xfrm>
            <a:custGeom>
              <a:avLst/>
              <a:gdLst/>
              <a:ahLst/>
              <a:cxnLst/>
              <a:rect l="l" t="t" r="r" b="b"/>
              <a:pathLst>
                <a:path w="1209675" h="285750">
                  <a:moveTo>
                    <a:pt x="1209675" y="2857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9CCAFF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6096000" y="3905250"/>
              <a:ext cx="9525" cy="495300"/>
            </a:xfrm>
            <a:custGeom>
              <a:avLst/>
              <a:gdLst/>
              <a:ahLst/>
              <a:cxnLst/>
              <a:rect l="l" t="t" r="r" b="b"/>
              <a:pathLst>
                <a:path w="9525" h="495300">
                  <a:moveTo>
                    <a:pt x="0" y="4953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9CCAFF"/>
              </a:solidFill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762000" y="5219700"/>
            <a:ext cx="10668000" cy="857250"/>
            <a:chOff x="762000" y="5219700"/>
            <a:chExt cx="10668000" cy="857250"/>
          </a:xfrm>
        </p:grpSpPr>
        <p:sp>
          <p:nvSpPr>
            <p:cNvPr id="26" name="Rectangle 26"/>
            <p:cNvSpPr/>
            <p:nvPr/>
          </p:nvSpPr>
          <p:spPr>
            <a:xfrm>
              <a:off x="762000" y="5219700"/>
              <a:ext cx="10668000" cy="857250"/>
            </a:xfrm>
            <a:prstGeom prst="roundRect">
              <a:avLst>
                <a:gd name="adj" fmla="val 22222"/>
              </a:avLst>
            </a:prstGeom>
            <a:solidFill>
              <a:schemeClr val="lt2">
                <a:alpha val="12000"/>
              </a:schemeClr>
            </a:solidFill>
            <a:ln w="9525">
              <a:solidFill>
                <a:srgbClr val="9CCAFF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187033" y="5359241"/>
              <a:ext cx="712284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60倍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235911" y="57459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D8EBFF"/>
                  </a:solidFill>
                  <a:latin typeface="Microsoft YaHei"/>
                  <a:ea typeface="Microsoft YaHei"/>
                  <a:cs typeface="Microsoft YaHei"/>
                </a:rPr>
                <a:t>效率提升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780850" y="5359241"/>
              <a:ext cx="630300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89%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110251" y="574595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D8EBFF"/>
                  </a:solidFill>
                  <a:latin typeface="Microsoft YaHei"/>
                  <a:ea typeface="Microsoft YaHei"/>
                  <a:cs typeface="Microsoft YaHei"/>
                </a:rPr>
                <a:t>模型准确率｜指标口径待确认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22137" y="5359241"/>
              <a:ext cx="125337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3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5000万+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889238" y="574595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D8EBFF"/>
                  </a:solidFill>
                  <a:latin typeface="Microsoft YaHei"/>
                  <a:ea typeface="Microsoft YaHei"/>
                  <a:cs typeface="Microsoft YaHei"/>
                </a:rPr>
                <a:t>年避免直接及间接损失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2589943" y="6381750"/>
            <a:ext cx="701211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以数字合规守护阳光招采，以智能监管助力建筑行业高质量发展｜感谢聆听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zzx">
  <a:themeElements>
    <a:clrScheme name="zzx">
      <a:dk1>
        <a:srgbClr val="1B2638"/>
      </a:dk1>
      <a:lt1>
        <a:srgbClr val="F4F8FD"/>
      </a:lt1>
      <a:dk2>
        <a:srgbClr val="1F497D"/>
      </a:dk2>
      <a:lt2>
        <a:srgbClr val="FFFFFF"/>
      </a:lt2>
      <a:accent1>
        <a:srgbClr val="0753B8"/>
      </a:accent1>
      <a:accent2>
        <a:srgbClr val="FF6B20"/>
      </a:accent2>
      <a:accent3>
        <a:srgbClr val="42A96B"/>
      </a:accent3>
      <a:accent4>
        <a:srgbClr val="0753B8"/>
      </a:accent4>
      <a:accent5>
        <a:srgbClr val="7B61C9"/>
      </a:accent5>
      <a:accent6>
        <a:srgbClr val="BCD3EC"/>
      </a:accent6>
      <a:hlink>
        <a:srgbClr val="FF6B20"/>
      </a:hlink>
      <a:folHlink>
        <a:srgbClr val="42A96B"/>
      </a:folHlink>
    </a:clrScheme>
    <a:fontScheme name="zzx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zzx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2026-08-05T17:48:30Z</dcterms:created>
  <dcterms:modified xsi:type="dcterms:W3CDTF">2026-08-05T17:48:30Z</dcterms:modified>
  <cp:category/>
  <cp:contentStatus/>
</cp:coreProperties>
</file>