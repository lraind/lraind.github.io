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ai_nav_demo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9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9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9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9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9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>
            <a:off x="590550" y="352425"/>
            <a:ext cx="10570591" cy="371189"/>
            <a:chOff x="590550" y="352425"/>
            <a:chExt cx="10570591" cy="371189"/>
          </a:xfrm>
        </p:grpSpPr>
        <p:grpSp>
          <p:nvGrpSpPr>
            <p:cNvPr id="6" name="Group 6"/>
            <p:cNvGrpSpPr/>
            <p:nvPr/>
          </p:nvGrpSpPr>
          <p:grpSpPr>
            <a:xfrm>
              <a:off x="590550" y="352425"/>
              <a:ext cx="1008583" cy="342900"/>
              <a:chOff x="590550" y="352425"/>
              <a:chExt cx="1008583" cy="3429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590550" y="35242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3" name="TextBox 3"/>
              <p:cNvSpPr txBox="1"/>
              <p:nvPr/>
            </p:nvSpPr>
            <p:spPr>
              <a:xfrm>
                <a:off x="675036" y="4581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  <a:endPara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994791" y="381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核心问题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5" name="Line 5"/>
              <p:cNvSpPr/>
              <p:nvPr/>
            </p:nvSpPr>
            <p:spPr>
              <a:xfrm>
                <a:off x="1000125" y="590550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2563EB"/>
                </a:solidFill>
              </a:ln>
            </p:spPr>
          </p:sp>
        </p:grpSp>
        <p:grpSp>
          <p:nvGrpSpPr>
            <p:cNvPr id="11" name="Group 11"/>
            <p:cNvGrpSpPr/>
            <p:nvPr/>
          </p:nvGrpSpPr>
          <p:grpSpPr>
            <a:xfrm>
              <a:off x="2514600" y="371475"/>
              <a:ext cx="1026541" cy="352139"/>
              <a:chOff x="2514600" y="371475"/>
              <a:chExt cx="1026541" cy="352139"/>
            </a:xfrm>
          </p:grpSpPr>
          <p:sp>
            <p:nvSpPr>
              <p:cNvPr id="7" name="Ellipse 7"/>
              <p:cNvSpPr/>
              <p:nvPr/>
            </p:nvSpPr>
            <p:spPr>
              <a:xfrm>
                <a:off x="251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259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871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数据来源与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0" name="TextBox 10"/>
              <p:cNvSpPr txBox="1"/>
              <p:nvPr/>
            </p:nvSpPr>
            <p:spPr>
              <a:xfrm>
                <a:off x="287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利用方式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419600" y="371475"/>
              <a:ext cx="1026541" cy="352139"/>
              <a:chOff x="4419600" y="371475"/>
              <a:chExt cx="1026541" cy="352139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441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9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77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技术方案与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776597" y="532924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创新点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324600" y="371475"/>
              <a:ext cx="894613" cy="311944"/>
              <a:chOff x="6324600" y="371475"/>
              <a:chExt cx="894613" cy="31194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32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40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81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应用规模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81597" y="532924"/>
                <a:ext cx="2489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范围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229600" y="371475"/>
              <a:ext cx="1026541" cy="352139"/>
              <a:chOff x="8229600" y="371475"/>
              <a:chExt cx="1026541" cy="352139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822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30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05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8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应用效果与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86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量化成效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0134600" y="371475"/>
              <a:ext cx="1026541" cy="352139"/>
              <a:chOff x="10134600" y="371475"/>
              <a:chExt cx="1026541" cy="352139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013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21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06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91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应用价值与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49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市场前景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>
            <a:off x="609600" y="352425"/>
            <a:ext cx="10551541" cy="390525"/>
            <a:chOff x="609600" y="352425"/>
            <a:chExt cx="10551541" cy="390525"/>
          </a:xfrm>
        </p:grpSpPr>
        <p:grpSp>
          <p:nvGrpSpPr>
            <p:cNvPr id="5" name="Group 5"/>
            <p:cNvGrpSpPr/>
            <p:nvPr/>
          </p:nvGrpSpPr>
          <p:grpSpPr>
            <a:xfrm>
              <a:off x="609600" y="371475"/>
              <a:ext cx="894613" cy="304800"/>
              <a:chOff x="609600" y="371475"/>
              <a:chExt cx="894613" cy="3048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0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" name="TextBox 3"/>
              <p:cNvSpPr txBox="1"/>
              <p:nvPr/>
            </p:nvSpPr>
            <p:spPr>
              <a:xfrm>
                <a:off x="68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966597" y="45037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核心问题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1" name="Group 11"/>
            <p:cNvGrpSpPr/>
            <p:nvPr/>
          </p:nvGrpSpPr>
          <p:grpSpPr>
            <a:xfrm>
              <a:off x="2495550" y="352425"/>
              <a:ext cx="1351291" cy="390525"/>
              <a:chOff x="2495550" y="352425"/>
              <a:chExt cx="1351291" cy="390525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2495550" y="35242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580036" y="4581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  <a:endPara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908946" y="390207"/>
                <a:ext cx="937895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数据来源与</a:t>
                </a:r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要素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899791" y="52482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利用方式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0" name="Line 10"/>
              <p:cNvSpPr/>
              <p:nvPr/>
            </p:nvSpPr>
            <p:spPr>
              <a:xfrm>
                <a:off x="2905125" y="733425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2563EB"/>
                </a:solidFill>
              </a:ln>
            </p:spPr>
          </p:sp>
        </p:grpSp>
        <p:grpSp>
          <p:nvGrpSpPr>
            <p:cNvPr id="16" name="Group 16"/>
            <p:cNvGrpSpPr/>
            <p:nvPr/>
          </p:nvGrpSpPr>
          <p:grpSpPr>
            <a:xfrm>
              <a:off x="4419600" y="371475"/>
              <a:ext cx="1026541" cy="352139"/>
              <a:chOff x="4419600" y="371475"/>
              <a:chExt cx="1026541" cy="352139"/>
            </a:xfrm>
          </p:grpSpPr>
          <p:sp>
            <p:nvSpPr>
              <p:cNvPr id="12" name="Ellipse 12"/>
              <p:cNvSpPr/>
              <p:nvPr/>
            </p:nvSpPr>
            <p:spPr>
              <a:xfrm>
                <a:off x="441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3" name="TextBox 13"/>
              <p:cNvSpPr txBox="1"/>
              <p:nvPr/>
            </p:nvSpPr>
            <p:spPr>
              <a:xfrm>
                <a:off x="449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77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技术方案与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4776597" y="532924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创新点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324600" y="371475"/>
              <a:ext cx="894613" cy="311944"/>
              <a:chOff x="6324600" y="371475"/>
              <a:chExt cx="894613" cy="31194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32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40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81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应用规模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81597" y="532924"/>
                <a:ext cx="2489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范围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229600" y="371475"/>
              <a:ext cx="1026541" cy="352139"/>
              <a:chOff x="8229600" y="371475"/>
              <a:chExt cx="1026541" cy="352139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822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30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05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8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应用效果与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86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量化成效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0134600" y="371475"/>
              <a:ext cx="1026541" cy="352139"/>
              <a:chOff x="10134600" y="371475"/>
              <a:chExt cx="1026541" cy="352139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013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21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06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91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应用价值与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49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市场前景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>
            <a:off x="609600" y="352425"/>
            <a:ext cx="10551541" cy="390525"/>
            <a:chOff x="609600" y="352425"/>
            <a:chExt cx="10551541" cy="390525"/>
          </a:xfrm>
        </p:grpSpPr>
        <p:grpSp>
          <p:nvGrpSpPr>
            <p:cNvPr id="5" name="Group 5"/>
            <p:cNvGrpSpPr/>
            <p:nvPr/>
          </p:nvGrpSpPr>
          <p:grpSpPr>
            <a:xfrm>
              <a:off x="609600" y="371475"/>
              <a:ext cx="894613" cy="304800"/>
              <a:chOff x="609600" y="371475"/>
              <a:chExt cx="894613" cy="3048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0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" name="TextBox 3"/>
              <p:cNvSpPr txBox="1"/>
              <p:nvPr/>
            </p:nvSpPr>
            <p:spPr>
              <a:xfrm>
                <a:off x="68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966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核心问题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514600" y="371475"/>
              <a:ext cx="1268707" cy="352139"/>
              <a:chOff x="2514600" y="371475"/>
              <a:chExt cx="1268707" cy="352139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251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59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912087" y="390049"/>
                <a:ext cx="8712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数据来源与</a:t>
                </a:r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要素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87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利用方式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6" name="Group 16"/>
            <p:cNvGrpSpPr/>
            <p:nvPr/>
          </p:nvGrpSpPr>
          <p:grpSpPr>
            <a:xfrm>
              <a:off x="4400550" y="352425"/>
              <a:ext cx="1157002" cy="390525"/>
              <a:chOff x="4400550" y="352425"/>
              <a:chExt cx="1157002" cy="390525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4400550" y="35242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85036" y="4581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  <a:endPara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804791" y="38195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技术方案与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804791" y="524828"/>
                <a:ext cx="455924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创新点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5" name="Line 15"/>
              <p:cNvSpPr/>
              <p:nvPr/>
            </p:nvSpPr>
            <p:spPr>
              <a:xfrm>
                <a:off x="4810125" y="733425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2563EB"/>
                </a:solidFill>
              </a:ln>
            </p:spPr>
          </p:sp>
        </p:grpSp>
        <p:grpSp>
          <p:nvGrpSpPr>
            <p:cNvPr id="21" name="Group 21"/>
            <p:cNvGrpSpPr/>
            <p:nvPr/>
          </p:nvGrpSpPr>
          <p:grpSpPr>
            <a:xfrm>
              <a:off x="6324600" y="371475"/>
              <a:ext cx="894613" cy="311944"/>
              <a:chOff x="6324600" y="371475"/>
              <a:chExt cx="894613" cy="311944"/>
            </a:xfrm>
          </p:grpSpPr>
          <p:sp>
            <p:nvSpPr>
              <p:cNvPr id="17" name="Ellipse 17"/>
              <p:cNvSpPr/>
              <p:nvPr/>
            </p:nvSpPr>
            <p:spPr>
              <a:xfrm>
                <a:off x="632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640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81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应用规模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0" name="TextBox 20"/>
              <p:cNvSpPr txBox="1"/>
              <p:nvPr/>
            </p:nvSpPr>
            <p:spPr>
              <a:xfrm>
                <a:off x="6681597" y="532924"/>
                <a:ext cx="2489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范围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229600" y="371475"/>
              <a:ext cx="1026541" cy="352139"/>
              <a:chOff x="8229600" y="371475"/>
              <a:chExt cx="1026541" cy="352139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822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30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05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8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应用效果与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86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量化成效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0134600" y="371475"/>
              <a:ext cx="1026541" cy="352139"/>
              <a:chOff x="10134600" y="371475"/>
              <a:chExt cx="1026541" cy="352139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013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21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06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91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应用价值与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49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市场前景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>
            <a:off x="609600" y="352425"/>
            <a:ext cx="10551541" cy="390525"/>
            <a:chOff x="609600" y="352425"/>
            <a:chExt cx="10551541" cy="390525"/>
          </a:xfrm>
        </p:grpSpPr>
        <p:grpSp>
          <p:nvGrpSpPr>
            <p:cNvPr id="5" name="Group 5"/>
            <p:cNvGrpSpPr/>
            <p:nvPr/>
          </p:nvGrpSpPr>
          <p:grpSpPr>
            <a:xfrm>
              <a:off x="609600" y="371475"/>
              <a:ext cx="894613" cy="304800"/>
              <a:chOff x="609600" y="371475"/>
              <a:chExt cx="894613" cy="3048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0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" name="TextBox 3"/>
              <p:cNvSpPr txBox="1"/>
              <p:nvPr/>
            </p:nvSpPr>
            <p:spPr>
              <a:xfrm>
                <a:off x="68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966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核心问题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514600" y="371475"/>
              <a:ext cx="1254625" cy="352139"/>
              <a:chOff x="2514600" y="371475"/>
              <a:chExt cx="1254625" cy="352139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251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59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898005" y="390049"/>
                <a:ext cx="8712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数据来源与</a:t>
                </a:r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要素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87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利用方式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419600" y="371475"/>
              <a:ext cx="1026541" cy="352139"/>
              <a:chOff x="4419600" y="371475"/>
              <a:chExt cx="1026541" cy="35213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441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9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7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技术方案与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776597" y="532924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创新点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1" name="Group 21"/>
            <p:cNvGrpSpPr/>
            <p:nvPr/>
          </p:nvGrpSpPr>
          <p:grpSpPr>
            <a:xfrm>
              <a:off x="6305550" y="352425"/>
              <a:ext cx="1008583" cy="390525"/>
              <a:chOff x="6305550" y="352425"/>
              <a:chExt cx="1008583" cy="390525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305550" y="35242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390036" y="4581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  <a:endPara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709791" y="381952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应用规模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709791" y="524828"/>
                <a:ext cx="267970" cy="1612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范围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0" name="Line 20"/>
              <p:cNvSpPr/>
              <p:nvPr/>
            </p:nvSpPr>
            <p:spPr>
              <a:xfrm>
                <a:off x="6715125" y="733425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2563EB"/>
                </a:solidFill>
              </a:ln>
            </p:spPr>
          </p:sp>
        </p:grpSp>
        <p:grpSp>
          <p:nvGrpSpPr>
            <p:cNvPr id="26" name="Group 26"/>
            <p:cNvGrpSpPr/>
            <p:nvPr/>
          </p:nvGrpSpPr>
          <p:grpSpPr>
            <a:xfrm>
              <a:off x="8229600" y="371475"/>
              <a:ext cx="1026541" cy="352139"/>
              <a:chOff x="8229600" y="371475"/>
              <a:chExt cx="1026541" cy="352139"/>
            </a:xfrm>
          </p:grpSpPr>
          <p:sp>
            <p:nvSpPr>
              <p:cNvPr id="22" name="Ellipse 22"/>
              <p:cNvSpPr/>
              <p:nvPr/>
            </p:nvSpPr>
            <p:spPr>
              <a:xfrm>
                <a:off x="822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3" name="TextBox 23"/>
              <p:cNvSpPr txBox="1"/>
              <p:nvPr/>
            </p:nvSpPr>
            <p:spPr>
              <a:xfrm>
                <a:off x="830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05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8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应用效果与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5" name="TextBox 25"/>
              <p:cNvSpPr txBox="1"/>
              <p:nvPr/>
            </p:nvSpPr>
            <p:spPr>
              <a:xfrm>
                <a:off x="8586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量化成效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0134600" y="371475"/>
              <a:ext cx="1026541" cy="352139"/>
              <a:chOff x="10134600" y="371475"/>
              <a:chExt cx="1026541" cy="352139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013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21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06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91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应用价值与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49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市场前景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>
            <a:off x="609600" y="352425"/>
            <a:ext cx="10551541" cy="390525"/>
            <a:chOff x="609600" y="352425"/>
            <a:chExt cx="10551541" cy="390525"/>
          </a:xfrm>
        </p:grpSpPr>
        <p:grpSp>
          <p:nvGrpSpPr>
            <p:cNvPr id="5" name="Group 5"/>
            <p:cNvGrpSpPr/>
            <p:nvPr/>
          </p:nvGrpSpPr>
          <p:grpSpPr>
            <a:xfrm>
              <a:off x="609600" y="371475"/>
              <a:ext cx="894613" cy="304800"/>
              <a:chOff x="609600" y="371475"/>
              <a:chExt cx="894613" cy="3048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0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" name="TextBox 3"/>
              <p:cNvSpPr txBox="1"/>
              <p:nvPr/>
            </p:nvSpPr>
            <p:spPr>
              <a:xfrm>
                <a:off x="68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966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核心问题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514600" y="371475"/>
              <a:ext cx="1011800" cy="352139"/>
              <a:chOff x="2514600" y="371475"/>
              <a:chExt cx="1011800" cy="352139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251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59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655180" y="390049"/>
                <a:ext cx="8712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数据来源与</a:t>
                </a:r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要素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87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利用方式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419600" y="371475"/>
              <a:ext cx="1026541" cy="352139"/>
              <a:chOff x="4419600" y="371475"/>
              <a:chExt cx="1026541" cy="35213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441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9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7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技术方案与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776597" y="532924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创新点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324600" y="371475"/>
              <a:ext cx="894613" cy="311944"/>
              <a:chOff x="6324600" y="371475"/>
              <a:chExt cx="894613" cy="311944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32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40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81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应用规模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81597" y="532924"/>
                <a:ext cx="2489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范围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6" name="Group 26"/>
            <p:cNvGrpSpPr/>
            <p:nvPr/>
          </p:nvGrpSpPr>
          <p:grpSpPr>
            <a:xfrm>
              <a:off x="8210550" y="352425"/>
              <a:ext cx="1157002" cy="390525"/>
              <a:chOff x="8210550" y="352425"/>
              <a:chExt cx="1157002" cy="390525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210550" y="35242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295036" y="4581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05</a:t>
                </a:r>
                <a:endPara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614791" y="38195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应用效果与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614791" y="52482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量化成效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5" name="Line 25"/>
              <p:cNvSpPr/>
              <p:nvPr/>
            </p:nvSpPr>
            <p:spPr>
              <a:xfrm>
                <a:off x="8620125" y="733425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2563EB"/>
                </a:solidFill>
              </a:ln>
            </p:spPr>
          </p:sp>
        </p:grpSp>
        <p:grpSp>
          <p:nvGrpSpPr>
            <p:cNvPr id="31" name="Group 31"/>
            <p:cNvGrpSpPr/>
            <p:nvPr/>
          </p:nvGrpSpPr>
          <p:grpSpPr>
            <a:xfrm>
              <a:off x="10134600" y="371475"/>
              <a:ext cx="1026541" cy="352139"/>
              <a:chOff x="10134600" y="371475"/>
              <a:chExt cx="1026541" cy="352139"/>
            </a:xfrm>
          </p:grpSpPr>
          <p:sp>
            <p:nvSpPr>
              <p:cNvPr id="27" name="Ellipse 27"/>
              <p:cNvSpPr/>
              <p:nvPr/>
            </p:nvSpPr>
            <p:spPr>
              <a:xfrm>
                <a:off x="1013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8" name="TextBox 28"/>
              <p:cNvSpPr txBox="1"/>
              <p:nvPr/>
            </p:nvSpPr>
            <p:spPr>
              <a:xfrm>
                <a:off x="1021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06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491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应用价值与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30" name="TextBox 30"/>
              <p:cNvSpPr txBox="1"/>
              <p:nvPr/>
            </p:nvSpPr>
            <p:spPr>
              <a:xfrm>
                <a:off x="10491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市场前景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2"/>
          <p:cNvGrpSpPr/>
          <p:nvPr/>
        </p:nvGrpSpPr>
        <p:grpSpPr>
          <a:xfrm>
            <a:off x="609600" y="352425"/>
            <a:ext cx="10662952" cy="390525"/>
            <a:chOff x="609600" y="352425"/>
            <a:chExt cx="10662952" cy="390525"/>
          </a:xfrm>
        </p:grpSpPr>
        <p:grpSp>
          <p:nvGrpSpPr>
            <p:cNvPr id="5" name="Group 5"/>
            <p:cNvGrpSpPr/>
            <p:nvPr/>
          </p:nvGrpSpPr>
          <p:grpSpPr>
            <a:xfrm>
              <a:off x="609600" y="371475"/>
              <a:ext cx="894613" cy="304800"/>
              <a:chOff x="609600" y="371475"/>
              <a:chExt cx="894613" cy="304800"/>
            </a:xfrm>
          </p:grpSpPr>
          <p:sp>
            <p:nvSpPr>
              <p:cNvPr id="2" name="Ellipse 2"/>
              <p:cNvSpPr/>
              <p:nvPr/>
            </p:nvSpPr>
            <p:spPr>
              <a:xfrm>
                <a:off x="60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3" name="TextBox 3"/>
              <p:cNvSpPr txBox="1"/>
              <p:nvPr/>
            </p:nvSpPr>
            <p:spPr>
              <a:xfrm>
                <a:off x="68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01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4" name="TextBox 4"/>
              <p:cNvSpPr txBox="1"/>
              <p:nvPr/>
            </p:nvSpPr>
            <p:spPr>
              <a:xfrm>
                <a:off x="966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核心问题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0" name="Group 10"/>
            <p:cNvGrpSpPr/>
            <p:nvPr/>
          </p:nvGrpSpPr>
          <p:grpSpPr>
            <a:xfrm>
              <a:off x="2514600" y="371475"/>
              <a:ext cx="1234868" cy="351790"/>
              <a:chOff x="2514600" y="371475"/>
              <a:chExt cx="1234868" cy="351790"/>
            </a:xfrm>
          </p:grpSpPr>
          <p:sp>
            <p:nvSpPr>
              <p:cNvPr id="6" name="Ellipse 6"/>
              <p:cNvSpPr/>
              <p:nvPr/>
            </p:nvSpPr>
            <p:spPr>
              <a:xfrm>
                <a:off x="251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7" name="TextBox 7"/>
              <p:cNvSpPr txBox="1"/>
              <p:nvPr/>
            </p:nvSpPr>
            <p:spPr>
              <a:xfrm>
                <a:off x="259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02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8" name="TextBox 8"/>
              <p:cNvSpPr txBox="1"/>
              <p:nvPr/>
            </p:nvSpPr>
            <p:spPr>
              <a:xfrm>
                <a:off x="2878248" y="390049"/>
                <a:ext cx="8712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数据来源与</a:t>
                </a:r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要素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9" name="TextBox 9"/>
              <p:cNvSpPr txBox="1"/>
              <p:nvPr/>
            </p:nvSpPr>
            <p:spPr>
              <a:xfrm>
                <a:off x="2871470" y="532765"/>
                <a:ext cx="537845" cy="1905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no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利用方式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4419600" y="371475"/>
              <a:ext cx="1026541" cy="352139"/>
              <a:chOff x="4419600" y="371475"/>
              <a:chExt cx="1026541" cy="352139"/>
            </a:xfrm>
          </p:grpSpPr>
          <p:sp>
            <p:nvSpPr>
              <p:cNvPr id="11" name="Ellipse 11"/>
              <p:cNvSpPr/>
              <p:nvPr/>
            </p:nvSpPr>
            <p:spPr>
              <a:xfrm>
                <a:off x="441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2" name="TextBox 12"/>
              <p:cNvSpPr txBox="1"/>
              <p:nvPr/>
            </p:nvSpPr>
            <p:spPr>
              <a:xfrm>
                <a:off x="449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03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3" name="TextBox 13"/>
              <p:cNvSpPr txBox="1"/>
              <p:nvPr/>
            </p:nvSpPr>
            <p:spPr>
              <a:xfrm>
                <a:off x="477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技术方案与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4" name="TextBox 14"/>
              <p:cNvSpPr txBox="1"/>
              <p:nvPr/>
            </p:nvSpPr>
            <p:spPr>
              <a:xfrm>
                <a:off x="4776597" y="532924"/>
                <a:ext cx="405689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创新点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6324600" y="371475"/>
              <a:ext cx="894613" cy="311944"/>
              <a:chOff x="6324600" y="371475"/>
              <a:chExt cx="894613" cy="311944"/>
            </a:xfrm>
          </p:grpSpPr>
          <p:sp>
            <p:nvSpPr>
              <p:cNvPr id="16" name="Ellipse 16"/>
              <p:cNvSpPr/>
              <p:nvPr/>
            </p:nvSpPr>
            <p:spPr>
              <a:xfrm>
                <a:off x="6324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17" name="TextBox 17"/>
              <p:cNvSpPr txBox="1"/>
              <p:nvPr/>
            </p:nvSpPr>
            <p:spPr>
              <a:xfrm>
                <a:off x="6402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04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18" name="TextBox 18"/>
              <p:cNvSpPr txBox="1"/>
              <p:nvPr/>
            </p:nvSpPr>
            <p:spPr>
              <a:xfrm>
                <a:off x="6681597" y="390049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应用规模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6681597" y="532924"/>
                <a:ext cx="248920" cy="15049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范围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25" name="Group 25"/>
            <p:cNvGrpSpPr/>
            <p:nvPr/>
          </p:nvGrpSpPr>
          <p:grpSpPr>
            <a:xfrm>
              <a:off x="8229600" y="371475"/>
              <a:ext cx="1026541" cy="352139"/>
              <a:chOff x="8229600" y="371475"/>
              <a:chExt cx="1026541" cy="352139"/>
            </a:xfrm>
          </p:grpSpPr>
          <p:sp>
            <p:nvSpPr>
              <p:cNvPr id="21" name="Ellipse 21"/>
              <p:cNvSpPr/>
              <p:nvPr/>
            </p:nvSpPr>
            <p:spPr>
              <a:xfrm>
                <a:off x="8229600" y="371475"/>
                <a:ext cx="304800" cy="304800"/>
              </a:xfrm>
              <a:prstGeom prst="ellipse">
                <a:avLst/>
              </a:prstGeom>
              <a:solidFill>
                <a:srgbClr val="CBD5E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8307269" y="464820"/>
                <a:ext cx="149462" cy="17621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90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05</a:t>
                </a:r>
                <a:endParaRPr lang="en-US" sz="90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8586597" y="390049"/>
                <a:ext cx="669544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应用效果与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4" name="TextBox 24"/>
              <p:cNvSpPr txBox="1"/>
              <p:nvPr/>
            </p:nvSpPr>
            <p:spPr>
              <a:xfrm>
                <a:off x="8586597" y="532924"/>
                <a:ext cx="537616" cy="19069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980" dirty="0">
                    <a:solidFill>
                      <a:srgbClr val="64748B"/>
                    </a:solidFill>
                    <a:latin typeface="Segoe UI"/>
                    <a:ea typeface="微软雅黑"/>
                    <a:cs typeface="Segoe UI"/>
                  </a:rPr>
                  <a:t>量化成效</a:t>
                </a:r>
                <a:endParaRPr lang="zh-CN" sz="980" dirty="0">
                  <a:solidFill>
                    <a:srgbClr val="64748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</p:grpSp>
        <p:grpSp>
          <p:nvGrpSpPr>
            <p:cNvPr id="31" name="Group 31"/>
            <p:cNvGrpSpPr/>
            <p:nvPr/>
          </p:nvGrpSpPr>
          <p:grpSpPr>
            <a:xfrm>
              <a:off x="10115550" y="352425"/>
              <a:ext cx="1157002" cy="390525"/>
              <a:chOff x="10115550" y="352425"/>
              <a:chExt cx="1157002" cy="390525"/>
            </a:xfrm>
          </p:grpSpPr>
          <p:sp>
            <p:nvSpPr>
              <p:cNvPr id="26" name="Ellipse 26"/>
              <p:cNvSpPr/>
              <p:nvPr/>
            </p:nvSpPr>
            <p:spPr>
              <a:xfrm>
                <a:off x="10115550" y="352425"/>
                <a:ext cx="342900" cy="342900"/>
              </a:xfrm>
              <a:prstGeom prst="ellipse">
                <a:avLst/>
              </a:prstGeom>
              <a:solidFill>
                <a:srgbClr val="2563EB"/>
              </a:solidFill>
              <a:ln>
                <a:noFill/>
              </a:ln>
            </p:spPr>
          </p:sp>
          <p:sp>
            <p:nvSpPr>
              <p:cNvPr id="27" name="TextBox 27"/>
              <p:cNvSpPr txBox="1"/>
              <p:nvPr/>
            </p:nvSpPr>
            <p:spPr>
              <a:xfrm>
                <a:off x="10200036" y="458152"/>
                <a:ext cx="173928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ctr"/>
                <a:r>
                  <a:rPr lang="en-US" sz="1050" b="1" dirty="0">
                    <a:solidFill>
                      <a:srgbClr val="FFFFFF"/>
                    </a:solidFill>
                    <a:latin typeface="Segoe UI"/>
                    <a:ea typeface="Segoe UI"/>
                    <a:cs typeface="Segoe UI"/>
                  </a:rPr>
                  <a:t>06</a:t>
                </a:r>
                <a:endParaRPr lang="en-US" sz="1050" b="1" dirty="0">
                  <a:solidFill>
                    <a:srgbClr val="FFFFFF"/>
                  </a:solidFill>
                  <a:latin typeface="Segoe UI"/>
                  <a:ea typeface="Segoe UI"/>
                  <a:cs typeface="Segoe UI"/>
                </a:endParaRPr>
              </a:p>
            </p:txBody>
          </p:sp>
          <p:sp>
            <p:nvSpPr>
              <p:cNvPr id="28" name="TextBox 28"/>
              <p:cNvSpPr txBox="1"/>
              <p:nvPr/>
            </p:nvSpPr>
            <p:spPr>
              <a:xfrm>
                <a:off x="10519791" y="381952"/>
                <a:ext cx="752761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应用价值与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29" name="TextBox 29"/>
              <p:cNvSpPr txBox="1"/>
              <p:nvPr/>
            </p:nvSpPr>
            <p:spPr>
              <a:xfrm>
                <a:off x="10519791" y="524828"/>
                <a:ext cx="604342" cy="205359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050" b="1" dirty="0">
                    <a:solidFill>
                      <a:srgbClr val="1E293B"/>
                    </a:solidFill>
                    <a:latin typeface="Segoe UI"/>
                    <a:ea typeface="微软雅黑"/>
                    <a:cs typeface="Segoe UI"/>
                  </a:rPr>
                  <a:t>市场前景</a:t>
                </a:r>
                <a:endParaRPr lang="zh-CN" sz="1050" b="1" dirty="0">
                  <a:solidFill>
                    <a:srgbClr val="1E293B"/>
                  </a:solidFill>
                  <a:latin typeface="Segoe UI"/>
                  <a:ea typeface="微软雅黑"/>
                  <a:cs typeface="Segoe UI"/>
                </a:endParaRPr>
              </a:p>
            </p:txBody>
          </p:sp>
          <p:sp>
            <p:nvSpPr>
              <p:cNvPr id="30" name="Line 30"/>
              <p:cNvSpPr/>
              <p:nvPr/>
            </p:nvSpPr>
            <p:spPr>
              <a:xfrm>
                <a:off x="10525125" y="733425"/>
                <a:ext cx="571500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1500" h="9525">
                    <a:moveTo>
                      <a:pt x="0" y="0"/>
                    </a:moveTo>
                    <a:lnTo>
                      <a:pt x="571500" y="0"/>
                    </a:lnTo>
                  </a:path>
                </a:pathLst>
              </a:custGeom>
              <a:noFill/>
              <a:ln w="28575" cap="rnd">
                <a:solidFill>
                  <a:srgbClr val="2563EB"/>
                </a:solidFill>
              </a:ln>
            </p:spPr>
          </p:sp>
        </p:grp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400">
        <p:fade/>
      </p:transition>
    </mc:Choice>
    <mc:Fallback>
      <p:transition>
        <p:fade/>
      </p:transition>
    </mc:Fallback>
  </mc:AlternateContent>
</p:sld>
</file>

<file path=ppt/theme/theme1.xml><?xml version="1.0" encoding="utf-8"?>
<a:theme xmlns:a="http://schemas.openxmlformats.org/drawingml/2006/main" name="ai_nav_demo">
  <a:themeElements>
    <a:clrScheme name="ai_nav_dem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_nav_dem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i_nav_dem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352</Words>
  <Application>WPS 演示</Application>
  <PresentationFormat>On-screen Show (16:9)</PresentationFormat>
  <Paragraphs>204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24" baseType="lpstr">
      <vt:lpstr>Arial</vt:lpstr>
      <vt:lpstr>宋体</vt:lpstr>
      <vt:lpstr>Wingdings</vt:lpstr>
      <vt:lpstr>Arial</vt:lpstr>
      <vt:lpstr>Segoe UI</vt:lpstr>
      <vt:lpstr>Thonburi</vt:lpstr>
      <vt:lpstr>微软雅黑</vt:lpstr>
      <vt:lpstr>汉仪旗黑</vt:lpstr>
      <vt:lpstr>微软雅黑</vt:lpstr>
      <vt:lpstr>宋体</vt:lpstr>
      <vt:lpstr>Arial Unicode MS</vt:lpstr>
      <vt:lpstr>Calibri</vt:lpstr>
      <vt:lpstr>Helvetica Neue</vt:lpstr>
      <vt:lpstr>汉仪书宋二KW</vt:lpstr>
      <vt:lpstr>Segoe UI</vt:lpstr>
      <vt:lpstr>微软雅黑</vt:lpstr>
      <vt:lpstr>苹方-简</vt:lpstr>
      <vt:lpstr>ai_nav_demo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刘润东</cp:lastModifiedBy>
  <cp:revision>2</cp:revision>
  <dcterms:created xsi:type="dcterms:W3CDTF">2026-08-10T08:27:26Z</dcterms:created>
  <dcterms:modified xsi:type="dcterms:W3CDTF">2026-08-10T08:27:26Z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44E40E0970EF89476E8B796ABE7237A1_42</vt:lpwstr>
  </property>
  <property fmtid="{D5CDD505-2E9C-101B-9397-08002B2CF9AE}" pid="3" name="KSOProductBuildVer">
    <vt:lpwstr>2052-12.1.21861.21861</vt:lpwstr>
  </property>
</Properties>
</file>