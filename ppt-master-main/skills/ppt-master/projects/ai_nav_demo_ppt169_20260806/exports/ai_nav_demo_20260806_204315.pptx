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i_nav_demo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i_nav_demo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590550" y="352425"/>
            <a:ext cx="10570591" cy="371189"/>
            <a:chOff x="590550" y="352425"/>
            <a:chExt cx="10570591" cy="371189"/>
          </a:xfrm>
        </p:grpSpPr>
        <p:grpSp>
          <p:nvGrpSpPr>
            <p:cNvPr id="6" name="Group 6"/>
            <p:cNvGrpSpPr/>
            <p:nvPr/>
          </p:nvGrpSpPr>
          <p:grpSpPr>
            <a:xfrm>
              <a:off x="590550" y="352425"/>
              <a:ext cx="1008583" cy="342900"/>
              <a:chOff x="590550" y="352425"/>
              <a:chExt cx="1008583" cy="3429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590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75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94791" y="381952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  <p:sp>
            <p:nvSpPr>
              <p:cNvPr id="5" name="Line 5"/>
              <p:cNvSpPr/>
              <p:nvPr/>
            </p:nvSpPr>
            <p:spPr>
              <a:xfrm>
                <a:off x="1000125" y="590550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  <p:grpSp>
          <p:nvGrpSpPr>
            <p:cNvPr id="11" name="Group 11"/>
            <p:cNvGrpSpPr/>
            <p:nvPr/>
          </p:nvGrpSpPr>
          <p:grpSpPr>
            <a:xfrm>
              <a:off x="2514600" y="371475"/>
              <a:ext cx="1026541" cy="352139"/>
              <a:chOff x="2514600" y="371475"/>
              <a:chExt cx="1026541" cy="352139"/>
            </a:xfrm>
          </p:grpSpPr>
          <p:sp>
            <p:nvSpPr>
              <p:cNvPr id="7" name="Ellipse 7"/>
              <p:cNvSpPr/>
              <p:nvPr/>
            </p:nvSpPr>
            <p:spPr>
              <a:xfrm>
                <a:off x="251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8" name="TextBox 8"/>
              <p:cNvSpPr txBox="1"/>
              <p:nvPr/>
            </p:nvSpPr>
            <p:spPr>
              <a:xfrm>
                <a:off x="259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7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10" name="TextBox 10"/>
              <p:cNvSpPr txBox="1"/>
              <p:nvPr/>
            </p:nvSpPr>
            <p:spPr>
              <a:xfrm>
                <a:off x="287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4419600" y="371475"/>
              <a:ext cx="1026541" cy="352139"/>
              <a:chOff x="4419600" y="371475"/>
              <a:chExt cx="1026541" cy="352139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41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449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77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776597" y="532924"/>
                <a:ext cx="40568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324600" y="371475"/>
              <a:ext cx="894613" cy="352139"/>
              <a:chOff x="6324600" y="371475"/>
              <a:chExt cx="894613" cy="352139"/>
            </a:xfrm>
          </p:grpSpPr>
          <p:sp>
            <p:nvSpPr>
              <p:cNvPr id="17" name="Ellipse 17"/>
              <p:cNvSpPr/>
              <p:nvPr/>
            </p:nvSpPr>
            <p:spPr>
              <a:xfrm>
                <a:off x="632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640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681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681597" y="532924"/>
                <a:ext cx="27376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229600" y="371475"/>
              <a:ext cx="1026541" cy="352139"/>
              <a:chOff x="8229600" y="371475"/>
              <a:chExt cx="1026541" cy="352139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822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30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8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586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0134600" y="371475"/>
              <a:ext cx="1026541" cy="352139"/>
              <a:chOff x="10134600" y="371475"/>
              <a:chExt cx="1026541" cy="352139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1013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021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49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49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609600" y="352425"/>
            <a:ext cx="10551541" cy="390525"/>
            <a:chOff x="609600" y="352425"/>
            <a:chExt cx="10551541" cy="390525"/>
          </a:xfrm>
        </p:grpSpPr>
        <p:grpSp>
          <p:nvGrpSpPr>
            <p:cNvPr id="5" name="Group 5"/>
            <p:cNvGrpSpPr/>
            <p:nvPr/>
          </p:nvGrpSpPr>
          <p:grpSpPr>
            <a:xfrm>
              <a:off x="609600" y="371475"/>
              <a:ext cx="894613" cy="304800"/>
              <a:chOff x="609600" y="371475"/>
              <a:chExt cx="894613" cy="3048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0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8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66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2495550" y="352425"/>
              <a:ext cx="1157002" cy="390525"/>
              <a:chOff x="2495550" y="352425"/>
              <a:chExt cx="1157002" cy="390525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2495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580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2899791" y="381952"/>
                <a:ext cx="75276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99791" y="524828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  <p:sp>
            <p:nvSpPr>
              <p:cNvPr id="10" name="Line 10"/>
              <p:cNvSpPr/>
              <p:nvPr/>
            </p:nvSpPr>
            <p:spPr>
              <a:xfrm>
                <a:off x="2905125" y="733425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>
              <a:off x="4419600" y="371475"/>
              <a:ext cx="1026541" cy="352139"/>
              <a:chOff x="4419600" y="371475"/>
              <a:chExt cx="1026541" cy="352139"/>
            </a:xfrm>
          </p:grpSpPr>
          <p:sp>
            <p:nvSpPr>
              <p:cNvPr id="12" name="Ellipse 12"/>
              <p:cNvSpPr/>
              <p:nvPr/>
            </p:nvSpPr>
            <p:spPr>
              <a:xfrm>
                <a:off x="441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449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77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776597" y="532924"/>
                <a:ext cx="40568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324600" y="371475"/>
              <a:ext cx="894613" cy="352139"/>
              <a:chOff x="6324600" y="371475"/>
              <a:chExt cx="894613" cy="352139"/>
            </a:xfrm>
          </p:grpSpPr>
          <p:sp>
            <p:nvSpPr>
              <p:cNvPr id="17" name="Ellipse 17"/>
              <p:cNvSpPr/>
              <p:nvPr/>
            </p:nvSpPr>
            <p:spPr>
              <a:xfrm>
                <a:off x="632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640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681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681597" y="532924"/>
                <a:ext cx="27376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229600" y="371475"/>
              <a:ext cx="1026541" cy="352139"/>
              <a:chOff x="8229600" y="371475"/>
              <a:chExt cx="1026541" cy="352139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822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30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8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586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0134600" y="371475"/>
              <a:ext cx="1026541" cy="352139"/>
              <a:chOff x="10134600" y="371475"/>
              <a:chExt cx="1026541" cy="352139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1013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021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49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49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609600" y="352425"/>
            <a:ext cx="10551541" cy="390525"/>
            <a:chOff x="609600" y="352425"/>
            <a:chExt cx="10551541" cy="390525"/>
          </a:xfrm>
        </p:grpSpPr>
        <p:grpSp>
          <p:nvGrpSpPr>
            <p:cNvPr id="5" name="Group 5"/>
            <p:cNvGrpSpPr/>
            <p:nvPr/>
          </p:nvGrpSpPr>
          <p:grpSpPr>
            <a:xfrm>
              <a:off x="609600" y="371475"/>
              <a:ext cx="894613" cy="304800"/>
              <a:chOff x="609600" y="371475"/>
              <a:chExt cx="894613" cy="3048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0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8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66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2514600" y="371475"/>
              <a:ext cx="1026541" cy="352139"/>
              <a:chOff x="2514600" y="371475"/>
              <a:chExt cx="1026541" cy="352139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251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59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287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7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4400550" y="352425"/>
              <a:ext cx="1157002" cy="390525"/>
              <a:chOff x="4400550" y="352425"/>
              <a:chExt cx="1157002" cy="390525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4400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4485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804791" y="381952"/>
                <a:ext cx="75276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804791" y="524828"/>
                <a:ext cx="455924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  <p:sp>
            <p:nvSpPr>
              <p:cNvPr id="15" name="Line 15"/>
              <p:cNvSpPr/>
              <p:nvPr/>
            </p:nvSpPr>
            <p:spPr>
              <a:xfrm>
                <a:off x="4810125" y="733425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6324600" y="371475"/>
              <a:ext cx="894613" cy="352139"/>
              <a:chOff x="6324600" y="371475"/>
              <a:chExt cx="894613" cy="352139"/>
            </a:xfrm>
          </p:grpSpPr>
          <p:sp>
            <p:nvSpPr>
              <p:cNvPr id="17" name="Ellipse 17"/>
              <p:cNvSpPr/>
              <p:nvPr/>
            </p:nvSpPr>
            <p:spPr>
              <a:xfrm>
                <a:off x="632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8" name="TextBox 18"/>
              <p:cNvSpPr txBox="1"/>
              <p:nvPr/>
            </p:nvSpPr>
            <p:spPr>
              <a:xfrm>
                <a:off x="640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681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6681597" y="532924"/>
                <a:ext cx="27376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229600" y="371475"/>
              <a:ext cx="1026541" cy="352139"/>
              <a:chOff x="8229600" y="371475"/>
              <a:chExt cx="1026541" cy="352139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822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30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8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586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0134600" y="371475"/>
              <a:ext cx="1026541" cy="352139"/>
              <a:chOff x="10134600" y="371475"/>
              <a:chExt cx="1026541" cy="352139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1013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021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49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49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609600" y="352425"/>
            <a:ext cx="10551541" cy="390525"/>
            <a:chOff x="609600" y="352425"/>
            <a:chExt cx="10551541" cy="390525"/>
          </a:xfrm>
        </p:grpSpPr>
        <p:grpSp>
          <p:nvGrpSpPr>
            <p:cNvPr id="5" name="Group 5"/>
            <p:cNvGrpSpPr/>
            <p:nvPr/>
          </p:nvGrpSpPr>
          <p:grpSpPr>
            <a:xfrm>
              <a:off x="609600" y="371475"/>
              <a:ext cx="894613" cy="304800"/>
              <a:chOff x="609600" y="371475"/>
              <a:chExt cx="894613" cy="3048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0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8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66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2514600" y="371475"/>
              <a:ext cx="1026541" cy="352139"/>
              <a:chOff x="2514600" y="371475"/>
              <a:chExt cx="1026541" cy="352139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251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59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287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7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4419600" y="371475"/>
              <a:ext cx="1026541" cy="352139"/>
              <a:chOff x="4419600" y="371475"/>
              <a:chExt cx="1026541" cy="352139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441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449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77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776597" y="532924"/>
                <a:ext cx="40568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</p:grpSp>
        <p:grpSp>
          <p:nvGrpSpPr>
            <p:cNvPr id="21" name="Group 21"/>
            <p:cNvGrpSpPr/>
            <p:nvPr/>
          </p:nvGrpSpPr>
          <p:grpSpPr>
            <a:xfrm>
              <a:off x="6305550" y="352425"/>
              <a:ext cx="1008583" cy="390525"/>
              <a:chOff x="6305550" y="352425"/>
              <a:chExt cx="1008583" cy="390525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6305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6390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709791" y="381952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709791" y="524828"/>
                <a:ext cx="307505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  <p:sp>
            <p:nvSpPr>
              <p:cNvPr id="20" name="Line 20"/>
              <p:cNvSpPr/>
              <p:nvPr/>
            </p:nvSpPr>
            <p:spPr>
              <a:xfrm>
                <a:off x="6715125" y="733425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>
              <a:off x="8229600" y="371475"/>
              <a:ext cx="1026541" cy="352139"/>
              <a:chOff x="8229600" y="371475"/>
              <a:chExt cx="1026541" cy="352139"/>
            </a:xfrm>
          </p:grpSpPr>
          <p:sp>
            <p:nvSpPr>
              <p:cNvPr id="22" name="Ellipse 22"/>
              <p:cNvSpPr/>
              <p:nvPr/>
            </p:nvSpPr>
            <p:spPr>
              <a:xfrm>
                <a:off x="822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3" name="TextBox 23"/>
              <p:cNvSpPr txBox="1"/>
              <p:nvPr/>
            </p:nvSpPr>
            <p:spPr>
              <a:xfrm>
                <a:off x="830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8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586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0134600" y="371475"/>
              <a:ext cx="1026541" cy="352139"/>
              <a:chOff x="10134600" y="371475"/>
              <a:chExt cx="1026541" cy="352139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1013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021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49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49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609600" y="352425"/>
            <a:ext cx="10551541" cy="390525"/>
            <a:chOff x="609600" y="352425"/>
            <a:chExt cx="10551541" cy="390525"/>
          </a:xfrm>
        </p:grpSpPr>
        <p:grpSp>
          <p:nvGrpSpPr>
            <p:cNvPr id="5" name="Group 5"/>
            <p:cNvGrpSpPr/>
            <p:nvPr/>
          </p:nvGrpSpPr>
          <p:grpSpPr>
            <a:xfrm>
              <a:off x="609600" y="371475"/>
              <a:ext cx="894613" cy="304800"/>
              <a:chOff x="609600" y="371475"/>
              <a:chExt cx="894613" cy="3048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0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8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66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2514600" y="371475"/>
              <a:ext cx="1026541" cy="352139"/>
              <a:chOff x="2514600" y="371475"/>
              <a:chExt cx="1026541" cy="352139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251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59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287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7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4419600" y="371475"/>
              <a:ext cx="1026541" cy="352139"/>
              <a:chOff x="4419600" y="371475"/>
              <a:chExt cx="1026541" cy="352139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441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449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77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776597" y="532924"/>
                <a:ext cx="40568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6324600" y="371475"/>
              <a:ext cx="894613" cy="352139"/>
              <a:chOff x="6324600" y="371475"/>
              <a:chExt cx="894613" cy="352139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632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640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681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681597" y="532924"/>
                <a:ext cx="27376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8210550" y="352425"/>
              <a:ext cx="1157002" cy="390525"/>
              <a:chOff x="8210550" y="352425"/>
              <a:chExt cx="1157002" cy="390525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8210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8295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614791" y="381952"/>
                <a:ext cx="75276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614791" y="524828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  <p:sp>
            <p:nvSpPr>
              <p:cNvPr id="25" name="Line 25"/>
              <p:cNvSpPr/>
              <p:nvPr/>
            </p:nvSpPr>
            <p:spPr>
              <a:xfrm>
                <a:off x="8620125" y="733425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  <p:grpSp>
          <p:nvGrpSpPr>
            <p:cNvPr id="31" name="Group 31"/>
            <p:cNvGrpSpPr/>
            <p:nvPr/>
          </p:nvGrpSpPr>
          <p:grpSpPr>
            <a:xfrm>
              <a:off x="10134600" y="371475"/>
              <a:ext cx="1026541" cy="352139"/>
              <a:chOff x="10134600" y="371475"/>
              <a:chExt cx="1026541" cy="352139"/>
            </a:xfrm>
          </p:grpSpPr>
          <p:sp>
            <p:nvSpPr>
              <p:cNvPr id="27" name="Ellipse 27"/>
              <p:cNvSpPr/>
              <p:nvPr/>
            </p:nvSpPr>
            <p:spPr>
              <a:xfrm>
                <a:off x="1013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1021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49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1049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2"/>
          <p:cNvGrpSpPr/>
          <p:nvPr/>
        </p:nvGrpSpPr>
        <p:grpSpPr>
          <a:xfrm>
            <a:off x="609600" y="352425"/>
            <a:ext cx="10662952" cy="390525"/>
            <a:chOff x="609600" y="352425"/>
            <a:chExt cx="10662952" cy="390525"/>
          </a:xfrm>
        </p:grpSpPr>
        <p:grpSp>
          <p:nvGrpSpPr>
            <p:cNvPr id="5" name="Group 5"/>
            <p:cNvGrpSpPr/>
            <p:nvPr/>
          </p:nvGrpSpPr>
          <p:grpSpPr>
            <a:xfrm>
              <a:off x="609600" y="371475"/>
              <a:ext cx="894613" cy="304800"/>
              <a:chOff x="609600" y="371475"/>
              <a:chExt cx="894613" cy="304800"/>
            </a:xfrm>
          </p:grpSpPr>
          <p:sp>
            <p:nvSpPr>
              <p:cNvPr id="2" name="Ellipse 2"/>
              <p:cNvSpPr/>
              <p:nvPr/>
            </p:nvSpPr>
            <p:spPr>
              <a:xfrm>
                <a:off x="60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3" name="TextBox 3"/>
              <p:cNvSpPr txBox="1"/>
              <p:nvPr/>
            </p:nvSpPr>
            <p:spPr>
              <a:xfrm>
                <a:off x="68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01</a:t>
                </a:r>
              </a:p>
            </p:txBody>
          </p:sp>
          <p:sp>
            <p:nvSpPr>
              <p:cNvPr id="4" name="TextBox 4"/>
              <p:cNvSpPr txBox="1"/>
              <p:nvPr/>
            </p:nvSpPr>
            <p:spPr>
              <a:xfrm>
                <a:off x="966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核心问题</a:t>
                </a:r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2514600" y="371475"/>
              <a:ext cx="1026541" cy="352139"/>
              <a:chOff x="2514600" y="371475"/>
              <a:chExt cx="1026541" cy="352139"/>
            </a:xfrm>
          </p:grpSpPr>
          <p:sp>
            <p:nvSpPr>
              <p:cNvPr id="6" name="Ellipse 6"/>
              <p:cNvSpPr/>
              <p:nvPr/>
            </p:nvSpPr>
            <p:spPr>
              <a:xfrm>
                <a:off x="251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7" name="TextBox 7"/>
              <p:cNvSpPr txBox="1"/>
              <p:nvPr/>
            </p:nvSpPr>
            <p:spPr>
              <a:xfrm>
                <a:off x="259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02</a:t>
                </a:r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2871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数据来源与</a:t>
                </a: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2871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利用方式</a:t>
                </a:r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4419600" y="371475"/>
              <a:ext cx="1026541" cy="352139"/>
              <a:chOff x="4419600" y="371475"/>
              <a:chExt cx="1026541" cy="352139"/>
            </a:xfrm>
          </p:grpSpPr>
          <p:sp>
            <p:nvSpPr>
              <p:cNvPr id="11" name="Ellipse 11"/>
              <p:cNvSpPr/>
              <p:nvPr/>
            </p:nvSpPr>
            <p:spPr>
              <a:xfrm>
                <a:off x="441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449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03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77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技术方案与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776597" y="532924"/>
                <a:ext cx="405689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创新点</a:t>
                </a:r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6324600" y="371475"/>
              <a:ext cx="894613" cy="352139"/>
              <a:chOff x="6324600" y="371475"/>
              <a:chExt cx="894613" cy="352139"/>
            </a:xfrm>
          </p:grpSpPr>
          <p:sp>
            <p:nvSpPr>
              <p:cNvPr id="16" name="Ellipse 16"/>
              <p:cNvSpPr/>
              <p:nvPr/>
            </p:nvSpPr>
            <p:spPr>
              <a:xfrm>
                <a:off x="6324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6402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04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6681597" y="390049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应用规模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6681597" y="532924"/>
                <a:ext cx="273761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范本</a:t>
                </a:r>
              </a:p>
            </p:txBody>
          </p:sp>
        </p:grpSp>
        <p:grpSp>
          <p:nvGrpSpPr>
            <p:cNvPr id="25" name="Group 25"/>
            <p:cNvGrpSpPr/>
            <p:nvPr/>
          </p:nvGrpSpPr>
          <p:grpSpPr>
            <a:xfrm>
              <a:off x="8229600" y="371475"/>
              <a:ext cx="1026541" cy="352139"/>
              <a:chOff x="8229600" y="371475"/>
              <a:chExt cx="1026541" cy="352139"/>
            </a:xfrm>
          </p:grpSpPr>
          <p:sp>
            <p:nvSpPr>
              <p:cNvPr id="21" name="Ellipse 21"/>
              <p:cNvSpPr/>
              <p:nvPr/>
            </p:nvSpPr>
            <p:spPr>
              <a:xfrm>
                <a:off x="8229600" y="371475"/>
                <a:ext cx="304800" cy="304800"/>
              </a:xfrm>
              <a:prstGeom prst="ellipse">
                <a:avLst/>
              </a:prstGeom>
              <a:solidFill>
                <a:srgbClr val="CBD5E1"/>
              </a:solidFill>
              <a:ln>
                <a:noFill/>
              </a:ln>
            </p:spPr>
          </p:sp>
          <p:sp>
            <p:nvSpPr>
              <p:cNvPr id="22" name="TextBox 22"/>
              <p:cNvSpPr txBox="1"/>
              <p:nvPr/>
            </p:nvSpPr>
            <p:spPr>
              <a:xfrm>
                <a:off x="8307269" y="464820"/>
                <a:ext cx="149462" cy="17621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90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05</a:t>
                </a:r>
              </a:p>
            </p:txBody>
          </p:sp>
          <p:sp>
            <p:nvSpPr>
              <p:cNvPr id="23" name="TextBox 23"/>
              <p:cNvSpPr txBox="1"/>
              <p:nvPr/>
            </p:nvSpPr>
            <p:spPr>
              <a:xfrm>
                <a:off x="8586597" y="390049"/>
                <a:ext cx="669544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应用效果与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8586597" y="532924"/>
                <a:ext cx="537616" cy="19069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980" dirty="0">
                    <a:solidFill>
                      <a:srgbClr val="64748B"/>
                    </a:solidFill>
                    <a:latin typeface="Segoe UI"/>
                    <a:ea typeface="Microsoft YaHei"/>
                    <a:cs typeface="Segoe UI"/>
                  </a:rPr>
                  <a:t>量化成效</a:t>
                </a:r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0115550" y="352425"/>
              <a:ext cx="1157002" cy="390525"/>
              <a:chOff x="10115550" y="352425"/>
              <a:chExt cx="1157002" cy="390525"/>
            </a:xfrm>
          </p:grpSpPr>
          <p:sp>
            <p:nvSpPr>
              <p:cNvPr id="26" name="Ellipse 26"/>
              <p:cNvSpPr/>
              <p:nvPr/>
            </p:nvSpPr>
            <p:spPr>
              <a:xfrm>
                <a:off x="10115550" y="352425"/>
                <a:ext cx="342900" cy="342900"/>
              </a:xfrm>
              <a:prstGeom prst="ellipse">
                <a:avLst/>
              </a:prstGeom>
              <a:solidFill>
                <a:srgbClr val="2563EB"/>
              </a:solidFill>
              <a:ln>
                <a:noFill/>
              </a:ln>
            </p:spPr>
          </p:sp>
          <p:sp>
            <p:nvSpPr>
              <p:cNvPr id="27" name="TextBox 27"/>
              <p:cNvSpPr txBox="1"/>
              <p:nvPr/>
            </p:nvSpPr>
            <p:spPr>
              <a:xfrm>
                <a:off x="10200036" y="458152"/>
                <a:ext cx="173928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en-US" sz="1050" b="1" dirty="0">
                    <a:solidFill>
                      <a:srgbClr val="FFFFFF"/>
                    </a:solidFill>
                    <a:latin typeface="Segoe UI"/>
                    <a:ea typeface="Segoe UI"/>
                    <a:cs typeface="Segoe UI"/>
                  </a:rPr>
                  <a:t>06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10519791" y="381952"/>
                <a:ext cx="752761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应用价值与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10519791" y="524828"/>
                <a:ext cx="604342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050" b="1" dirty="0">
                    <a:solidFill>
                      <a:srgbClr val="1E293B"/>
                    </a:solidFill>
                    <a:latin typeface="Segoe UI"/>
                    <a:ea typeface="Microsoft YaHei"/>
                    <a:cs typeface="Segoe UI"/>
                  </a:rPr>
                  <a:t>市场前景</a:t>
                </a:r>
              </a:p>
            </p:txBody>
          </p:sp>
          <p:sp>
            <p:nvSpPr>
              <p:cNvPr id="30" name="Line 30"/>
              <p:cNvSpPr/>
              <p:nvPr/>
            </p:nvSpPr>
            <p:spPr>
              <a:xfrm>
                <a:off x="10525125" y="733425"/>
                <a:ext cx="571500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71500" h="9525">
                    <a:moveTo>
                      <a:pt x="0" y="0"/>
                    </a:moveTo>
                    <a:lnTo>
                      <a:pt x="571500" y="0"/>
                    </a:lnTo>
                  </a:path>
                </a:pathLst>
              </a:custGeom>
              <a:noFill/>
              <a:ln w="28575" cap="rnd">
                <a:solidFill>
                  <a:srgbClr val="2563EB"/>
                </a:solidFill>
              </a:ln>
            </p:spPr>
          </p:sp>
        </p:grp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i_nav_demo">
  <a:themeElements>
    <a:clrScheme name="ai_nav_dem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i_nav_dem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_nav_dem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2026-08-06T12:43:15Z</dcterms:created>
  <dcterms:modified xsi:type="dcterms:W3CDTF">2026-08-06T12:43:15Z</dcterms:modified>
  <cp:category/>
  <cp:contentStatus/>
</cp:coreProperties>
</file>