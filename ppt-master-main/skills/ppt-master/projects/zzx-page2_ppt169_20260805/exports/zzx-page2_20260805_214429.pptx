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zzx-page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zzx-page2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5ec882edd97d13a4.png"/>
  <Relationship Id="rId3" Type="http://schemas.openxmlformats.org/officeDocument/2006/relationships/image" Target="../media/image_662eb8741c73de9c.png"/>
  <Relationship Id="rId4" Type="http://schemas.openxmlformats.org/officeDocument/2006/relationships/image" Target="../media/image_19523fd3168d48ef.png"/>
  <Relationship Id="rId5" Type="http://schemas.openxmlformats.org/officeDocument/2006/relationships/image" Target="../media/image_3db04020df3eefb4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F6FF"/>
            </a:gs>
            <a:gs pos="100000">
              <a:srgbClr val="F8FB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914400"/>
            <a:chOff x="0" y="0"/>
            <a:chExt cx="12192000" cy="9144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723900"/>
            </a:xfrm>
            <a:prstGeom prst="rect">
              <a:avLst/>
            </a:prstGeom>
            <a:gradFill>
              <a:gsLst>
                <a:gs pos="0">
                  <a:srgbClr val="043A8C"/>
                </a:gs>
                <a:gs pos="58000">
                  <a:srgbClr val="0753B8"/>
                </a:gs>
                <a:gs pos="100000">
                  <a:srgbClr val="0B6ACD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400050"/>
              <a:ext cx="12192000" cy="514350"/>
            </a:xfrm>
            <a:custGeom>
              <a:avLst/>
              <a:gdLst/>
              <a:ahLst/>
              <a:cxnLst/>
              <a:rect l="l" t="t" r="r" b="b"/>
              <a:pathLst>
                <a:path w="12192000" h="514350">
                  <a:moveTo>
                    <a:pt x="0" y="152400"/>
                  </a:moveTo>
                  <a:cubicBezTo>
                    <a:pt x="2476500" y="323850"/>
                    <a:pt x="4552950" y="0"/>
                    <a:pt x="6686550" y="219075"/>
                  </a:cubicBezTo>
                  <a:cubicBezTo>
                    <a:pt x="8858250" y="428625"/>
                    <a:pt x="10477500" y="104775"/>
                    <a:pt x="12192000" y="200025"/>
                  </a:cubicBezTo>
                  <a:lnTo>
                    <a:pt x="12192000" y="514350"/>
                  </a:lnTo>
                  <a:lnTo>
                    <a:pt x="0" y="514350"/>
                  </a:lnTo>
                  <a:close/>
                </a:path>
              </a:pathLst>
            </a:custGeom>
            <a:solidFill>
              <a:srgbClr val="3D8EF4">
                <a:alpha val="18000"/>
              </a:srgbClr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8572500" y="66675"/>
              <a:ext cx="3429000" cy="600075"/>
            </a:xfrm>
            <a:custGeom>
              <a:avLst/>
              <a:gdLst/>
              <a:ahLst/>
              <a:cxnLst/>
              <a:rect l="l" t="t" r="r" b="b"/>
              <a:pathLst>
                <a:path w="3429000" h="600075">
                  <a:moveTo>
                    <a:pt x="0" y="600075"/>
                  </a:moveTo>
                  <a:lnTo>
                    <a:pt x="381000" y="123825"/>
                  </a:lnTo>
                  <a:lnTo>
                    <a:pt x="762000" y="600075"/>
                  </a:lnTo>
                  <a:moveTo>
                    <a:pt x="571500" y="600075"/>
                  </a:moveTo>
                  <a:lnTo>
                    <a:pt x="1028700" y="0"/>
                  </a:lnTo>
                  <a:lnTo>
                    <a:pt x="1504950" y="600075"/>
                  </a:lnTo>
                  <a:moveTo>
                    <a:pt x="1333500" y="600075"/>
                  </a:moveTo>
                  <a:lnTo>
                    <a:pt x="1924050" y="219075"/>
                  </a:lnTo>
                  <a:lnTo>
                    <a:pt x="2524125" y="600075"/>
                  </a:lnTo>
                  <a:moveTo>
                    <a:pt x="2190750" y="600075"/>
                  </a:moveTo>
                  <a:lnTo>
                    <a:pt x="2781300" y="76200"/>
                  </a:lnTo>
                  <a:lnTo>
                    <a:pt x="3429000" y="600075"/>
                  </a:lnTo>
                </a:path>
              </a:pathLst>
            </a:custGeom>
            <a:noFill/>
            <a:ln w="14288">
              <a:solidFill>
                <a:srgbClr val="75B8FF">
                  <a:alpha val="35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1066800" y="17145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0"/>
                  </a:moveTo>
                  <a:lnTo>
                    <a:pt x="0" y="390525"/>
                  </a:lnTo>
                </a:path>
              </a:pathLst>
            </a:custGeom>
            <a:noFill/>
            <a:ln w="19050">
              <a:solidFill>
                <a:srgbClr val="BBD9FF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18694" y="256223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72262" y="116205"/>
              <a:ext cx="316451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5444" y="256223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83208" y="226695"/>
              <a:ext cx="646999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核心问题：人工监管难以穿透海量招采业务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2095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2" name="Rectangle 12"/>
          <p:cNvSpPr/>
          <p:nvPr/>
        </p:nvSpPr>
        <p:spPr>
          <a:xfrm>
            <a:off x="31813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3" name="Rectangle 13"/>
          <p:cNvSpPr/>
          <p:nvPr/>
        </p:nvSpPr>
        <p:spPr>
          <a:xfrm>
            <a:off x="61531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14" name="Rectangle 14"/>
          <p:cNvSpPr/>
          <p:nvPr/>
        </p:nvSpPr>
        <p:spPr>
          <a:xfrm>
            <a:off x="9124950" y="876300"/>
            <a:ext cx="2857500" cy="10668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19" name="Group 19"/>
          <p:cNvGrpSpPr/>
          <p:nvPr/>
        </p:nvGrpSpPr>
        <p:grpSpPr>
          <a:xfrm>
            <a:off x="428625" y="1066800"/>
            <a:ext cx="552450" cy="762000"/>
            <a:chOff x="428625" y="1066800"/>
            <a:chExt cx="552450" cy="762000"/>
          </a:xfrm>
        </p:grpSpPr>
        <p:sp>
          <p:nvSpPr>
            <p:cNvPr id="15" name="Rectangle 15"/>
            <p:cNvSpPr/>
            <p:nvPr/>
          </p:nvSpPr>
          <p:spPr>
            <a:xfrm>
              <a:off x="428625" y="1162050"/>
              <a:ext cx="552450" cy="666750"/>
            </a:xfrm>
            <a:prstGeom prst="roundRect">
              <a:avLst>
                <a:gd name="adj" fmla="val 17241"/>
              </a:avLst>
            </a:prstGeom>
            <a:solidFill>
              <a:srgbClr val="E7F1FF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61975" y="1066800"/>
              <a:ext cx="361950" cy="171450"/>
            </a:xfrm>
            <a:prstGeom prst="roundRect">
              <a:avLst>
                <a:gd name="adj" fmla="val 27778"/>
              </a:avLst>
            </a:prstGeom>
            <a:solidFill>
              <a:srgbClr val="8FC0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52450" y="1276350"/>
              <a:ext cx="323850" cy="381000"/>
            </a:xfrm>
            <a:prstGeom prst="roundRect">
              <a:avLst>
                <a:gd name="adj" fmla="val 11765"/>
              </a:avLst>
            </a:prstGeom>
            <a:solidFill>
              <a:srgbClr val="FFFFFF"/>
            </a:solidFill>
            <a:ln w="19050">
              <a:solidFill>
                <a:srgbClr val="3C83D9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19125" y="13716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0"/>
                  </a:moveTo>
                  <a:lnTo>
                    <a:pt x="190500" y="0"/>
                  </a:lnTo>
                  <a:lnTo>
                    <a:pt x="161925" y="123825"/>
                  </a:lnTo>
                  <a:lnTo>
                    <a:pt x="28575" y="123825"/>
                  </a:lnTo>
                  <a:close/>
                  <a:moveTo>
                    <a:pt x="47625" y="190500"/>
                  </a:moveTo>
                  <a:lnTo>
                    <a:pt x="142875" y="190500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</a:ln>
          </p:spPr>
        </p:sp>
      </p:grpSp>
      <p:sp>
        <p:nvSpPr>
          <p:cNvPr id="20" name="TextBox 20"/>
          <p:cNvSpPr txBox="1"/>
          <p:nvPr/>
        </p:nvSpPr>
        <p:spPr>
          <a:xfrm>
            <a:off x="1202817" y="10353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年度采购业务超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0625" y="1248728"/>
            <a:ext cx="66781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54911" y="1532096"/>
            <a:ext cx="4159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万次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3429000" y="1066800"/>
            <a:ext cx="666750" cy="695325"/>
            <a:chOff x="3429000" y="1066800"/>
            <a:chExt cx="666750" cy="695325"/>
          </a:xfrm>
        </p:grpSpPr>
        <p:sp>
          <p:nvSpPr>
            <p:cNvPr id="23" name="Rectangle 23"/>
            <p:cNvSpPr/>
            <p:nvPr/>
          </p:nvSpPr>
          <p:spPr>
            <a:xfrm>
              <a:off x="3429000" y="1238250"/>
              <a:ext cx="666750" cy="523875"/>
            </a:xfrm>
            <a:prstGeom prst="roundRect">
              <a:avLst>
                <a:gd name="adj" fmla="val 14545"/>
              </a:avLst>
            </a:prstGeom>
            <a:solidFill>
              <a:srgbClr val="1768C6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3429000" y="1171575"/>
              <a:ext cx="666750" cy="552450"/>
            </a:xfrm>
            <a:custGeom>
              <a:avLst/>
              <a:gdLst/>
              <a:ahLst/>
              <a:cxnLst/>
              <a:rect l="l" t="t" r="r" b="b"/>
              <a:pathLst>
                <a:path w="666750" h="552450">
                  <a:moveTo>
                    <a:pt x="95250" y="0"/>
                  </a:moveTo>
                  <a:lnTo>
                    <a:pt x="352425" y="0"/>
                  </a:lnTo>
                  <a:lnTo>
                    <a:pt x="438150" y="95250"/>
                  </a:lnTo>
                  <a:lnTo>
                    <a:pt x="666750" y="95250"/>
                  </a:lnTo>
                  <a:lnTo>
                    <a:pt x="666750" y="552450"/>
                  </a:lnTo>
                  <a:lnTo>
                    <a:pt x="0" y="55245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9B2F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638550" y="1066800"/>
              <a:ext cx="419100" cy="533400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9050">
              <a:solidFill>
                <a:srgbClr val="A9C9ED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714750" y="1181100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3714750" y="1285875"/>
              <a:ext cx="257175" cy="9525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</p:grpSp>
      <p:sp>
        <p:nvSpPr>
          <p:cNvPr id="29" name="TextBox 29"/>
          <p:cNvSpPr txBox="1"/>
          <p:nvPr/>
        </p:nvSpPr>
        <p:spPr>
          <a:xfrm>
            <a:off x="4174617" y="1035368"/>
            <a:ext cx="7406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单次涉及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162425" y="1248728"/>
            <a:ext cx="352959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536186" y="1532096"/>
            <a:ext cx="616633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类文件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6400800" y="1066800"/>
            <a:ext cx="904875" cy="714375"/>
            <a:chOff x="6400800" y="1066800"/>
            <a:chExt cx="904875" cy="714375"/>
          </a:xfrm>
        </p:grpSpPr>
        <p:sp>
          <p:nvSpPr>
            <p:cNvPr id="32" name="Freeform 32"/>
            <p:cNvSpPr/>
            <p:nvPr/>
          </p:nvSpPr>
          <p:spPr>
            <a:xfrm>
              <a:off x="6400800" y="146685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8CBDF3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6429375" y="133350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A7CDF6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6457950" y="120015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C2DDF9"/>
            </a:solidFill>
            <a:ln>
              <a:noFill/>
            </a:ln>
          </p:spPr>
        </p:sp>
        <p:sp>
          <p:nvSpPr>
            <p:cNvPr id="35" name="Freeform 35"/>
            <p:cNvSpPr/>
            <p:nvPr/>
          </p:nvSpPr>
          <p:spPr>
            <a:xfrm>
              <a:off x="6486525" y="1066800"/>
              <a:ext cx="819150" cy="314325"/>
            </a:xfrm>
            <a:custGeom>
              <a:avLst/>
              <a:gdLst/>
              <a:ahLst/>
              <a:cxnLst/>
              <a:rect l="l" t="t" r="r" b="b"/>
              <a:pathLst>
                <a:path w="819150" h="314325">
                  <a:moveTo>
                    <a:pt x="0" y="180975"/>
                  </a:moveTo>
                  <a:lnTo>
                    <a:pt x="447675" y="314325"/>
                  </a:lnTo>
                  <a:lnTo>
                    <a:pt x="819150" y="123825"/>
                  </a:lnTo>
                  <a:lnTo>
                    <a:pt x="371475" y="0"/>
                  </a:lnTo>
                  <a:close/>
                </a:path>
              </a:pathLst>
            </a:custGeom>
            <a:solidFill>
              <a:srgbClr val="FFFFFF"/>
            </a:solidFill>
            <a:ln w="14288">
              <a:solidFill>
                <a:srgbClr val="A8C7EA"/>
              </a:solidFill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7146417" y="10353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附件超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134225" y="1248728"/>
            <a:ext cx="982678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231886" y="1532096"/>
            <a:ext cx="41591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余页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410700" y="1057275"/>
            <a:ext cx="552450" cy="723900"/>
            <a:chOff x="9410700" y="1057275"/>
            <a:chExt cx="552450" cy="723900"/>
          </a:xfrm>
        </p:grpSpPr>
        <p:sp>
          <p:nvSpPr>
            <p:cNvPr id="40" name="Rectangle 40"/>
            <p:cNvSpPr/>
            <p:nvPr/>
          </p:nvSpPr>
          <p:spPr>
            <a:xfrm>
              <a:off x="9410700" y="1085850"/>
              <a:ext cx="552450" cy="695325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28575">
              <a:solidFill>
                <a:srgbClr val="0753B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63100" y="1057275"/>
              <a:ext cx="257175" cy="114300"/>
            </a:xfrm>
            <a:prstGeom prst="roundRect">
              <a:avLst>
                <a:gd name="adj" fmla="val 41667"/>
              </a:avLst>
            </a:prstGeom>
            <a:solidFill>
              <a:srgbClr val="6DAAF0"/>
            </a:solidFill>
            <a:ln>
              <a:noFill/>
            </a:ln>
          </p:spPr>
        </p:sp>
        <p:sp>
          <p:nvSpPr>
            <p:cNvPr id="42" name="Freeform 42"/>
            <p:cNvSpPr/>
            <p:nvPr/>
          </p:nvSpPr>
          <p:spPr>
            <a:xfrm>
              <a:off x="9534525" y="1228725"/>
              <a:ext cx="152400" cy="457200"/>
            </a:xfrm>
            <a:custGeom>
              <a:avLst/>
              <a:gdLst/>
              <a:ahLst/>
              <a:cxnLst/>
              <a:rect l="l" t="t" r="r" b="b"/>
              <a:pathLst>
                <a:path w="152400" h="457200">
                  <a:moveTo>
                    <a:pt x="0" y="57150"/>
                  </a:moveTo>
                  <a:lnTo>
                    <a:pt x="57150" y="114300"/>
                  </a:lnTo>
                  <a:lnTo>
                    <a:pt x="152400" y="0"/>
                  </a:lnTo>
                  <a:moveTo>
                    <a:pt x="0" y="228600"/>
                  </a:moveTo>
                  <a:lnTo>
                    <a:pt x="57150" y="285750"/>
                  </a:lnTo>
                  <a:lnTo>
                    <a:pt x="152400" y="171450"/>
                  </a:lnTo>
                  <a:moveTo>
                    <a:pt x="0" y="400050"/>
                  </a:moveTo>
                  <a:lnTo>
                    <a:pt x="57150" y="457200"/>
                  </a:lnTo>
                  <a:lnTo>
                    <a:pt x="152400" y="342900"/>
                  </a:lnTo>
                </a:path>
              </a:pathLst>
            </a:custGeom>
            <a:noFill/>
            <a:ln w="28575" cap="rnd">
              <a:solidFill>
                <a:srgbClr val="0753B8"/>
              </a:solidFill>
              <a:round/>
            </a:ln>
          </p:spPr>
        </p:sp>
        <p:sp>
          <p:nvSpPr>
            <p:cNvPr id="43" name="Line 43"/>
            <p:cNvSpPr/>
            <p:nvPr/>
          </p:nvSpPr>
          <p:spPr>
            <a:xfrm>
              <a:off x="9753600" y="13049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9753600" y="147637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9753600" y="1647825"/>
              <a:ext cx="133350" cy="9525"/>
            </a:xfrm>
            <a:custGeom>
              <a:avLst/>
              <a:gdLst/>
              <a:ahLst/>
              <a:cxnLst/>
              <a:rect l="l" t="t" r="r" b="b"/>
              <a:pathLst>
                <a:path w="133350" h="9525">
                  <a:moveTo>
                    <a:pt x="0" y="0"/>
                  </a:moveTo>
                  <a:lnTo>
                    <a:pt x="133350" y="0"/>
                  </a:lnTo>
                </a:path>
              </a:pathLst>
            </a:custGeom>
            <a:noFill/>
            <a:ln w="28575">
              <a:solidFill>
                <a:srgbClr val="8AAFD6"/>
              </a:solidFill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0118217" y="1035368"/>
            <a:ext cx="55892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需核对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106025" y="1248728"/>
            <a:ext cx="1297537" cy="790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050" b="1" dirty="0">
                <a:solidFill>
                  <a:srgbClr val="0753B8"/>
                </a:solidFill>
                <a:latin typeface="Arial"/>
                <a:ea typeface="Arial"/>
                <a:cs typeface="Arial"/>
              </a:rPr>
              <a:t>100+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328273" y="1548289"/>
            <a:ext cx="7366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2638"/>
                </a:solidFill>
                <a:latin typeface="Microsoft YaHei"/>
                <a:ea typeface="Microsoft YaHei"/>
                <a:cs typeface="Microsoft YaHei"/>
              </a:rPr>
              <a:t>合规节点</a:t>
            </a:r>
          </a:p>
        </p:txBody>
      </p:sp>
      <p:sp>
        <p:nvSpPr>
          <p:cNvPr id="50" name="Rectangle 50"/>
          <p:cNvSpPr/>
          <p:nvPr/>
        </p:nvSpPr>
        <p:spPr>
          <a:xfrm>
            <a:off x="20955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1" name="Rectangle 51"/>
          <p:cNvSpPr/>
          <p:nvPr/>
        </p:nvSpPr>
        <p:spPr>
          <a:xfrm>
            <a:off x="6210300" y="21145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2" name="Rectangle 52"/>
          <p:cNvSpPr/>
          <p:nvPr/>
        </p:nvSpPr>
        <p:spPr>
          <a:xfrm>
            <a:off x="20955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sp>
        <p:nvSpPr>
          <p:cNvPr id="53" name="Rectangle 53"/>
          <p:cNvSpPr/>
          <p:nvPr/>
        </p:nvSpPr>
        <p:spPr>
          <a:xfrm>
            <a:off x="6210300" y="3943350"/>
            <a:ext cx="5772150" cy="1695450"/>
          </a:xfrm>
          <a:prstGeom prst="roundRect">
            <a:avLst>
              <a:gd name="adj" fmla="val 8989"/>
            </a:avLst>
          </a:prstGeom>
          <a:solidFill>
            <a:srgbClr val="FFFFFF"/>
          </a:solidFill>
          <a:ln w="9525">
            <a:solidFill>
              <a:srgbClr val="D4E4F8"/>
            </a:solidFill>
          </a:ln>
          <a:effectLst>
            <a:outerShdw blurRad="133350" dist="47625" dir="5400000" algn="ctr" rotWithShape="0">
              <a:srgbClr val="0A3E83">
                <a:alpha val="9000"/>
              </a:srgbClr>
            </a:outerShdw>
          </a:effectLst>
        </p:spPr>
      </p:sp>
      <p:grpSp>
        <p:nvGrpSpPr>
          <p:cNvPr id="65" name="Group 65"/>
          <p:cNvGrpSpPr/>
          <p:nvPr/>
        </p:nvGrpSpPr>
        <p:grpSpPr>
          <a:xfrm>
            <a:off x="478512" y="2324100"/>
            <a:ext cx="5217438" cy="1341120"/>
            <a:chOff x="478512" y="2324100"/>
            <a:chExt cx="5217438" cy="1341120"/>
          </a:xfrm>
        </p:grpSpPr>
        <p:pic>
          <p:nvPicPr>
            <p:cNvPr id="54" name="Image 5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8512" y="2324100"/>
              <a:ext cx="1233726" cy="1257300"/>
            </a:xfrm>
            <a:prstGeom prst="rect">
              <a:avLst/>
            </a:prstGeom>
          </p:spPr>
        </p:pic>
        <p:sp>
          <p:nvSpPr>
            <p:cNvPr id="55" name="Line 55"/>
            <p:cNvSpPr/>
            <p:nvPr/>
          </p:nvSpPr>
          <p:spPr>
            <a:xfrm>
              <a:off x="1905000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2095500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158867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637663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痛点一｜效率低</a:t>
              </a:r>
            </a:p>
          </p:txBody>
        </p:sp>
        <p:sp>
          <p:nvSpPr>
            <p:cNvPr id="59" name="Polygon 59"/>
            <p:cNvSpPr/>
            <p:nvPr/>
          </p:nvSpPr>
          <p:spPr>
            <a:xfrm>
              <a:off x="2114550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2317242" y="29403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单批次人工审查约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97630" y="2924175"/>
              <a:ext cx="6195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3 小时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114550" y="32385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107692" y="33880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年度合规审查投入高达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992880" y="3371850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7.5 万人天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6460233" y="2324100"/>
            <a:ext cx="5236467" cy="1354265"/>
            <a:chOff x="6460233" y="2324100"/>
            <a:chExt cx="5236467" cy="1354265"/>
          </a:xfrm>
        </p:grpSpPr>
        <p:pic>
          <p:nvPicPr>
            <p:cNvPr id="66" name="Imag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60233" y="2324100"/>
              <a:ext cx="1328934" cy="1257300"/>
            </a:xfrm>
            <a:prstGeom prst="rect">
              <a:avLst/>
            </a:prstGeom>
          </p:spPr>
        </p:pic>
        <p:sp>
          <p:nvSpPr>
            <p:cNvPr id="67" name="Line 67"/>
            <p:cNvSpPr/>
            <p:nvPr/>
          </p:nvSpPr>
          <p:spPr>
            <a:xfrm>
              <a:off x="7934325" y="23241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8124825" y="23431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188192" y="24126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666988" y="23912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痛点二｜门槛高</a:t>
              </a:r>
            </a:p>
          </p:txBody>
        </p:sp>
        <p:sp>
          <p:nvSpPr>
            <p:cNvPr id="71" name="Polygon 71"/>
            <p:cNvSpPr/>
            <p:nvPr/>
          </p:nvSpPr>
          <p:spPr>
            <a:xfrm>
              <a:off x="8143875" y="297180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46567" y="29403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需对照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955405" y="2924175"/>
              <a:ext cx="7361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20 余部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661017" y="2940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法律法规和行业标准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143875" y="32385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137017" y="33880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人工遗漏与出错率约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716643" y="3355658"/>
              <a:ext cx="4482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B20"/>
                  </a:solidFill>
                  <a:latin typeface="Arial"/>
                  <a:ea typeface="Arial"/>
                  <a:cs typeface="Arial"/>
                </a:rPr>
                <a:t>30%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489000" y="4152900"/>
            <a:ext cx="5206950" cy="1470851"/>
            <a:chOff x="489000" y="4152900"/>
            <a:chExt cx="5206950" cy="1470851"/>
          </a:xfrm>
        </p:grpSpPr>
        <p:pic>
          <p:nvPicPr>
            <p:cNvPr id="79" name="Image 7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9000" y="4152900"/>
              <a:ext cx="1212750" cy="1257300"/>
            </a:xfrm>
            <a:prstGeom prst="rect">
              <a:avLst/>
            </a:prstGeom>
          </p:spPr>
        </p:pic>
        <p:sp>
          <p:nvSpPr>
            <p:cNvPr id="80" name="Line 80"/>
            <p:cNvSpPr/>
            <p:nvPr/>
          </p:nvSpPr>
          <p:spPr>
            <a:xfrm>
              <a:off x="1905000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095500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158867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2637663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痛点三｜识别难</a:t>
              </a:r>
            </a:p>
          </p:txBody>
        </p:sp>
        <p:sp>
          <p:nvSpPr>
            <p:cNvPr id="84" name="Polygon 84"/>
            <p:cNvSpPr/>
            <p:nvPr/>
          </p:nvSpPr>
          <p:spPr>
            <a:xfrm>
              <a:off x="2114550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2317242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公告、证书、清单和附件等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4536186" y="47420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多格式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2317242" y="49882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异构数据难以统一解析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2114550" y="5219700"/>
              <a:ext cx="3581400" cy="9525"/>
            </a:xfrm>
            <a:custGeom>
              <a:avLst/>
              <a:gdLst/>
              <a:ahLst/>
              <a:cxnLst/>
              <a:rect l="l" t="t" r="r" b="b"/>
              <a:pathLst>
                <a:path w="3581400" h="9525">
                  <a:moveTo>
                    <a:pt x="0" y="0"/>
                  </a:moveTo>
                  <a:lnTo>
                    <a:pt x="3581400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107692" y="53597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隐性风险与跨文件异常难发现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6391275" y="4152900"/>
            <a:ext cx="5305425" cy="1477423"/>
            <a:chOff x="6391275" y="4152900"/>
            <a:chExt cx="5305425" cy="1477423"/>
          </a:xfrm>
        </p:grpSpPr>
        <p:pic>
          <p:nvPicPr>
            <p:cNvPr id="91" name="Image 9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91275" y="4245492"/>
              <a:ext cx="1466850" cy="1072116"/>
            </a:xfrm>
            <a:prstGeom prst="rect">
              <a:avLst/>
            </a:prstGeom>
          </p:spPr>
        </p:pic>
        <p:sp>
          <p:nvSpPr>
            <p:cNvPr id="92" name="Line 92"/>
            <p:cNvSpPr/>
            <p:nvPr/>
          </p:nvSpPr>
          <p:spPr>
            <a:xfrm>
              <a:off x="7934325" y="4152900"/>
              <a:ext cx="9525" cy="1276350"/>
            </a:xfrm>
            <a:custGeom>
              <a:avLst/>
              <a:gdLst/>
              <a:ahLst/>
              <a:cxnLst/>
              <a:rect l="l" t="t" r="r" b="b"/>
              <a:pathLst>
                <a:path w="9525" h="1276350">
                  <a:moveTo>
                    <a:pt x="0" y="0"/>
                  </a:moveTo>
                  <a:lnTo>
                    <a:pt x="0" y="1276350"/>
                  </a:lnTo>
                </a:path>
              </a:pathLst>
            </a:custGeom>
            <a:noFill/>
            <a:ln w="19050">
              <a:solidFill>
                <a:srgbClr val="D8E5F4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8124825" y="4171950"/>
              <a:ext cx="400050" cy="342900"/>
            </a:xfrm>
            <a:prstGeom prst="roundRect">
              <a:avLst>
                <a:gd name="adj" fmla="val 22222"/>
              </a:avLst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188192" y="4241482"/>
              <a:ext cx="2733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8666988" y="4220051"/>
              <a:ext cx="2019277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0753B8"/>
                  </a:solidFill>
                  <a:latin typeface="Microsoft YaHei"/>
                  <a:ea typeface="Microsoft YaHei"/>
                  <a:cs typeface="Microsoft YaHei"/>
                </a:rPr>
                <a:t>痛点四｜防控晚</a:t>
              </a:r>
            </a:p>
          </p:txBody>
        </p:sp>
        <p:sp>
          <p:nvSpPr>
            <p:cNvPr id="96" name="Polygon 96"/>
            <p:cNvSpPr/>
            <p:nvPr/>
          </p:nvSpPr>
          <p:spPr>
            <a:xfrm>
              <a:off x="8143875" y="4781550"/>
              <a:ext cx="104775" cy="114300"/>
            </a:xfrm>
            <a:custGeom>
              <a:avLst/>
              <a:gdLst/>
              <a:ahLst/>
              <a:cxnLst/>
              <a:rect l="l" t="t" r="r" b="b"/>
              <a:pathLst>
                <a:path w="104775" h="114300">
                  <a:moveTo>
                    <a:pt x="0" y="0"/>
                  </a:moveTo>
                  <a:lnTo>
                    <a:pt x="104775" y="5715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753B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8346567" y="47501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围标串标、资质造假等问题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8346567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往往在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8955786" y="4980146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采购完成后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9918192" y="4988242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才暴露</a:t>
              </a:r>
            </a:p>
          </p:txBody>
        </p:sp>
        <p:sp>
          <p:nvSpPr>
            <p:cNvPr id="101" name="Line 101"/>
            <p:cNvSpPr/>
            <p:nvPr/>
          </p:nvSpPr>
          <p:spPr>
            <a:xfrm>
              <a:off x="8143875" y="5219700"/>
              <a:ext cx="3552825" cy="9525"/>
            </a:xfrm>
            <a:custGeom>
              <a:avLst/>
              <a:gdLst/>
              <a:ahLst/>
              <a:cxnLst/>
              <a:rect l="l" t="t" r="r" b="b"/>
              <a:pathLst>
                <a:path w="3552825" h="9525">
                  <a:moveTo>
                    <a:pt x="0" y="0"/>
                  </a:moveTo>
                  <a:lnTo>
                    <a:pt x="3552825" y="0"/>
                  </a:lnTo>
                </a:path>
              </a:pathLst>
            </a:custGeom>
            <a:noFill/>
            <a:ln w="9525">
              <a:solidFill>
                <a:srgbClr val="D6E2F0"/>
              </a:solidFill>
              <a:prstDash val="dash"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8137017" y="5359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B2638"/>
                  </a:solidFill>
                  <a:latin typeface="Microsoft YaHei"/>
                  <a:ea typeface="Microsoft YaHei"/>
                  <a:cs typeface="Microsoft YaHei"/>
                </a:rPr>
                <a:t>整改、审计与追责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641586" y="5351621"/>
              <a:ext cx="6166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成本高</a:t>
              </a:r>
            </a:p>
          </p:txBody>
        </p:sp>
      </p:grpSp>
      <p:grpSp>
        <p:nvGrpSpPr>
          <p:cNvPr id="115" name="Group 115"/>
          <p:cNvGrpSpPr/>
          <p:nvPr/>
        </p:nvGrpSpPr>
        <p:grpSpPr>
          <a:xfrm>
            <a:off x="209550" y="5829300"/>
            <a:ext cx="11772900" cy="781050"/>
            <a:chOff x="209550" y="5829300"/>
            <a:chExt cx="11772900" cy="781050"/>
          </a:xfrm>
        </p:grpSpPr>
        <p:sp>
          <p:nvSpPr>
            <p:cNvPr id="105" name="Rectangle 105"/>
            <p:cNvSpPr/>
            <p:nvPr/>
          </p:nvSpPr>
          <p:spPr>
            <a:xfrm>
              <a:off x="209550" y="5829300"/>
              <a:ext cx="11772900" cy="781050"/>
            </a:xfrm>
            <a:prstGeom prst="roundRect">
              <a:avLst>
                <a:gd name="adj" fmla="val 21951"/>
              </a:avLst>
            </a:prstGeom>
            <a:gradFill>
              <a:gsLst>
                <a:gs pos="0">
                  <a:srgbClr val="EDF5FF"/>
                </a:gs>
                <a:gs pos="72000">
                  <a:srgbClr val="F9FBFF"/>
                </a:gs>
                <a:gs pos="100000">
                  <a:srgbClr val="FFF0E5"/>
                </a:gs>
              </a:gsLst>
              <a:lin ang="0" scaled="1"/>
            </a:gradFill>
            <a:ln w="14288">
              <a:solidFill>
                <a:srgbClr val="B9D7FA"/>
              </a:solidFill>
            </a:ln>
          </p:spPr>
        </p:sp>
        <p:sp>
          <p:nvSpPr>
            <p:cNvPr id="106" name="Ellipse 106"/>
            <p:cNvSpPr/>
            <p:nvPr/>
          </p:nvSpPr>
          <p:spPr>
            <a:xfrm>
              <a:off x="523875" y="5953125"/>
              <a:ext cx="533400" cy="533400"/>
            </a:xfrm>
            <a:prstGeom prst="ellipse">
              <a:avLst/>
            </a:prstGeom>
            <a:solidFill>
              <a:srgbClr val="FFFFFF"/>
            </a:solidFill>
            <a:ln w="47625">
              <a:solidFill>
                <a:srgbClr val="75ADEF"/>
              </a:solidFill>
            </a:ln>
          </p:spPr>
        </p:sp>
        <p:sp>
          <p:nvSpPr>
            <p:cNvPr id="107" name="Ellipse 107"/>
            <p:cNvSpPr/>
            <p:nvPr/>
          </p:nvSpPr>
          <p:spPr>
            <a:xfrm>
              <a:off x="638175" y="6067425"/>
              <a:ext cx="304800" cy="304800"/>
            </a:xfrm>
            <a:prstGeom prst="ellipse">
              <a:avLst/>
            </a:prstGeom>
            <a:noFill/>
            <a:ln w="38100">
              <a:solidFill>
                <a:srgbClr val="0753B8"/>
              </a:solidFill>
            </a:ln>
          </p:spPr>
        </p:sp>
        <p:sp>
          <p:nvSpPr>
            <p:cNvPr id="108" name="Ellipse 108"/>
            <p:cNvSpPr/>
            <p:nvPr/>
          </p:nvSpPr>
          <p:spPr>
            <a:xfrm>
              <a:off x="742950" y="6172200"/>
              <a:ext cx="95250" cy="95250"/>
            </a:xfrm>
            <a:prstGeom prst="ellipse">
              <a:avLst/>
            </a:prstGeom>
            <a:solidFill>
              <a:srgbClr val="0753B8"/>
            </a:solidFill>
            <a:ln>
              <a:noFill/>
            </a:ln>
          </p:spPr>
        </p:sp>
        <p:sp>
          <p:nvSpPr>
            <p:cNvPr id="109" name="Line 109"/>
            <p:cNvSpPr/>
            <p:nvPr/>
          </p:nvSpPr>
          <p:spPr>
            <a:xfrm>
              <a:off x="790575" y="6048375"/>
              <a:ext cx="200025" cy="171450"/>
            </a:xfrm>
            <a:custGeom>
              <a:avLst/>
              <a:gdLst/>
              <a:ahLst/>
              <a:cxnLst/>
              <a:rect l="l" t="t" r="r" b="b"/>
              <a:pathLst>
                <a:path w="200025" h="171450">
                  <a:moveTo>
                    <a:pt x="0" y="171450"/>
                  </a:moveTo>
                  <a:lnTo>
                    <a:pt x="200025" y="0"/>
                  </a:lnTo>
                </a:path>
              </a:pathLst>
            </a:custGeom>
            <a:noFill/>
            <a:ln w="47625" cap="rnd">
              <a:solidFill>
                <a:srgbClr val="0753B8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1200150" y="5991225"/>
              <a:ext cx="9525" cy="457200"/>
            </a:xfrm>
            <a:custGeom>
              <a:avLst/>
              <a:gdLst/>
              <a:ahLst/>
              <a:cxnLst/>
              <a:rect l="l" t="t" r="r" b="b"/>
              <a:pathLst>
                <a:path w="9525" h="4572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w="19050">
              <a:solidFill>
                <a:srgbClr val="9CB9D9"/>
              </a:solidFill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1465326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人工审查模式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246501" y="6070759"/>
              <a:ext cx="1870969" cy="425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FF6B20"/>
                  </a:solidFill>
                  <a:latin typeface="Microsoft YaHei"/>
                  <a:ea typeface="Microsoft YaHei"/>
                  <a:cs typeface="Microsoft YaHei"/>
                </a:rPr>
                <a:t>无法同时满足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5151120" y="6062662"/>
              <a:ext cx="48252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A3F91"/>
                  </a:solidFill>
                  <a:latin typeface="Microsoft YaHei"/>
                  <a:ea typeface="Microsoft YaHei"/>
                  <a:cs typeface="Microsoft YaHei"/>
                </a:rPr>
                <a:t>“规模、速度、准确、实时、追溯”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991725" y="61031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D95C1A"/>
                  </a:solidFill>
                  <a:latin typeface="Microsoft YaHei"/>
                  <a:ea typeface="Microsoft YaHei"/>
                  <a:cs typeface="Microsoft YaHei"/>
                </a:rPr>
                <a:t>五项监管要求</a:t>
              </a:r>
            </a:p>
          </p:txBody>
        </p:sp>
      </p:grpSp>
      <p:sp>
        <p:nvSpPr>
          <p:cNvPr id="116" name="TextBox 116"/>
          <p:cNvSpPr txBox="1"/>
          <p:nvPr/>
        </p:nvSpPr>
        <p:spPr>
          <a:xfrm>
            <a:off x="9882188" y="6683216"/>
            <a:ext cx="210690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6F7F94"/>
                </a:solidFill>
                <a:latin typeface="Microsoft YaHei"/>
                <a:ea typeface="Microsoft YaHei"/>
                <a:cs typeface="Microsoft YaHei"/>
              </a:rPr>
              <a:t>数据来源：项目申报材料，统计周期待补充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zzx-page2">
  <a:themeElements>
    <a:clrScheme name="zzx-page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zzx-page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zzx-pag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2026-08-05T13:44:30Z</dcterms:created>
  <dcterms:modified xsi:type="dcterms:W3CDTF">2026-08-05T13:44:30Z</dcterms:modified>
  <cp:category/>
  <cp:contentStatus/>
</cp:coreProperties>
</file>