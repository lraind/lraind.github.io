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590550" y="100965"/>
            <a:ext cx="11021060" cy="342900"/>
            <a:chOff x="930" y="159"/>
            <a:chExt cx="17356" cy="540"/>
          </a:xfrm>
        </p:grpSpPr>
        <p:grpSp>
          <p:nvGrpSpPr>
            <p:cNvPr id="5" name="Group 6"/>
            <p:cNvGrpSpPr/>
            <p:nvPr/>
          </p:nvGrpSpPr>
          <p:grpSpPr>
            <a:xfrm rot="0">
              <a:off x="930" y="159"/>
              <a:ext cx="2119" cy="540"/>
              <a:chOff x="590550" y="352425"/>
              <a:chExt cx="1345575" cy="342900"/>
            </a:xfrm>
          </p:grpSpPr>
          <p:sp>
            <p:nvSpPr>
              <p:cNvPr id="6" name="Ellipse 2"/>
              <p:cNvSpPr/>
              <p:nvPr/>
            </p:nvSpPr>
            <p:spPr>
              <a:xfrm>
                <a:off x="590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TextBox 3"/>
              <p:cNvSpPr txBox="1"/>
              <p:nvPr/>
            </p:nvSpPr>
            <p:spPr>
              <a:xfrm>
                <a:off x="694690" y="458152"/>
                <a:ext cx="13462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01</a:t>
                </a:r>
                <a:endParaRPr lang="en-US" sz="105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8" name="TextBox 4"/>
              <p:cNvSpPr txBox="1"/>
              <p:nvPr/>
            </p:nvSpPr>
            <p:spPr>
              <a:xfrm>
                <a:off x="994791" y="381952"/>
                <a:ext cx="937895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楷体" charset="0"/>
                    <a:ea typeface="楷体" charset="0"/>
                    <a:cs typeface="Segoe UI"/>
                  </a:rPr>
                  <a:t>需求</a:t>
                </a:r>
                <a:r>
                  <a:rPr lang="zh-CN" sz="1050" b="1" dirty="0">
                    <a:solidFill>
                      <a:srgbClr val="1E293B"/>
                    </a:solidFill>
                    <a:latin typeface="楷体" charset="0"/>
                    <a:ea typeface="楷体" charset="0"/>
                    <a:cs typeface="Segoe UI"/>
                  </a:rPr>
                  <a:t>与痛点分析</a:t>
                </a:r>
                <a:endParaRPr lang="zh-CN" sz="1050" b="1" dirty="0">
                  <a:solidFill>
                    <a:srgbClr val="1E293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9" name="Line 5"/>
              <p:cNvSpPr/>
              <p:nvPr/>
            </p:nvSpPr>
            <p:spPr>
              <a:xfrm>
                <a:off x="1000125" y="590550"/>
                <a:ext cx="93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10" name="Group 11"/>
            <p:cNvGrpSpPr/>
            <p:nvPr/>
          </p:nvGrpSpPr>
          <p:grpSpPr>
            <a:xfrm rot="0">
              <a:off x="3960" y="189"/>
              <a:ext cx="1346" cy="480"/>
              <a:chOff x="2514600" y="371475"/>
              <a:chExt cx="854837" cy="304800"/>
            </a:xfrm>
          </p:grpSpPr>
          <p:sp>
            <p:nvSpPr>
              <p:cNvPr id="11" name="Ellipse 7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2" name="TextBox 8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13" name="TextBox 9"/>
              <p:cNvSpPr txBox="1"/>
              <p:nvPr/>
            </p:nvSpPr>
            <p:spPr>
              <a:xfrm>
                <a:off x="2871597" y="39004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解决方案</a:t>
                </a:r>
                <a:endParaRPr lang="zh-CN" sz="980" dirty="0">
                  <a:solidFill>
                    <a:srgbClr val="64748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</p:grpSp>
        <p:grpSp>
          <p:nvGrpSpPr>
            <p:cNvPr id="15" name="Group 16"/>
            <p:cNvGrpSpPr/>
            <p:nvPr/>
          </p:nvGrpSpPr>
          <p:grpSpPr>
            <a:xfrm rot="0">
              <a:off x="6960" y="189"/>
              <a:ext cx="1495" cy="480"/>
              <a:chOff x="4419600" y="371475"/>
              <a:chExt cx="949046" cy="304800"/>
            </a:xfrm>
          </p:grpSpPr>
          <p:sp>
            <p:nvSpPr>
              <p:cNvPr id="16" name="Ellipse 12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7" name="TextBox 13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18" name="TextBox 14"/>
              <p:cNvSpPr txBox="1"/>
              <p:nvPr/>
            </p:nvSpPr>
            <p:spPr>
              <a:xfrm>
                <a:off x="4870806" y="39004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创新亮点</a:t>
                </a:r>
                <a:endParaRPr lang="zh-CN" sz="980" dirty="0">
                  <a:solidFill>
                    <a:srgbClr val="64748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</p:grpSp>
        <p:grpSp>
          <p:nvGrpSpPr>
            <p:cNvPr id="20" name="Group 21"/>
            <p:cNvGrpSpPr/>
            <p:nvPr/>
          </p:nvGrpSpPr>
          <p:grpSpPr>
            <a:xfrm rot="0">
              <a:off x="9960" y="189"/>
              <a:ext cx="1421" cy="480"/>
              <a:chOff x="6324600" y="371475"/>
              <a:chExt cx="902226" cy="304800"/>
            </a:xfrm>
          </p:grpSpPr>
          <p:sp>
            <p:nvSpPr>
              <p:cNvPr id="21" name="Ellipse 17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2" name="TextBox 18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23" name="TextBox 19"/>
              <p:cNvSpPr txBox="1"/>
              <p:nvPr/>
            </p:nvSpPr>
            <p:spPr>
              <a:xfrm>
                <a:off x="6728986" y="39258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成果展示</a:t>
                </a:r>
                <a:endParaRPr lang="zh-CN" sz="980" dirty="0">
                  <a:solidFill>
                    <a:srgbClr val="64748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</p:grpSp>
        <p:grpSp>
          <p:nvGrpSpPr>
            <p:cNvPr id="25" name="Group 26"/>
            <p:cNvGrpSpPr/>
            <p:nvPr/>
          </p:nvGrpSpPr>
          <p:grpSpPr>
            <a:xfrm rot="0">
              <a:off x="12960" y="189"/>
              <a:ext cx="2522" cy="480"/>
              <a:chOff x="8229600" y="371475"/>
              <a:chExt cx="1601289" cy="304800"/>
            </a:xfrm>
          </p:grpSpPr>
          <p:sp>
            <p:nvSpPr>
              <p:cNvPr id="26" name="Ellipse 22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7" name="TextBox 23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28" name="TextBox 24"/>
              <p:cNvSpPr txBox="1"/>
              <p:nvPr/>
            </p:nvSpPr>
            <p:spPr>
              <a:xfrm>
                <a:off x="8586597" y="390049"/>
                <a:ext cx="1244292" cy="150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下一步推广及</a:t>
                </a:r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建设计划</a:t>
                </a:r>
                <a:endParaRPr lang="zh-CN" sz="980" dirty="0">
                  <a:solidFill>
                    <a:srgbClr val="64748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</p:grpSp>
        <p:grpSp>
          <p:nvGrpSpPr>
            <p:cNvPr id="30" name="Group 31"/>
            <p:cNvGrpSpPr/>
            <p:nvPr/>
          </p:nvGrpSpPr>
          <p:grpSpPr>
            <a:xfrm rot="0">
              <a:off x="15960" y="189"/>
              <a:ext cx="2326" cy="480"/>
              <a:chOff x="10134600" y="371475"/>
              <a:chExt cx="1476860" cy="304800"/>
            </a:xfrm>
          </p:grpSpPr>
          <p:sp>
            <p:nvSpPr>
              <p:cNvPr id="31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2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楷体" charset="0"/>
                    <a:ea typeface="楷体" charset="0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  <p:sp>
            <p:nvSpPr>
              <p:cNvPr id="33" name="TextBox 29"/>
              <p:cNvSpPr txBox="1"/>
              <p:nvPr/>
            </p:nvSpPr>
            <p:spPr>
              <a:xfrm>
                <a:off x="10491597" y="390049"/>
                <a:ext cx="1119863" cy="150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应用价值与</a:t>
                </a:r>
                <a:r>
                  <a:rPr lang="zh-CN" sz="980" dirty="0">
                    <a:solidFill>
                      <a:srgbClr val="64748B"/>
                    </a:solidFill>
                    <a:latin typeface="楷体" charset="0"/>
                    <a:ea typeface="楷体" charset="0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楷体" charset="0"/>
                  <a:ea typeface="楷体" charset="0"/>
                  <a:cs typeface="Segoe UI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WPS 演示</Application>
  <PresentationFormat>宽屏</PresentationFormat>
  <Paragraphs>24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楷体</vt:lpstr>
      <vt:lpstr>汉仪楷体KW</vt:lpstr>
      <vt:lpstr>Segoe UI</vt:lpstr>
      <vt:lpstr>方正楷体_GB2312</vt:lpstr>
      <vt:lpstr>Heiti SC Light</vt:lpstr>
      <vt:lpstr>Noto Sans SC</vt:lpstr>
      <vt:lpstr>汉仪楷体简</vt:lpstr>
      <vt:lpstr>Thonburi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刘润东</cp:lastModifiedBy>
  <cp:revision>162</cp:revision>
  <dcterms:created xsi:type="dcterms:W3CDTF">2026-09-03T14:51:13Z</dcterms:created>
  <dcterms:modified xsi:type="dcterms:W3CDTF">2026-09-03T14:51:13Z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1166BE3E4CC1A99E5089996A59A5F30F_41</vt:lpwstr>
  </property>
</Properties>
</file>